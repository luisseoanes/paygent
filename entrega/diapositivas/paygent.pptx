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65" r:id="rId26"/>
    <p:sldId id="259" r:id="rId8"/>
    <p:sldId id="261" r:id="rId10"/>
    <p:sldId id="266" r:id="rId27"/>
    <p:sldId id="267" r:id="rId28"/>
    <p:sldId id="268" r:id="rId29"/>
    <p:sldId id="269" r:id="rId30"/>
    <p:sldId id="270" r:id="rId31"/>
    <p:sldId id="271" r:id="rId32"/>
    <p:sldId id="260" r:id="rId9"/>
    <p:sldId id="262" r:id="rId11"/>
    <p:sldId id="272" r:id="rId33"/>
    <p:sldId id="263" r:id="rId12"/>
    <p:sldId id="264" r:id="rId13"/>
  </p:sldIdLst>
  <p:sldSz cy="6858000" cx="12192000"/>
  <p:notesSz cx="6858000" cy="9144000"/>
  <p:embeddedFontLst>
    <p:embeddedFont>
      <p:font typeface="Poppins"/>
      <p:regular r:id="rId14"/>
      <p:bold r:id="rId15"/>
      <p:italic r:id="rId16"/>
      <p:boldItalic r:id="rId17"/>
    </p:embeddedFont>
    <p:embeddedFont>
      <p:font typeface="Poppins Light"/>
      <p:regular r:id="rId18"/>
      <p:bold r:id="rId19"/>
      <p:italic r:id="rId20"/>
      <p:boldItalic r:id="rId21"/>
    </p:embeddedFont>
    <p:embeddedFont>
      <p:font typeface="Poppins Black"/>
      <p:bold r:id="rId22"/>
      <p:boldItalic r:id="rId23"/>
    </p:embeddedFont>
    <p:embeddedFont>
      <p:font typeface="Poppins ExtraBold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PoppinsLight-italic.fntdata"/><Relationship Id="rId22" Type="http://schemas.openxmlformats.org/officeDocument/2006/relationships/font" Target="fonts/PoppinsBlack-bold.fntdata"/><Relationship Id="rId21" Type="http://schemas.openxmlformats.org/officeDocument/2006/relationships/font" Target="fonts/PoppinsLight-boldItalic.fntdata"/><Relationship Id="rId24" Type="http://schemas.openxmlformats.org/officeDocument/2006/relationships/font" Target="fonts/PoppinsExtraBold-bold.fntdata"/><Relationship Id="rId23" Type="http://schemas.openxmlformats.org/officeDocument/2006/relationships/font" Target="fonts/PoppinsBlack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schemas.openxmlformats.org/officeDocument/2006/relationships/font" Target="fonts/PoppinsExtraBold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font" Target="fonts/Poppins-bold.fntdata"/><Relationship Id="rId14" Type="http://schemas.openxmlformats.org/officeDocument/2006/relationships/font" Target="fonts/Poppins-regular.fntdata"/><Relationship Id="rId17" Type="http://schemas.openxmlformats.org/officeDocument/2006/relationships/font" Target="fonts/Poppins-boldItalic.fntdata"/><Relationship Id="rId16" Type="http://schemas.openxmlformats.org/officeDocument/2006/relationships/font" Target="fonts/Poppins-italic.fntdata"/><Relationship Id="rId19" Type="http://schemas.openxmlformats.org/officeDocument/2006/relationships/font" Target="fonts/PoppinsLight-bold.fntdata"/><Relationship Id="rId18" Type="http://schemas.openxmlformats.org/officeDocument/2006/relationships/font" Target="fonts/PoppinsLight-regular.fntdata"/>  <Relationship Id="rId26" Type="http://schemas.openxmlformats.org/officeDocument/2006/relationships/slide" Target="slides/slide10.xml"/>
  <Relationship Id="rId27" Type="http://schemas.openxmlformats.org/officeDocument/2006/relationships/slide" Target="slides/slide11.xml"/>
  <Relationship Id="rId28" Type="http://schemas.openxmlformats.org/officeDocument/2006/relationships/slide" Target="slides/slide12.xml"/>
  <Relationship Id="rId29" Type="http://schemas.openxmlformats.org/officeDocument/2006/relationships/slide" Target="slides/slide13.xml"/>
  <Relationship Id="rId30" Type="http://schemas.openxmlformats.org/officeDocument/2006/relationships/slide" Target="slides/slide14.xml"/>
  <Relationship Id="rId31" Type="http://schemas.openxmlformats.org/officeDocument/2006/relationships/slide" Target="slides/slide15.xml"/>
  <Relationship Id="rId32" Type="http://schemas.openxmlformats.org/officeDocument/2006/relationships/slide" Target="slides/slide16.xml"/>
  <Relationship Id="rId33" Type="http://schemas.openxmlformats.org/officeDocument/2006/relationships/slide" Target="slides/slide1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MY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[8 s] Somos Paygent: pagos delegables para personas y agentes de IA, con cualquier señal.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fb68e58610_1_26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[8 s] Somos cuatro, de Medellín. (Nombres.)</a:t>
            </a:r>
          </a:p>
        </p:txBody>
      </p:sp>
      <p:sp>
        <p:nvSpPr>
          <p:cNvPr id="653" name="Google Shape;653;g3fb68e58610_1_26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[30 s] Un hijo trabaja en Texas y le manda plata a su mamá en una vereda de Antioquia. El dinero llega; gastarlo no. Allá la señal va y viene, ella usa un celular de teclas y no tiene wallet propia. Y los pagos con IA de Visa, Mastercard o Google asumen smartphone, internet y tarjeta.</a:t>
            </a:r>
          </a:p>
        </p:txBody>
      </p:sp>
      <p:sp>
        <p:nvSpPr>
          <p:cNvPr id="665" name="Google Shape;66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[4 s] Pagar no debería necesitar internet.</a:t>
            </a:r>
          </a:p>
        </p:txBody>
      </p:sp>
      <p:sp>
        <p:nvSpPr>
          <p:cNvPr id="672" name="Google Shape;67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[4 s] El agente propone. El gateway decide.</a:t>
            </a:r>
          </a:p>
        </p:txBody>
      </p:sp>
      <p:sp>
        <p:nvSpPr>
          <p:cNvPr id="677" name="Google Shape;67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fb68e58610_1_34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[30 s] Paygent es un permiso que se reparte. El titular firma UNA vez en su wallet un grant de Open Payments con tope. Lo reparte en ramas: su mamá, el celular de ella, un agente que compra por ella. Cada pago pasa por el gateway, que revisa tope, categoría y PIN, y el dinero va directo a la tienda.</a:t>
            </a:r>
          </a:p>
        </p:txBody>
      </p:sp>
      <p:sp>
        <p:nvSpPr>
          <p:cNvPr id="682" name="Google Shape;682;g3fb68e58610_1_34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[demo] Escaneen el QR: está en vivo, con pagos reales en la red de prueba de Interledger.</a:t>
            </a:r>
          </a:p>
        </p:txBody>
      </p:sp>
      <p:sp>
        <p:nvSpPr>
          <p:cNvPr id="689" name="Google Shape;68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[4 s] Un permiso. Muchas manos. Cualquier señal.</a:t>
            </a:r>
          </a:p>
        </p:txBody>
      </p:sp>
      <p:sp>
        <p:nvSpPr>
          <p:cNvPr id="694" name="Google Shape;6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Gracias.</a:t>
            </a:r>
          </a:p>
        </p:txBody>
      </p:sp>
      <p:sp>
        <p:nvSpPr>
          <p:cNvPr id="699" name="Google Shape;69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[20 s] Es para tres personas: la familia que manda dinero desde lejos y quiere control; quien lo recibe en el campo, con poca señal o un celular básico; y el tendero del pueblo, que cobra aunque no tenga wallet ni datáfono.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[25 s] Así vive un pago: el titular aprueba una vez; alguien pide pagar por cualquier canal; el gateway decide y el Guardián solo puede restringir; Open Payments crea incoming, quote y outgoing desde la wallet del titular; y todos ven el porqué. Veamos los tres canales.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[20 s] Con datos: María toca Pagar, muestra el QR, el gateway revisa su rama y Open Payments paga de la wallet de Juan a la tienda. Juan lo ve en su libreta al instante.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[25 s] Sin señal: el celular ya tiene su llave y un certificado del gateway. Firma un vale con ed25519, el tendero lo verifica sin internet y, al volver la señal, se cobra de verdad. Un vale repetido se rechaza y congela el celular.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[25 s] Sin smartphone: escribe por SMS "necesito la pastilla de la presión". El Asistente le paga un centavo al Inventario, encuentra la farmacia y pide el PIN, que nunca llega al modelo. El gateway decide y sale el pago real.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[25 s] Open Payments de verdad: un grant GNAP interactivo con debitAmount e interval es el mandato raíz. Cada pago es incoming en la tienda, quote con el débito real y outgoing con el token del titular.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[15 s] Todo pago pasa por un solo lugar, el gateway. Los agentes solo proponen: no tienen llaves ni dinero. El dinero va de la wallet del titular al comercio.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[30 s] Aprendimos cuatro cosas: Open Payments no delega grants, así que lo resolvimos con sub-mandatos firmados; crear un pago no significa que llegó; un modelo no puede ser la última línea del dinero; y sin señal el riesgo se acota con topes, pero falta una reserva de fondos.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Relationship Id="rId8" Type="http://schemas.openxmlformats.org/officeDocument/2006/relationships/hyperlink" Target="http://interledger.org" TargetMode="Externa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Slide">
  <p:cSld name="4_Title Slid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14;p2"/>
          <p:cNvSpPr txBox="1"/>
          <p:nvPr>
            <p:ph idx="1" type="body"/>
          </p:nvPr>
        </p:nvSpPr>
        <p:spPr>
          <a:xfrm>
            <a:off x="436201" y="1636170"/>
            <a:ext cx="5439809" cy="228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2" type="body"/>
          </p:nvPr>
        </p:nvSpPr>
        <p:spPr>
          <a:xfrm>
            <a:off x="656622" y="4032642"/>
            <a:ext cx="5219383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6" name="Google Shape;16;p2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" name="Google Shape;17;p2"/>
          <p:cNvSpPr txBox="1"/>
          <p:nvPr>
            <p:ph idx="3" type="body"/>
          </p:nvPr>
        </p:nvSpPr>
        <p:spPr>
          <a:xfrm>
            <a:off x="549322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4" type="body"/>
          </p:nvPr>
        </p:nvSpPr>
        <p:spPr>
          <a:xfrm>
            <a:off x="2408168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19" name="Google Shape;1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2"/>
          <p:cNvGrpSpPr/>
          <p:nvPr/>
        </p:nvGrpSpPr>
        <p:grpSpPr>
          <a:xfrm>
            <a:off x="0" y="5218315"/>
            <a:ext cx="2600323" cy="385327"/>
            <a:chOff x="0" y="9303775"/>
            <a:chExt cx="8073390" cy="1196350"/>
          </a:xfrm>
        </p:grpSpPr>
        <p:sp>
          <p:nvSpPr>
            <p:cNvPr id="21" name="Google Shape;21;p2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4" name="Google Shape;24;p2"/>
          <p:cNvSpPr/>
          <p:nvPr/>
        </p:nvSpPr>
        <p:spPr>
          <a:xfrm flipH="1">
            <a:off x="6338369" y="198227"/>
            <a:ext cx="5098934" cy="5117897"/>
          </a:xfrm>
          <a:custGeom>
            <a:rect b="b" l="l" r="r" t="t"/>
            <a:pathLst>
              <a:path extrusionOk="0" h="7026275" w="7000240">
                <a:moveTo>
                  <a:pt x="0" y="0"/>
                </a:moveTo>
                <a:lnTo>
                  <a:pt x="0" y="7025843"/>
                </a:lnTo>
                <a:lnTo>
                  <a:pt x="7000062" y="3498443"/>
                </a:lnTo>
                <a:lnTo>
                  <a:pt x="0" y="0"/>
                </a:lnTo>
                <a:close/>
              </a:path>
            </a:pathLst>
          </a:custGeom>
          <a:solidFill>
            <a:srgbClr val="56067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25" name="Google Shape;25;p2"/>
          <p:cNvGrpSpPr/>
          <p:nvPr/>
        </p:nvGrpSpPr>
        <p:grpSpPr>
          <a:xfrm>
            <a:off x="6512282" y="485759"/>
            <a:ext cx="5679715" cy="5117897"/>
            <a:chOff x="6512282" y="198234"/>
            <a:chExt cx="5679715" cy="5117897"/>
          </a:xfrm>
        </p:grpSpPr>
        <p:sp>
          <p:nvSpPr>
            <p:cNvPr id="26" name="Google Shape;26;p2"/>
            <p:cNvSpPr/>
            <p:nvPr/>
          </p:nvSpPr>
          <p:spPr>
            <a:xfrm flipH="1">
              <a:off x="6512282" y="198234"/>
              <a:ext cx="4925023" cy="5117897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7" name="Google Shape;27;p2"/>
            <p:cNvSpPr/>
            <p:nvPr/>
          </p:nvSpPr>
          <p:spPr>
            <a:xfrm flipH="1">
              <a:off x="11437148" y="198234"/>
              <a:ext cx="754849" cy="5114660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8" name="Google Shape;28;p2"/>
          <p:cNvSpPr txBox="1"/>
          <p:nvPr/>
        </p:nvSpPr>
        <p:spPr>
          <a:xfrm>
            <a:off x="7989100" y="6007900"/>
            <a:ext cx="34482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0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Title Slide">
  <p:cSld name="6_Title Slid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777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" name="Google Shape;32;p3"/>
          <p:cNvSpPr/>
          <p:nvPr>
            <p:ph idx="3" type="pic"/>
          </p:nvPr>
        </p:nvSpPr>
        <p:spPr>
          <a:xfrm>
            <a:off x="401921" y="1491414"/>
            <a:ext cx="4320000" cy="4320000"/>
          </a:xfrm>
          <a:prstGeom prst="roundRect">
            <a:avLst>
              <a:gd fmla="val 1887" name="adj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3" name="Google Shape;33;p3"/>
          <p:cNvSpPr txBox="1"/>
          <p:nvPr>
            <p:ph idx="4" type="body"/>
          </p:nvPr>
        </p:nvSpPr>
        <p:spPr>
          <a:xfrm>
            <a:off x="5688471" y="180099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" name="Google Shape;34;p3"/>
          <p:cNvSpPr txBox="1"/>
          <p:nvPr>
            <p:ph idx="5" type="body"/>
          </p:nvPr>
        </p:nvSpPr>
        <p:spPr>
          <a:xfrm>
            <a:off x="5688471" y="260873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" name="Google Shape;35;p3"/>
          <p:cNvSpPr txBox="1"/>
          <p:nvPr>
            <p:ph idx="6" type="body"/>
          </p:nvPr>
        </p:nvSpPr>
        <p:spPr>
          <a:xfrm>
            <a:off x="5688471" y="341647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6" name="Google Shape;36;p3"/>
          <p:cNvSpPr txBox="1"/>
          <p:nvPr>
            <p:ph idx="7" type="body"/>
          </p:nvPr>
        </p:nvSpPr>
        <p:spPr>
          <a:xfrm>
            <a:off x="5688471" y="422421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" name="Google Shape;37;p3"/>
          <p:cNvSpPr txBox="1"/>
          <p:nvPr>
            <p:ph idx="8" type="body"/>
          </p:nvPr>
        </p:nvSpPr>
        <p:spPr>
          <a:xfrm>
            <a:off x="5688471" y="503195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38" name="Google Shape;38;p3"/>
          <p:cNvCxnSpPr/>
          <p:nvPr/>
        </p:nvCxnSpPr>
        <p:spPr>
          <a:xfrm rot="10800000">
            <a:off x="5242644" y="24391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" name="Google Shape;39;p3"/>
          <p:cNvCxnSpPr/>
          <p:nvPr/>
        </p:nvCxnSpPr>
        <p:spPr>
          <a:xfrm rot="10800000">
            <a:off x="5242644" y="3247312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0" name="Google Shape;40;p3"/>
          <p:cNvCxnSpPr/>
          <p:nvPr/>
        </p:nvCxnSpPr>
        <p:spPr>
          <a:xfrm rot="10800000">
            <a:off x="5242644" y="40555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" name="Google Shape;41;p3"/>
          <p:cNvCxnSpPr/>
          <p:nvPr/>
        </p:nvCxnSpPr>
        <p:spPr>
          <a:xfrm rot="10800000">
            <a:off x="5242644" y="4863714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" name="Google Shape;42;p3"/>
          <p:cNvSpPr txBox="1"/>
          <p:nvPr>
            <p:ph idx="9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descr="Arrow: Straight with solid fill" id="43" name="Google Shape;43;p3"/>
          <p:cNvSpPr/>
          <p:nvPr/>
        </p:nvSpPr>
        <p:spPr>
          <a:xfrm flipH="1">
            <a:off x="5264386" y="185917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4" name="Google Shape;44;p3"/>
          <p:cNvSpPr/>
          <p:nvPr/>
        </p:nvSpPr>
        <p:spPr>
          <a:xfrm flipH="1">
            <a:off x="5264386" y="266691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5" name="Google Shape;45;p3"/>
          <p:cNvSpPr/>
          <p:nvPr/>
        </p:nvSpPr>
        <p:spPr>
          <a:xfrm flipH="1">
            <a:off x="5264386" y="3473732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6" name="Google Shape;46;p3"/>
          <p:cNvSpPr/>
          <p:nvPr/>
        </p:nvSpPr>
        <p:spPr>
          <a:xfrm flipH="1">
            <a:off x="5264386" y="428239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7" name="Google Shape;47;p3"/>
          <p:cNvSpPr/>
          <p:nvPr/>
        </p:nvSpPr>
        <p:spPr>
          <a:xfrm flipH="1">
            <a:off x="5264386" y="5084003"/>
            <a:ext cx="355363" cy="355363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8" name="Google Shape;48;p3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9" name="Google Shape;49;p3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0" name="Google Shape;50;p3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" name="Google Shape;51;p3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" name="Google Shape;52;p3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" name="Google Shape;54;p3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" name="Google Shape;55;p3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6" name="Google Shape;56;p3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" name="Google Shape;58;p3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" name="Google Shape;59;p3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" name="Google Shape;60;p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" name="Google Shape;61;p3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3" name="Google Shape;63;p3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64" name="Google Shape;64;p3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7" name="Google Shape;67;p3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8" name="Google Shape;68;p3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9" name="Google Shape;69;p3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70" name="Google Shape;70;p3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1" name="Google Shape;71;p3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72" name="Google Shape;72;p3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73" name="Google Shape;73;p3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74" name="Google Shape;74;p3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7" name="Google Shape;77;p3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79" name="Google Shape;79;p3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80" name="Google Shape;80;p3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2" name="Google Shape;82;p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3" name="Google Shape;83;p3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85" name="Google Shape;85;p3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86" name="Google Shape;86;p3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9" name="Google Shape;89;p3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0" name="Google Shape;90;p3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92" name="Google Shape;92;p3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93" name="Google Shape;93;p3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95" name="Google Shape;95;p3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6" name="Google Shape;96;p3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97" name="Google Shape;97;p3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8" name="Google Shape;98;p3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9" name="Google Shape;99;p3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0" name="Google Shape;100;p3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01" name="Google Shape;101;p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2" name="Google Shape;102;p3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03" name="Google Shape;103;p3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4" name="Google Shape;104;p3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5" name="Google Shape;105;p3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6" name="Google Shape;106;p3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7" name="Google Shape;107;p3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08" name="Google Shape;108;p3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109" name="Google Shape;109;p3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0" name="Google Shape;110;p3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11" name="Google Shape;111;p3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12" name="Google Shape;112;p3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113" name="Google Shape;113;p3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4" name="Google Shape;114;p3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5" name="Google Shape;115;p3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6" name="Google Shape;116;p3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7" name="Google Shape;117;p3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18" name="Google Shape;118;p3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119" name="Google Shape;119;p3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1" name="Google Shape;121;p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2" name="Google Shape;122;p3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24" name="Google Shape;124;p3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125" name="Google Shape;125;p3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6" name="Google Shape;126;p3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7" name="Google Shape;127;p3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8" name="Google Shape;128;p3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9" name="Google Shape;129;p3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0" name="Google Shape;130;p3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31" name="Google Shape;131;p3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132" name="Google Shape;132;p3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3" name="Google Shape;133;p3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34" name="Google Shape;134;p3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7" name="Google Shape;137;p4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8" name="Google Shape;138;p4"/>
          <p:cNvSpPr txBox="1"/>
          <p:nvPr>
            <p:ph idx="3" type="body"/>
          </p:nvPr>
        </p:nvSpPr>
        <p:spPr>
          <a:xfrm>
            <a:off x="813514" y="2249093"/>
            <a:ext cx="3311918" cy="27197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3BA2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A3BA2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9" name="Google Shape;139;p4"/>
          <p:cNvSpPr txBox="1"/>
          <p:nvPr>
            <p:ph idx="4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40" name="Google Shape;140;p4"/>
          <p:cNvSpPr txBox="1"/>
          <p:nvPr>
            <p:ph idx="5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41" name="Google Shape;141;p4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142" name="Google Shape;142;p4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143" name="Google Shape;143;p4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4" name="Google Shape;144;p4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47" name="Google Shape;147;p4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48" name="Google Shape;148;p4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53" name="Google Shape;153;p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4" name="Google Shape;154;p4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56" name="Google Shape;156;p4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157" name="Google Shape;157;p4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8" name="Google Shape;158;p4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1" name="Google Shape;161;p4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62" name="Google Shape;162;p4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163" name="Google Shape;163;p4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65" name="Google Shape;165;p4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66" name="Google Shape;166;p4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167" name="Google Shape;167;p4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9" name="Google Shape;169;p4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0" name="Google Shape;170;p4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1" name="Google Shape;171;p4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2" name="Google Shape;172;p4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173" name="Google Shape;173;p4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4" name="Google Shape;174;p4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75" name="Google Shape;175;p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6" name="Google Shape;176;p4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7" name="Google Shape;177;p4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8" name="Google Shape;178;p4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179" name="Google Shape;179;p4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0" name="Google Shape;180;p4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1" name="Google Shape;181;p4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2" name="Google Shape;182;p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3" name="Google Shape;183;p4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4" name="Google Shape;184;p4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85" name="Google Shape;185;p4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186" name="Google Shape;186;p4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7" name="Google Shape;187;p4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8" name="Google Shape;188;p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89" name="Google Shape;189;p4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2" name="Google Shape;192;p4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3" name="Google Shape;193;p4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94" name="Google Shape;194;p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95" name="Google Shape;195;p4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96" name="Google Shape;196;p4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7" name="Google Shape;197;p4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8" name="Google Shape;198;p4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9" name="Google Shape;199;p4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0" name="Google Shape;200;p4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01" name="Google Shape;201;p4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02" name="Google Shape;202;p4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3" name="Google Shape;203;p4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04" name="Google Shape;204;p4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05" name="Google Shape;205;p4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06" name="Google Shape;206;p4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7" name="Google Shape;207;p4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8" name="Google Shape;208;p4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9" name="Google Shape;209;p4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0" name="Google Shape;210;p4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1" name="Google Shape;211;p4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212" name="Google Shape;212;p4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3" name="Google Shape;213;p4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14" name="Google Shape;214;p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5" name="Google Shape;215;p4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6" name="Google Shape;216;p4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7" name="Google Shape;217;p4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218" name="Google Shape;218;p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9" name="Google Shape;219;p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0" name="Google Shape;220;p4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1" name="Google Shape;221;p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2" name="Google Shape;222;p4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3" name="Google Shape;223;p4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24" name="Google Shape;224;p4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225" name="Google Shape;225;p4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6" name="Google Shape;226;p4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7" name="Google Shape;227;p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">
  <p:cSld name="9_Title Slide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5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0" name="Google Shape;230;p5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1" name="Google Shape;231;p5"/>
          <p:cNvSpPr txBox="1"/>
          <p:nvPr>
            <p:ph idx="3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2" name="Google Shape;232;p5"/>
          <p:cNvSpPr txBox="1"/>
          <p:nvPr>
            <p:ph idx="4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233" name="Google Shape;233;p5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234" name="Google Shape;234;p5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235" name="Google Shape;235;p5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6" name="Google Shape;236;p5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8" name="Google Shape;238;p5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39" name="Google Shape;239;p5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40" name="Google Shape;240;p5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241" name="Google Shape;241;p5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2" name="Google Shape;242;p5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3" name="Google Shape;243;p5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4" name="Google Shape;244;p5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45" name="Google Shape;245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6" name="Google Shape;246;p5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7" name="Google Shape;247;p5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48" name="Google Shape;248;p5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249" name="Google Shape;249;p5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0" name="Google Shape;250;p5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1" name="Google Shape;251;p5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2" name="Google Shape;252;p5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3" name="Google Shape;253;p5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54" name="Google Shape;254;p5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255" name="Google Shape;255;p5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6" name="Google Shape;256;p5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57" name="Google Shape;257;p5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58" name="Google Shape;258;p5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259" name="Google Shape;259;p5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0" name="Google Shape;260;p5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1" name="Google Shape;261;p5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2" name="Google Shape;262;p5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3" name="Google Shape;263;p5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64" name="Google Shape;264;p5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265" name="Google Shape;265;p5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6" name="Google Shape;266;p5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67" name="Google Shape;267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68" name="Google Shape;268;p5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9" name="Google Shape;269;p5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0" name="Google Shape;270;p5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271" name="Google Shape;271;p5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2" name="Google Shape;272;p5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3" name="Google Shape;273;p5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74" name="Google Shape;274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5" name="Google Shape;275;p5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6" name="Google Shape;276;p5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7" name="Google Shape;277;p5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278" name="Google Shape;278;p5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9" name="Google Shape;279;p5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0" name="Google Shape;280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1" name="Google Shape;281;p5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282" name="Google Shape;282;p5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3" name="Google Shape;283;p5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4" name="Google Shape;284;p5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5" name="Google Shape;285;p5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6" name="Google Shape;286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7" name="Google Shape;287;p5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288" name="Google Shape;288;p5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9" name="Google Shape;289;p5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0" name="Google Shape;290;p5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1" name="Google Shape;291;p5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2" name="Google Shape;292;p5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93" name="Google Shape;293;p5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94" name="Google Shape;294;p5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5" name="Google Shape;295;p5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96" name="Google Shape;296;p5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97" name="Google Shape;297;p5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98" name="Google Shape;298;p5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9" name="Google Shape;299;p5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0" name="Google Shape;300;p5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1" name="Google Shape;301;p5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2" name="Google Shape;302;p5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3" name="Google Shape;303;p5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04" name="Google Shape;304;p5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5" name="Google Shape;305;p5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06" name="Google Shape;306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07" name="Google Shape;307;p5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8" name="Google Shape;308;p5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9" name="Google Shape;309;p5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310" name="Google Shape;310;p5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1" name="Google Shape;311;p5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2" name="Google Shape;312;p5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3" name="Google Shape;31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14" name="Google Shape;314;p5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5" name="Google Shape;315;p5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16" name="Google Shape;316;p5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317" name="Google Shape;317;p5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8" name="Google Shape;318;p5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9" name="Google Shape;319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 1">
  <p:cSld name="9_Title Slide_1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6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2" name="Google Shape;322;p6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3" name="Google Shape;323;p6"/>
          <p:cNvSpPr txBox="1"/>
          <p:nvPr>
            <p:ph idx="3" type="body"/>
          </p:nvPr>
        </p:nvSpPr>
        <p:spPr>
          <a:xfrm>
            <a:off x="4823917" y="2249092"/>
            <a:ext cx="6091500" cy="27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4" name="Google Shape;324;p6"/>
          <p:cNvSpPr txBox="1"/>
          <p:nvPr>
            <p:ph idx="4" type="body"/>
          </p:nvPr>
        </p:nvSpPr>
        <p:spPr>
          <a:xfrm>
            <a:off x="7142627" y="6566902"/>
            <a:ext cx="48627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25" name="Google Shape;325;p6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326" name="Google Shape;326;p6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327" name="Google Shape;327;p6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8" name="Google Shape;328;p6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9" name="Google Shape;329;p6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0" name="Google Shape;330;p6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1" name="Google Shape;331;p6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32" name="Google Shape;332;p6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333" name="Google Shape;333;p6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4" name="Google Shape;334;p6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7" name="Google Shape;337;p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8" name="Google Shape;338;p6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0" name="Google Shape;340;p6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341" name="Google Shape;341;p6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2" name="Google Shape;342;p6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3" name="Google Shape;343;p6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4" name="Google Shape;344;p6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5" name="Google Shape;345;p6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6" name="Google Shape;346;p6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347" name="Google Shape;347;p6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8" name="Google Shape;348;p6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49" name="Google Shape;349;p6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50" name="Google Shape;350;p6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351" name="Google Shape;351;p6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2" name="Google Shape;352;p6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3" name="Google Shape;353;p6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4" name="Google Shape;354;p6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5" name="Google Shape;355;p6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56" name="Google Shape;356;p6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357" name="Google Shape;357;p6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8" name="Google Shape;358;p6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59" name="Google Shape;359;p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0" name="Google Shape;360;p6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1" name="Google Shape;361;p6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2" name="Google Shape;362;p6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363" name="Google Shape;363;p6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66" name="Google Shape;366;p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7" name="Google Shape;367;p6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9" name="Google Shape;369;p6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370" name="Google Shape;370;p6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1" name="Google Shape;371;p6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2" name="Google Shape;372;p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3" name="Google Shape;373;p6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374" name="Google Shape;374;p6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5" name="Google Shape;375;p6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6" name="Google Shape;376;p6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7" name="Google Shape;377;p6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8" name="Google Shape;378;p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9" name="Google Shape;379;p6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380" name="Google Shape;380;p6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1" name="Google Shape;381;p6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2" name="Google Shape;382;p6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3" name="Google Shape;383;p6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4" name="Google Shape;384;p6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85" name="Google Shape;385;p6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386" name="Google Shape;386;p6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7" name="Google Shape;387;p6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88" name="Google Shape;388;p6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89" name="Google Shape;389;p6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390" name="Google Shape;390;p6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1" name="Google Shape;391;p6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2" name="Google Shape;392;p6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3" name="Google Shape;393;p6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4" name="Google Shape;394;p6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95" name="Google Shape;395;p6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96" name="Google Shape;396;p6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7" name="Google Shape;397;p6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98" name="Google Shape;398;p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9" name="Google Shape;399;p6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0" name="Google Shape;400;p6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1" name="Google Shape;401;p6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402" name="Google Shape;402;p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3" name="Google Shape;403;p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4" name="Google Shape;404;p6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05" name="Google Shape;405;p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6" name="Google Shape;406;p6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7" name="Google Shape;407;p6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8" name="Google Shape;408;p6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409" name="Google Shape;409;p6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10" name="Google Shape;410;p6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11" name="Google Shape;411;p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7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414" name="Google Shape;414;p7"/>
          <p:cNvGrpSpPr/>
          <p:nvPr/>
        </p:nvGrpSpPr>
        <p:grpSpPr>
          <a:xfrm>
            <a:off x="8337" y="435776"/>
            <a:ext cx="6964298" cy="5986447"/>
            <a:chOff x="8337" y="435776"/>
            <a:chExt cx="6964298" cy="5986447"/>
          </a:xfrm>
        </p:grpSpPr>
        <p:sp>
          <p:nvSpPr>
            <p:cNvPr id="415" name="Google Shape;415;p7"/>
            <p:cNvSpPr/>
            <p:nvPr/>
          </p:nvSpPr>
          <p:spPr>
            <a:xfrm>
              <a:off x="740405" y="435776"/>
              <a:ext cx="4945969" cy="4964471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6" name="Google Shape;416;p7"/>
            <p:cNvSpPr/>
            <p:nvPr/>
          </p:nvSpPr>
          <p:spPr>
            <a:xfrm>
              <a:off x="740399" y="435781"/>
              <a:ext cx="4777276" cy="4964471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7" name="Google Shape;417;p7"/>
            <p:cNvSpPr/>
            <p:nvPr/>
          </p:nvSpPr>
          <p:spPr>
            <a:xfrm>
              <a:off x="8346" y="5397005"/>
              <a:ext cx="5939080" cy="1025218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8" name="Google Shape;418;p7"/>
            <p:cNvSpPr/>
            <p:nvPr/>
          </p:nvSpPr>
          <p:spPr>
            <a:xfrm>
              <a:off x="284373" y="5639361"/>
              <a:ext cx="5419941" cy="524581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9" name="Google Shape;419;p7"/>
            <p:cNvSpPr/>
            <p:nvPr/>
          </p:nvSpPr>
          <p:spPr>
            <a:xfrm>
              <a:off x="8337" y="435781"/>
              <a:ext cx="6964298" cy="5986423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420" name="Google Shape;420;p7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21" name="Google Shape;421;p7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422" name="Google Shape;42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775" y="5554397"/>
            <a:ext cx="2582976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Title Slide">
  <p:cSld name="17_Title Slide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8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425" name="Google Shape;425;p8"/>
          <p:cNvGrpSpPr/>
          <p:nvPr/>
        </p:nvGrpSpPr>
        <p:grpSpPr>
          <a:xfrm>
            <a:off x="8337" y="435776"/>
            <a:ext cx="6964298" cy="5986447"/>
            <a:chOff x="9728" y="1922335"/>
            <a:chExt cx="8126730" cy="6985662"/>
          </a:xfrm>
        </p:grpSpPr>
        <p:sp>
          <p:nvSpPr>
            <p:cNvPr id="426" name="Google Shape;426;p8"/>
            <p:cNvSpPr/>
            <p:nvPr/>
          </p:nvSpPr>
          <p:spPr>
            <a:xfrm>
              <a:off x="863988" y="1922335"/>
              <a:ext cx="5771515" cy="5793105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863981" y="1922341"/>
              <a:ext cx="5574665" cy="5793105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9738" y="7711657"/>
              <a:ext cx="6930390" cy="1196340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331838" y="7994465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0" name="Google Shape;430;p8"/>
            <p:cNvSpPr/>
            <p:nvPr/>
          </p:nvSpPr>
          <p:spPr>
            <a:xfrm>
              <a:off x="9728" y="1922341"/>
              <a:ext cx="8126730" cy="6985634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431" name="Google Shape;431;p8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accen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2" name="Google Shape;432;p8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433" name="Google Shape;433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858" y="5568090"/>
            <a:ext cx="2582893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Slide">
  <p:cSld name="14_Title Slide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9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6" name="Google Shape;436;p9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7" name="Google Shape;437;p9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438" name="Google Shape;438;p9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39" name="Google Shape;439;p9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440" name="Google Shape;440;p9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1" name="Google Shape;441;p9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2" name="Google Shape;442;p9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3" name="Google Shape;443;p9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44" name="Google Shape;444;p9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45" name="Google Shape;445;p9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446" name="Google Shape;446;p9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7" name="Google Shape;447;p9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8" name="Google Shape;448;p9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9" name="Google Shape;449;p9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50" name="Google Shape;450;p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1" name="Google Shape;451;p9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2" name="Google Shape;452;p9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3" name="Google Shape;453;p9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454" name="Google Shape;454;p9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5" name="Google Shape;455;p9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6" name="Google Shape;456;p9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7" name="Google Shape;457;p9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8" name="Google Shape;458;p9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9" name="Google Shape;459;p9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460" name="Google Shape;460;p9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1" name="Google Shape;461;p9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462" name="Google Shape;462;p9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463" name="Google Shape;463;p9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464" name="Google Shape;464;p9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5" name="Google Shape;465;p9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6" name="Google Shape;466;p9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7" name="Google Shape;467;p9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8" name="Google Shape;468;p9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69" name="Google Shape;469;p9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470" name="Google Shape;470;p9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1" name="Google Shape;471;p9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72" name="Google Shape;472;p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3" name="Google Shape;473;p9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4" name="Google Shape;474;p9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75" name="Google Shape;475;p9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476" name="Google Shape;476;p9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7" name="Google Shape;477;p9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8" name="Google Shape;478;p9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79" name="Google Shape;479;p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80" name="Google Shape;480;p9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1" name="Google Shape;481;p9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82" name="Google Shape;482;p9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483" name="Google Shape;483;p9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4" name="Google Shape;484;p9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85" name="Google Shape;485;p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86" name="Google Shape;486;p9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487" name="Google Shape;487;p9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8" name="Google Shape;488;p9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9" name="Google Shape;489;p9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0" name="Google Shape;490;p9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91" name="Google Shape;491;p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2" name="Google Shape;492;p9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493" name="Google Shape;493;p9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4" name="Google Shape;494;p9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5" name="Google Shape;495;p9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6" name="Google Shape;496;p9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7" name="Google Shape;497;p9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98" name="Google Shape;498;p9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499" name="Google Shape;499;p9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0" name="Google Shape;500;p9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01" name="Google Shape;501;p9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02" name="Google Shape;502;p9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503" name="Google Shape;503;p9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4" name="Google Shape;504;p9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5" name="Google Shape;505;p9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6" name="Google Shape;506;p9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7" name="Google Shape;507;p9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08" name="Google Shape;508;p9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509" name="Google Shape;509;p9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0" name="Google Shape;510;p9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11" name="Google Shape;511;p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2" name="Google Shape;512;p9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3" name="Google Shape;513;p9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14" name="Google Shape;514;p9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515" name="Google Shape;515;p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6" name="Google Shape;516;p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7" name="Google Shape;517;p9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18" name="Google Shape;518;p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9" name="Google Shape;519;p9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0" name="Google Shape;520;p9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21" name="Google Shape;521;p9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522" name="Google Shape;522;p9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3" name="Google Shape;523;p9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24" name="Google Shape;524;p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525" name="Google Shape;525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9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None/>
            </a:pPr>
            <a:r>
              <a:rPr lang="en-MY" sz="1000" u="sng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lang="en-MY" sz="10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sz="10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 sz="10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>
  <p:cSld name="13_Title Slide"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"/>
          <p:cNvSpPr txBox="1"/>
          <p:nvPr>
            <p:ph idx="1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29" name="Google Shape;529;p10"/>
          <p:cNvSpPr txBox="1"/>
          <p:nvPr>
            <p:ph idx="2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530" name="Google Shape;530;p10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531" name="Google Shape;531;p10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32" name="Google Shape;532;p10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3" name="Google Shape;533;p10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4" name="Google Shape;534;p10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5" name="Google Shape;535;p10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36" name="Google Shape;536;p10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7" name="Google Shape;537;p10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38" name="Google Shape;538;p10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9" name="Google Shape;539;p10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0" name="Google Shape;540;p10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1" name="Google Shape;541;p10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2" name="Google Shape;542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43" name="Google Shape;543;p10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4" name="Google Shape;544;p10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45" name="Google Shape;545;p10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546" name="Google Shape;546;p10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7" name="Google Shape;547;p10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8" name="Google Shape;548;p10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9" name="Google Shape;549;p10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0" name="Google Shape;550;p10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51" name="Google Shape;551;p10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552" name="Google Shape;552;p10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3" name="Google Shape;553;p10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54" name="Google Shape;554;p10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55" name="Google Shape;555;p10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556" name="Google Shape;556;p10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7" name="Google Shape;557;p10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8" name="Google Shape;558;p10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9" name="Google Shape;559;p10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0" name="Google Shape;560;p10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1" name="Google Shape;561;p10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562" name="Google Shape;562;p10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3" name="Google Shape;563;p10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64" name="Google Shape;564;p1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65" name="Google Shape;565;p10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6" name="Google Shape;566;p10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7" name="Google Shape;567;p10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568" name="Google Shape;568;p10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9" name="Google Shape;569;p10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0" name="Google Shape;570;p10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1" name="Google Shape;571;p1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72" name="Google Shape;572;p10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3" name="Google Shape;573;p10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74" name="Google Shape;574;p10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575" name="Google Shape;575;p10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6" name="Google Shape;576;p10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7" name="Google Shape;577;p1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8" name="Google Shape;578;p10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579" name="Google Shape;579;p10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0" name="Google Shape;580;p10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1" name="Google Shape;581;p10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2" name="Google Shape;582;p10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83" name="Google Shape;583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84" name="Google Shape;584;p10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585" name="Google Shape;585;p10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6" name="Google Shape;586;p10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7" name="Google Shape;587;p10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8" name="Google Shape;588;p10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9" name="Google Shape;589;p10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0" name="Google Shape;590;p10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591" name="Google Shape;591;p10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2" name="Google Shape;592;p10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93" name="Google Shape;593;p10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94" name="Google Shape;594;p10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595" name="Google Shape;595;p10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6" name="Google Shape;596;p10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7" name="Google Shape;597;p10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8" name="Google Shape;598;p10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9" name="Google Shape;599;p10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0" name="Google Shape;600;p10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601" name="Google Shape;601;p10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2" name="Google Shape;602;p10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3" name="Google Shape;603;p1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4" name="Google Shape;604;p10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5" name="Google Shape;605;p10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6" name="Google Shape;606;p10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607" name="Google Shape;607;p1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8" name="Google Shape;608;p1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9" name="Google Shape;609;p10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0" name="Google Shape;610;p1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1" name="Google Shape;611;p10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2" name="Google Shape;612;p10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13" name="Google Shape;613;p10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614" name="Google Shape;614;p10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5" name="Google Shape;615;p10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6" name="Google Shape;616;p1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Title Slide">
  <p:cSld name="15_Title Slide"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11"/>
          <p:cNvSpPr/>
          <p:nvPr/>
        </p:nvSpPr>
        <p:spPr>
          <a:xfrm>
            <a:off x="0" y="0"/>
            <a:ext cx="12183600" cy="6858000"/>
          </a:xfrm>
          <a:prstGeom prst="rect">
            <a:avLst/>
          </a:prstGeom>
          <a:solidFill>
            <a:srgbClr val="4815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9" name="Google Shape;619;p11"/>
          <p:cNvSpPr txBox="1"/>
          <p:nvPr/>
        </p:nvSpPr>
        <p:spPr>
          <a:xfrm>
            <a:off x="4043999" y="2761025"/>
            <a:ext cx="4095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4000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GRACIAS</a:t>
            </a:r>
            <a:endParaRPr b="1" sz="4000">
              <a:solidFill>
                <a:srgbClr val="FFA8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0" name="Google Shape;620;p11"/>
          <p:cNvSpPr txBox="1"/>
          <p:nvPr/>
        </p:nvSpPr>
        <p:spPr>
          <a:xfrm>
            <a:off x="6924350" y="5397300"/>
            <a:ext cx="4763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1750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https://interledger.org/es/</a:t>
            </a:r>
            <a:r>
              <a:rPr b="1" lang="en-MY" sz="1750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Hackathon</a:t>
            </a:r>
            <a:endParaRPr b="1" sz="175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1750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#OpenPayments </a:t>
            </a:r>
            <a:r>
              <a:rPr b="1" lang="en-MY" sz="1750">
                <a:solidFill>
                  <a:srgbClr val="FFA915"/>
                </a:solidFill>
                <a:latin typeface="Poppins"/>
                <a:ea typeface="Poppins"/>
                <a:cs typeface="Poppins"/>
                <a:sym typeface="Poppins"/>
              </a:rPr>
              <a:t>#ILPHacks</a:t>
            </a:r>
            <a:endParaRPr b="1" sz="175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1" name="Google Shape;621;p11"/>
          <p:cNvSpPr/>
          <p:nvPr/>
        </p:nvSpPr>
        <p:spPr>
          <a:xfrm>
            <a:off x="8346" y="5397298"/>
            <a:ext cx="5942809" cy="1025862"/>
          </a:xfrm>
          <a:custGeom>
            <a:rect b="b" l="l" r="r" t="t"/>
            <a:pathLst>
              <a:path extrusionOk="0" h="1196340" w="6930390">
                <a:moveTo>
                  <a:pt x="6930385" y="0"/>
                </a:moveTo>
                <a:lnTo>
                  <a:pt x="0" y="0"/>
                </a:lnTo>
                <a:lnTo>
                  <a:pt x="0" y="1195974"/>
                </a:lnTo>
                <a:lnTo>
                  <a:pt x="6930385" y="1195974"/>
                </a:lnTo>
                <a:lnTo>
                  <a:pt x="6930385" y="0"/>
                </a:lnTo>
                <a:close/>
              </a:path>
            </a:pathLst>
          </a:custGeom>
          <a:solidFill>
            <a:srgbClr val="FFA915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2" name="Google Shape;622;p11"/>
          <p:cNvSpPr/>
          <p:nvPr/>
        </p:nvSpPr>
        <p:spPr>
          <a:xfrm>
            <a:off x="284386" y="5639664"/>
            <a:ext cx="5423344" cy="524910"/>
          </a:xfrm>
          <a:custGeom>
            <a:rect b="b" l="l" r="r" t="t"/>
            <a:pathLst>
              <a:path extrusionOk="0" h="612140" w="6324600">
                <a:moveTo>
                  <a:pt x="394309" y="305930"/>
                </a:moveTo>
                <a:lnTo>
                  <a:pt x="0" y="0"/>
                </a:lnTo>
                <a:lnTo>
                  <a:pt x="0" y="611860"/>
                </a:lnTo>
                <a:lnTo>
                  <a:pt x="394309" y="305930"/>
                </a:lnTo>
                <a:close/>
              </a:path>
              <a:path extrusionOk="0" h="612140" w="6324600">
                <a:moveTo>
                  <a:pt x="933411" y="305930"/>
                </a:moveTo>
                <a:lnTo>
                  <a:pt x="539115" y="0"/>
                </a:lnTo>
                <a:lnTo>
                  <a:pt x="539115" y="611860"/>
                </a:lnTo>
                <a:lnTo>
                  <a:pt x="933411" y="305930"/>
                </a:lnTo>
                <a:close/>
              </a:path>
              <a:path extrusionOk="0" h="612140" w="6324600">
                <a:moveTo>
                  <a:pt x="1472526" y="305930"/>
                </a:moveTo>
                <a:lnTo>
                  <a:pt x="1078217" y="0"/>
                </a:lnTo>
                <a:lnTo>
                  <a:pt x="1078217" y="611860"/>
                </a:lnTo>
                <a:lnTo>
                  <a:pt x="1472526" y="305930"/>
                </a:lnTo>
                <a:close/>
              </a:path>
              <a:path extrusionOk="0" h="612140" w="6324600">
                <a:moveTo>
                  <a:pt x="2011629" y="305930"/>
                </a:moveTo>
                <a:lnTo>
                  <a:pt x="1617332" y="0"/>
                </a:lnTo>
                <a:lnTo>
                  <a:pt x="1617332" y="611860"/>
                </a:lnTo>
                <a:lnTo>
                  <a:pt x="2011629" y="305930"/>
                </a:lnTo>
                <a:close/>
              </a:path>
              <a:path extrusionOk="0" h="612140" w="6324600">
                <a:moveTo>
                  <a:pt x="2550744" y="305930"/>
                </a:moveTo>
                <a:lnTo>
                  <a:pt x="2156434" y="0"/>
                </a:lnTo>
                <a:lnTo>
                  <a:pt x="2156434" y="611860"/>
                </a:lnTo>
                <a:lnTo>
                  <a:pt x="2550744" y="305930"/>
                </a:lnTo>
                <a:close/>
              </a:path>
              <a:path extrusionOk="0" h="612140" w="6324600">
                <a:moveTo>
                  <a:pt x="3089846" y="305930"/>
                </a:moveTo>
                <a:lnTo>
                  <a:pt x="2695549" y="0"/>
                </a:lnTo>
                <a:lnTo>
                  <a:pt x="2695549" y="611860"/>
                </a:lnTo>
                <a:lnTo>
                  <a:pt x="3089846" y="305930"/>
                </a:lnTo>
                <a:close/>
              </a:path>
              <a:path extrusionOk="0" h="612140" w="6324600">
                <a:moveTo>
                  <a:pt x="3628961" y="305930"/>
                </a:moveTo>
                <a:lnTo>
                  <a:pt x="3234664" y="0"/>
                </a:lnTo>
                <a:lnTo>
                  <a:pt x="3234664" y="611860"/>
                </a:lnTo>
                <a:lnTo>
                  <a:pt x="3628961" y="305930"/>
                </a:lnTo>
                <a:close/>
              </a:path>
              <a:path extrusionOk="0" h="612140" w="6324600">
                <a:moveTo>
                  <a:pt x="4168063" y="305930"/>
                </a:moveTo>
                <a:lnTo>
                  <a:pt x="3773767" y="0"/>
                </a:lnTo>
                <a:lnTo>
                  <a:pt x="3773767" y="611860"/>
                </a:lnTo>
                <a:lnTo>
                  <a:pt x="4168063" y="305930"/>
                </a:lnTo>
                <a:close/>
              </a:path>
              <a:path extrusionOk="0" h="612140" w="6324600">
                <a:moveTo>
                  <a:pt x="4707179" y="305930"/>
                </a:moveTo>
                <a:lnTo>
                  <a:pt x="4312882" y="0"/>
                </a:lnTo>
                <a:lnTo>
                  <a:pt x="4312882" y="611860"/>
                </a:lnTo>
                <a:lnTo>
                  <a:pt x="4707179" y="305930"/>
                </a:lnTo>
                <a:close/>
              </a:path>
              <a:path extrusionOk="0" h="612140" w="6324600">
                <a:moveTo>
                  <a:pt x="5246281" y="305930"/>
                </a:moveTo>
                <a:lnTo>
                  <a:pt x="4851984" y="0"/>
                </a:lnTo>
                <a:lnTo>
                  <a:pt x="4851984" y="611860"/>
                </a:lnTo>
                <a:lnTo>
                  <a:pt x="5246281" y="305930"/>
                </a:lnTo>
                <a:close/>
              </a:path>
              <a:path extrusionOk="0" h="612140" w="6324600">
                <a:moveTo>
                  <a:pt x="5785396" y="305930"/>
                </a:moveTo>
                <a:lnTo>
                  <a:pt x="5391099" y="0"/>
                </a:lnTo>
                <a:lnTo>
                  <a:pt x="5391099" y="611860"/>
                </a:lnTo>
                <a:lnTo>
                  <a:pt x="5785396" y="305930"/>
                </a:lnTo>
                <a:close/>
              </a:path>
              <a:path extrusionOk="0" h="612140" w="6324600">
                <a:moveTo>
                  <a:pt x="6324498" y="305930"/>
                </a:moveTo>
                <a:lnTo>
                  <a:pt x="5930201" y="0"/>
                </a:lnTo>
                <a:lnTo>
                  <a:pt x="5930201" y="611860"/>
                </a:lnTo>
                <a:lnTo>
                  <a:pt x="6324498" y="305930"/>
                </a:lnTo>
                <a:close/>
              </a:path>
            </a:pathLst>
          </a:custGeom>
          <a:solidFill>
            <a:srgbClr val="56077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3" name="Google Shape;623;p11"/>
          <p:cNvSpPr/>
          <p:nvPr/>
        </p:nvSpPr>
        <p:spPr>
          <a:xfrm>
            <a:off x="8337" y="435854"/>
            <a:ext cx="6968671" cy="5990181"/>
          </a:xfrm>
          <a:custGeom>
            <a:rect b="b" l="l" r="r" t="t"/>
            <a:pathLst>
              <a:path extrusionOk="0" h="6985634" w="8126730">
                <a:moveTo>
                  <a:pt x="854252" y="0"/>
                </a:moveTo>
                <a:lnTo>
                  <a:pt x="0" y="0"/>
                </a:lnTo>
                <a:lnTo>
                  <a:pt x="0" y="211988"/>
                </a:lnTo>
                <a:lnTo>
                  <a:pt x="854252" y="211988"/>
                </a:lnTo>
                <a:lnTo>
                  <a:pt x="854252" y="0"/>
                </a:lnTo>
                <a:close/>
              </a:path>
              <a:path extrusionOk="0" h="6985634" w="8126730">
                <a:moveTo>
                  <a:pt x="854265" y="5596331"/>
                </a:moveTo>
                <a:lnTo>
                  <a:pt x="12" y="5596331"/>
                </a:lnTo>
                <a:lnTo>
                  <a:pt x="12" y="5792660"/>
                </a:lnTo>
                <a:lnTo>
                  <a:pt x="854265" y="5792660"/>
                </a:lnTo>
                <a:lnTo>
                  <a:pt x="854265" y="5596331"/>
                </a:lnTo>
                <a:close/>
              </a:path>
              <a:path extrusionOk="0" h="6985634" w="8126730">
                <a:moveTo>
                  <a:pt x="854265" y="5165839"/>
                </a:moveTo>
                <a:lnTo>
                  <a:pt x="12" y="5165839"/>
                </a:lnTo>
                <a:lnTo>
                  <a:pt x="12" y="5363375"/>
                </a:lnTo>
                <a:lnTo>
                  <a:pt x="854265" y="5363375"/>
                </a:lnTo>
                <a:lnTo>
                  <a:pt x="854265" y="5165839"/>
                </a:lnTo>
                <a:close/>
              </a:path>
              <a:path extrusionOk="0" h="6985634" w="8126730">
                <a:moveTo>
                  <a:pt x="854265" y="4735360"/>
                </a:moveTo>
                <a:lnTo>
                  <a:pt x="12" y="4735360"/>
                </a:lnTo>
                <a:lnTo>
                  <a:pt x="12" y="4934102"/>
                </a:lnTo>
                <a:lnTo>
                  <a:pt x="854265" y="4934102"/>
                </a:lnTo>
                <a:lnTo>
                  <a:pt x="854265" y="4735360"/>
                </a:lnTo>
                <a:close/>
              </a:path>
              <a:path extrusionOk="0" h="6985634" w="8126730">
                <a:moveTo>
                  <a:pt x="854265" y="4304881"/>
                </a:moveTo>
                <a:lnTo>
                  <a:pt x="12" y="4304881"/>
                </a:lnTo>
                <a:lnTo>
                  <a:pt x="12" y="4504817"/>
                </a:lnTo>
                <a:lnTo>
                  <a:pt x="854265" y="4504817"/>
                </a:lnTo>
                <a:lnTo>
                  <a:pt x="854265" y="4304881"/>
                </a:lnTo>
                <a:close/>
              </a:path>
              <a:path extrusionOk="0" h="6985634" w="8126730">
                <a:moveTo>
                  <a:pt x="854265" y="3874389"/>
                </a:moveTo>
                <a:lnTo>
                  <a:pt x="12" y="3874389"/>
                </a:lnTo>
                <a:lnTo>
                  <a:pt x="12" y="4075531"/>
                </a:lnTo>
                <a:lnTo>
                  <a:pt x="854265" y="4075531"/>
                </a:lnTo>
                <a:lnTo>
                  <a:pt x="854265" y="3874389"/>
                </a:lnTo>
                <a:close/>
              </a:path>
              <a:path extrusionOk="0" h="6985634" w="8126730">
                <a:moveTo>
                  <a:pt x="854265" y="3443897"/>
                </a:moveTo>
                <a:lnTo>
                  <a:pt x="12" y="3443897"/>
                </a:lnTo>
                <a:lnTo>
                  <a:pt x="12" y="3646246"/>
                </a:lnTo>
                <a:lnTo>
                  <a:pt x="854265" y="3646246"/>
                </a:lnTo>
                <a:lnTo>
                  <a:pt x="854265" y="3443897"/>
                </a:lnTo>
                <a:close/>
              </a:path>
              <a:path extrusionOk="0" h="6985634" w="8126730">
                <a:moveTo>
                  <a:pt x="854265" y="3013405"/>
                </a:moveTo>
                <a:lnTo>
                  <a:pt x="12" y="3013405"/>
                </a:lnTo>
                <a:lnTo>
                  <a:pt x="12" y="3216960"/>
                </a:lnTo>
                <a:lnTo>
                  <a:pt x="854265" y="3216960"/>
                </a:lnTo>
                <a:lnTo>
                  <a:pt x="854265" y="3013405"/>
                </a:lnTo>
                <a:close/>
              </a:path>
              <a:path extrusionOk="0" h="6985634" w="8126730">
                <a:moveTo>
                  <a:pt x="854265" y="2582926"/>
                </a:moveTo>
                <a:lnTo>
                  <a:pt x="12" y="2582926"/>
                </a:lnTo>
                <a:lnTo>
                  <a:pt x="12" y="2787688"/>
                </a:lnTo>
                <a:lnTo>
                  <a:pt x="854265" y="2787688"/>
                </a:lnTo>
                <a:lnTo>
                  <a:pt x="854265" y="2582926"/>
                </a:lnTo>
                <a:close/>
              </a:path>
              <a:path extrusionOk="0" h="6985634" w="8126730">
                <a:moveTo>
                  <a:pt x="854265" y="2152434"/>
                </a:moveTo>
                <a:lnTo>
                  <a:pt x="12" y="2152434"/>
                </a:lnTo>
                <a:lnTo>
                  <a:pt x="12" y="2358402"/>
                </a:lnTo>
                <a:lnTo>
                  <a:pt x="854265" y="2358402"/>
                </a:lnTo>
                <a:lnTo>
                  <a:pt x="854265" y="2152434"/>
                </a:lnTo>
                <a:close/>
              </a:path>
              <a:path extrusionOk="0" h="6985634" w="8126730">
                <a:moveTo>
                  <a:pt x="854265" y="1721942"/>
                </a:moveTo>
                <a:lnTo>
                  <a:pt x="12" y="1721942"/>
                </a:lnTo>
                <a:lnTo>
                  <a:pt x="12" y="1929117"/>
                </a:lnTo>
                <a:lnTo>
                  <a:pt x="854265" y="1929117"/>
                </a:lnTo>
                <a:lnTo>
                  <a:pt x="854265" y="1721942"/>
                </a:lnTo>
                <a:close/>
              </a:path>
              <a:path extrusionOk="0" h="6985634" w="8126730">
                <a:moveTo>
                  <a:pt x="854265" y="1291463"/>
                </a:moveTo>
                <a:lnTo>
                  <a:pt x="12" y="1291463"/>
                </a:lnTo>
                <a:lnTo>
                  <a:pt x="12" y="1499831"/>
                </a:lnTo>
                <a:lnTo>
                  <a:pt x="854265" y="1499831"/>
                </a:lnTo>
                <a:lnTo>
                  <a:pt x="854265" y="1291463"/>
                </a:lnTo>
                <a:close/>
              </a:path>
              <a:path extrusionOk="0" h="6985634" w="8126730">
                <a:moveTo>
                  <a:pt x="854265" y="860983"/>
                </a:moveTo>
                <a:lnTo>
                  <a:pt x="12" y="860983"/>
                </a:lnTo>
                <a:lnTo>
                  <a:pt x="12" y="1070559"/>
                </a:lnTo>
                <a:lnTo>
                  <a:pt x="854265" y="1070559"/>
                </a:lnTo>
                <a:lnTo>
                  <a:pt x="854265" y="860983"/>
                </a:lnTo>
                <a:close/>
              </a:path>
              <a:path extrusionOk="0" h="6985634" w="8126730">
                <a:moveTo>
                  <a:pt x="854265" y="430491"/>
                </a:moveTo>
                <a:lnTo>
                  <a:pt x="12" y="430491"/>
                </a:lnTo>
                <a:lnTo>
                  <a:pt x="12" y="641273"/>
                </a:lnTo>
                <a:lnTo>
                  <a:pt x="854265" y="641273"/>
                </a:lnTo>
                <a:lnTo>
                  <a:pt x="854265" y="430491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789320"/>
                </a:lnTo>
                <a:lnTo>
                  <a:pt x="6930390" y="584168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935827"/>
                </a:lnTo>
                <a:lnTo>
                  <a:pt x="6930390" y="5984633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082322"/>
                </a:lnTo>
                <a:lnTo>
                  <a:pt x="6930390" y="6127585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228829"/>
                </a:lnTo>
                <a:lnTo>
                  <a:pt x="6930390" y="6270536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375349"/>
                </a:lnTo>
                <a:lnTo>
                  <a:pt x="6930390" y="6413487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521844"/>
                </a:lnTo>
                <a:lnTo>
                  <a:pt x="6930390" y="6556438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668351"/>
                </a:lnTo>
                <a:lnTo>
                  <a:pt x="6930390" y="669940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814858"/>
                </a:lnTo>
                <a:lnTo>
                  <a:pt x="6930390" y="6842341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961365"/>
                </a:lnTo>
                <a:lnTo>
                  <a:pt x="6930390" y="6985292"/>
                </a:lnTo>
                <a:lnTo>
                  <a:pt x="8126362" y="5789320"/>
                </a:lnTo>
                <a:close/>
              </a:path>
            </a:pathLst>
          </a:custGeom>
          <a:solidFill>
            <a:srgbClr val="90A0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24" name="Google Shape;62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7" name="Google Shape;627;p12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28" name="Google Shape;628;p12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629" name="Google Shape;629;p12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30" name="Google Shape;630;p12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31" name="Google Shape;631;p12"/>
          <p:cNvSpPr txBox="1"/>
          <p:nvPr>
            <p:ph idx="4" type="body"/>
          </p:nvPr>
        </p:nvSpPr>
        <p:spPr>
          <a:xfrm>
            <a:off x="2408168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632" name="Google Shape;632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12"/>
          <p:cNvGrpSpPr/>
          <p:nvPr/>
        </p:nvGrpSpPr>
        <p:grpSpPr>
          <a:xfrm>
            <a:off x="0" y="5218448"/>
            <a:ext cx="2600439" cy="385344"/>
            <a:chOff x="0" y="9303775"/>
            <a:chExt cx="8073390" cy="1196350"/>
          </a:xfrm>
        </p:grpSpPr>
        <p:sp>
          <p:nvSpPr>
            <p:cNvPr id="634" name="Google Shape;634;p12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5" name="Google Shape;635;p12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6" name="Google Shape;636;p12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637" name="Google Shape;637;p12"/>
          <p:cNvGrpSpPr/>
          <p:nvPr/>
        </p:nvGrpSpPr>
        <p:grpSpPr>
          <a:xfrm>
            <a:off x="6344628" y="487055"/>
            <a:ext cx="5847372" cy="5116588"/>
            <a:chOff x="6344628" y="928827"/>
            <a:chExt cx="5847372" cy="5116588"/>
          </a:xfrm>
        </p:grpSpPr>
        <p:sp>
          <p:nvSpPr>
            <p:cNvPr id="638" name="Google Shape;638;p12"/>
            <p:cNvSpPr/>
            <p:nvPr/>
          </p:nvSpPr>
          <p:spPr>
            <a:xfrm flipH="1">
              <a:off x="6344628" y="928827"/>
              <a:ext cx="5092675" cy="5111615"/>
            </a:xfrm>
            <a:custGeom>
              <a:rect b="b" l="l" r="r" t="t"/>
              <a:pathLst>
                <a:path extrusionOk="0" h="7026275" w="7000240">
                  <a:moveTo>
                    <a:pt x="0" y="0"/>
                  </a:moveTo>
                  <a:lnTo>
                    <a:pt x="0" y="7025843"/>
                  </a:lnTo>
                  <a:lnTo>
                    <a:pt x="7000062" y="34984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67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9" name="Google Shape;639;p12"/>
            <p:cNvSpPr/>
            <p:nvPr/>
          </p:nvSpPr>
          <p:spPr>
            <a:xfrm flipH="1">
              <a:off x="6518328" y="933582"/>
              <a:ext cx="4918977" cy="5111615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0" name="Google Shape;640;p12"/>
            <p:cNvSpPr/>
            <p:nvPr/>
          </p:nvSpPr>
          <p:spPr>
            <a:xfrm flipH="1">
              <a:off x="11438075" y="933582"/>
              <a:ext cx="753922" cy="5108381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641" name="Google Shape;641;p12"/>
            <p:cNvPicPr preferRelativeResize="0"/>
            <p:nvPr/>
          </p:nvPicPr>
          <p:blipFill rotWithShape="1">
            <a:blip r:embed="rId3">
              <a:alphaModFix/>
            </a:blip>
            <a:srcRect b="2856" l="0" r="0" t="0"/>
            <a:stretch/>
          </p:blipFill>
          <p:spPr>
            <a:xfrm flipH="1">
              <a:off x="6813518" y="1877725"/>
              <a:ext cx="5314701" cy="4125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2" name="Google Shape;642;p12"/>
            <p:cNvSpPr/>
            <p:nvPr/>
          </p:nvSpPr>
          <p:spPr>
            <a:xfrm flipH="1">
              <a:off x="7022230" y="5871298"/>
              <a:ext cx="5169770" cy="174117"/>
            </a:xfrm>
            <a:custGeom>
              <a:rect b="b" l="l" r="r" t="t"/>
              <a:pathLst>
                <a:path extrusionOk="0" h="1450975" w="8406130">
                  <a:moveTo>
                    <a:pt x="8405774" y="0"/>
                  </a:moveTo>
                  <a:lnTo>
                    <a:pt x="0" y="0"/>
                  </a:lnTo>
                  <a:lnTo>
                    <a:pt x="12" y="1450581"/>
                  </a:lnTo>
                  <a:lnTo>
                    <a:pt x="8405774" y="1450581"/>
                  </a:lnTo>
                  <a:lnTo>
                    <a:pt x="840577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  <p:transition spd="slow">
    <p:push/>
  </p:transition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2.png"/><Relationship Id="rId2" Type="http://schemas.openxmlformats.org/officeDocument/2006/relationships/hyperlink" Target="http://interledger.org" TargetMode="External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929225" y="295100"/>
            <a:ext cx="1972325" cy="5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None/>
            </a:pPr>
            <a:r>
              <a:rPr lang="en-MY" sz="1000" u="sng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lang="en-MY" sz="1000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sz="1000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 sz="1000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Pg2" Type="http://schemas.openxmlformats.org/officeDocument/2006/relationships/image" Target="../media/paygent2.png"/><Relationship Id="rIdPg5" Type="http://schemas.openxmlformats.org/officeDocument/2006/relationships/image" Target="../media/paygent5.png"/><Relationship Id="rIdPg8" Type="http://schemas.openxmlformats.org/officeDocument/2006/relationships/image" Target="../media/paygent8.png"/><Relationship Id="rIdPg11" Type="http://schemas.openxmlformats.org/officeDocument/2006/relationships/image" Target="../media/paygent1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Pg14" Type="http://schemas.openxmlformats.org/officeDocument/2006/relationships/image" Target="../media/paygent14.png"/><Relationship Id="rIdPg21" Type="http://schemas.openxmlformats.org/officeDocument/2006/relationships/image" Target="../media/paygent21.png"/><Relationship Id="rIdPg27" Type="http://schemas.openxmlformats.org/officeDocument/2006/relationships/image" Target="../media/paygent27.png"/><Relationship Id="rIdPg32" Type="http://schemas.openxmlformats.org/officeDocument/2006/relationships/image" Target="../media/paygent32.png"/><Relationship Id="rIdPg37" Type="http://schemas.openxmlformats.org/officeDocument/2006/relationships/image" Target="../media/paygent37.png"/><Relationship Id="rIdPg42" Type="http://schemas.openxmlformats.org/officeDocument/2006/relationships/image" Target="../media/paygent4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Pg62" Type="http://schemas.openxmlformats.org/officeDocument/2006/relationships/image" Target="../media/paygent62.png"/><Relationship Id="rIdPg72" Type="http://schemas.openxmlformats.org/officeDocument/2006/relationships/image" Target="../media/paygent72.png"/><Relationship Id="rIdPg77" Type="http://schemas.openxmlformats.org/officeDocument/2006/relationships/image" Target="../media/paygent77.png"/><Relationship Id="rIdPg82" Type="http://schemas.openxmlformats.org/officeDocument/2006/relationships/image" Target="../media/paygent82.png"/><Relationship Id="rIdPg87" Type="http://schemas.openxmlformats.org/officeDocument/2006/relationships/image" Target="../media/paygent87.png"/><Relationship Id="rIdPg92" Type="http://schemas.openxmlformats.org/officeDocument/2006/relationships/image" Target="../media/paygent9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Pg223" Type="http://schemas.openxmlformats.org/officeDocument/2006/relationships/image" Target="../media/paygent2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47" Type="http://schemas.openxmlformats.org/officeDocument/2006/relationships/image" Target="../media/paygent47.png"/><Relationship Id="rIdPg52" Type="http://schemas.openxmlformats.org/officeDocument/2006/relationships/image" Target="../media/paygent52.png"/><Relationship Id="rIdPg57" Type="http://schemas.openxmlformats.org/officeDocument/2006/relationships/image" Target="../media/paygent57.png"/><Relationship Id="rIdNotas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96" Type="http://schemas.openxmlformats.org/officeDocument/2006/relationships/image" Target="../media/paygent96.png"/><Relationship Id="rIdNotas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99" Type="http://schemas.openxmlformats.org/officeDocument/2006/relationships/image" Target="../media/paygent99.png"/><Relationship Id="rIdPg103" Type="http://schemas.openxmlformats.org/officeDocument/2006/relationships/image" Target="../media/paygent103.png"/><Relationship Id="rIdPg108" Type="http://schemas.openxmlformats.org/officeDocument/2006/relationships/image" Target="../media/paygent108.png"/><Relationship Id="rIdPg113" Type="http://schemas.openxmlformats.org/officeDocument/2006/relationships/image" Target="../media/paygent113.png"/><Relationship Id="rIdPg118" Type="http://schemas.openxmlformats.org/officeDocument/2006/relationships/image" Target="../media/paygent118.png"/><Relationship Id="rIdPg123" Type="http://schemas.openxmlformats.org/officeDocument/2006/relationships/image" Target="../media/paygent123.png"/><Relationship Id="rIdNotas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28" Type="http://schemas.openxmlformats.org/officeDocument/2006/relationships/image" Target="../media/paygent128.png"/><Relationship Id="rIdPg132" Type="http://schemas.openxmlformats.org/officeDocument/2006/relationships/image" Target="../media/paygent132.png"/><Relationship Id="rIdPg137" Type="http://schemas.openxmlformats.org/officeDocument/2006/relationships/image" Target="../media/paygent137.png"/><Relationship Id="rIdPg142" Type="http://schemas.openxmlformats.org/officeDocument/2006/relationships/image" Target="../media/paygent142.png"/><Relationship Id="rIdPg147" Type="http://schemas.openxmlformats.org/officeDocument/2006/relationships/image" Target="../media/paygent147.png"/><Relationship Id="rIdPg152" Type="http://schemas.openxmlformats.org/officeDocument/2006/relationships/image" Target="../media/paygent152.png"/><Relationship Id="rIdNotas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57" Type="http://schemas.openxmlformats.org/officeDocument/2006/relationships/image" Target="../media/paygent157.png"/><Relationship Id="rIdPg161" Type="http://schemas.openxmlformats.org/officeDocument/2006/relationships/image" Target="../media/paygent161.png"/><Relationship Id="rIdPg166" Type="http://schemas.openxmlformats.org/officeDocument/2006/relationships/image" Target="../media/paygent166.png"/><Relationship Id="rIdPg171" Type="http://schemas.openxmlformats.org/officeDocument/2006/relationships/image" Target="../media/paygent171.png"/><Relationship Id="rIdPg176" Type="http://schemas.openxmlformats.org/officeDocument/2006/relationships/image" Target="../media/paygent176.png"/><Relationship Id="rIdPg181" Type="http://schemas.openxmlformats.org/officeDocument/2006/relationships/image" Target="../media/paygent181.png"/><Relationship Id="rIdNotas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87" Type="http://schemas.openxmlformats.org/officeDocument/2006/relationships/image" Target="../media/paygent187.png"/><Relationship Id="rIdPg192" Type="http://schemas.openxmlformats.org/officeDocument/2006/relationships/image" Target="../media/paygent192.png"/><Relationship Id="rIdPg197" Type="http://schemas.openxmlformats.org/officeDocument/2006/relationships/image" Target="../media/paygent197.png"/><Relationship Id="rIdPg202" Type="http://schemas.openxmlformats.org/officeDocument/2006/relationships/image" Target="../media/paygent202.png"/><Relationship Id="rIdPg207" Type="http://schemas.openxmlformats.org/officeDocument/2006/relationships/image" Target="../media/paygent207.png"/><Relationship Id="rIdPg212" Type="http://schemas.openxmlformats.org/officeDocument/2006/relationships/image" Target="../media/paygent212.png"/><Relationship Id="rIdPg217" Type="http://schemas.openxmlformats.org/officeDocument/2006/relationships/image" Target="../media/paygent217.png"/><Relationship Id="rIdNotas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220" Type="http://schemas.openxmlformats.org/officeDocument/2006/relationships/image" Target="../media/paygent220.png"/><Relationship Id="rIdNotas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228" Type="http://schemas.openxmlformats.org/officeDocument/2006/relationships/image" Target="../media/paygent228.png"/><Relationship Id="rIdPg233" Type="http://schemas.openxmlformats.org/officeDocument/2006/relationships/image" Target="../media/paygent233.png"/><Relationship Id="rIdPg238" Type="http://schemas.openxmlformats.org/officeDocument/2006/relationships/image" Target="../media/paygent238.png"/><Relationship Id="rIdPg243" Type="http://schemas.openxmlformats.org/officeDocument/2006/relationships/image" Target="../media/paygent243.png"/><Relationship Id="rIdNotas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3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None/>
            </a:pPr>
            <a:r>
              <a:rPr sz="4400" lang="en-MY"/>
              <a:t>PAYGENT</a:t>
            </a:r>
          </a:p>
        </p:txBody>
      </p:sp>
      <p:sp>
        <p:nvSpPr>
          <p:cNvPr id="648" name="Google Shape;648;p13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sz="1500" lang="en-MY"/>
              <a:t>Pagos delegables para personas y agentes de IA</a:t>
            </a:r>
          </a:p>
        </p:txBody>
      </p:sp>
      <p:sp>
        <p:nvSpPr>
          <p:cNvPr id="649" name="Google Shape;649;p13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MY"/>
              <a:t>FECHA:</a:t>
            </a:r>
            <a:br>
              <a:rPr lang="en-MY"/>
            </a:br>
            <a:r>
              <a:rPr lang="en-MY"/>
              <a:t>17 Octubre 2026</a:t>
            </a:r>
            <a:endParaRPr/>
          </a:p>
        </p:txBody>
      </p:sp>
      <p:sp>
        <p:nvSpPr>
          <p:cNvPr id="650" name="Google Shape;650;p13"/>
          <p:cNvSpPr txBox="1"/>
          <p:nvPr>
            <p:ph idx="4" type="body"/>
          </p:nvPr>
        </p:nvSpPr>
        <p:spPr>
          <a:xfrm>
            <a:off x="2408178" y="6031225"/>
            <a:ext cx="2712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MY"/>
              <a:t>CIUDAD: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MY"/>
              <a:t>Medellín, Colombia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14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Quiénes construimos Paygent</a:t>
            </a:r>
          </a:p>
        </p:txBody>
      </p:sp>
      <p:sp>
        <p:nvSpPr>
          <p:cNvPr id="656" name="Google Shape;656;p14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>
                <a:solidFill>
                  <a:srgbClr val="560676"/>
                </a:solidFill>
              </a:rPr>
              <a:t>INTRODUCCIÓN DEL EQUIPO</a:t>
            </a:r>
            <a:endParaRPr/>
          </a:p>
        </p:txBody>
      </p:sp>
      <p:sp>
        <p:nvSpPr>
          <p:cNvPr id="657" name="Google Shape;657;p14"/>
          <p:cNvSpPr txBox="1"/>
          <p:nvPr>
            <p:ph idx="4" type="body"/>
          </p:nvPr>
        </p:nvSpPr>
        <p:spPr>
          <a:xfrm>
            <a:off x="5688471" y="180099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-MY"/>
              <a:t>Carlos Andres Florez Vargas</a:t>
            </a:r>
          </a:p>
        </p:txBody>
      </p:sp>
      <p:sp>
        <p:nvSpPr>
          <p:cNvPr id="658" name="Google Shape;658;p14"/>
          <p:cNvSpPr txBox="1"/>
          <p:nvPr>
            <p:ph idx="5" type="body"/>
          </p:nvPr>
        </p:nvSpPr>
        <p:spPr>
          <a:xfrm>
            <a:off x="5688471" y="260873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Pedro Jose Gomez</a:t>
            </a:r>
          </a:p>
        </p:txBody>
      </p:sp>
      <p:sp>
        <p:nvSpPr>
          <p:cNvPr id="659" name="Google Shape;659;p14"/>
          <p:cNvSpPr txBox="1"/>
          <p:nvPr>
            <p:ph idx="6" type="body"/>
          </p:nvPr>
        </p:nvSpPr>
        <p:spPr>
          <a:xfrm>
            <a:off x="5688471" y="341647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Roy Sandoval Viera</a:t>
            </a:r>
          </a:p>
        </p:txBody>
      </p:sp>
      <p:sp>
        <p:nvSpPr>
          <p:cNvPr id="660" name="Google Shape;660;p14"/>
          <p:cNvSpPr txBox="1"/>
          <p:nvPr>
            <p:ph idx="7" type="body"/>
          </p:nvPr>
        </p:nvSpPr>
        <p:spPr>
          <a:xfrm>
            <a:off x="5688471" y="422421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Luis Angel Seoanes</a:t>
            </a:r>
          </a:p>
        </p:txBody>
      </p:sp>
      <p:sp>
        <p:nvSpPr>
          <p:cNvPr id="9001" name="Aro 1"/>
          <p:cNvSpPr/>
          <p:nvPr/>
        </p:nvSpPr>
        <p:spPr>
          <a:xfrm>
            <a:off x="405000" y="150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3" name="Integrante 1" descr="Integrante 1"/>
          <p:cNvPicPr>
            <a:picLocks noChangeAspect="1"/>
          </p:cNvPicPr>
          <p:nvPr/>
        </p:nvPicPr>
        <p:blipFill>
          <a:blip r:embed="rIdPg2"/>
          <a:stretch>
            <a:fillRect/>
          </a:stretch>
        </p:blipFill>
        <p:spPr>
          <a:xfrm>
            <a:off x="450000" y="1550000"/>
            <a:ext cx="1950000" cy="1950000"/>
          </a:xfrm>
          <a:prstGeom prst="rect">
            <a:avLst/>
          </a:prstGeom>
        </p:spPr>
      </p:pic>
      <p:sp>
        <p:nvSpPr>
          <p:cNvPr id="9004" name="Aro 2"/>
          <p:cNvSpPr/>
          <p:nvPr/>
        </p:nvSpPr>
        <p:spPr>
          <a:xfrm>
            <a:off x="2555000" y="150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6" name="Integrante 2" descr="Integrante 2"/>
          <p:cNvPicPr>
            <a:picLocks noChangeAspect="1"/>
          </p:cNvPicPr>
          <p:nvPr/>
        </p:nvPicPr>
        <p:blipFill>
          <a:blip r:embed="rIdPg5"/>
          <a:stretch>
            <a:fillRect/>
          </a:stretch>
        </p:blipFill>
        <p:spPr>
          <a:xfrm>
            <a:off x="2600000" y="1550000"/>
            <a:ext cx="1950000" cy="1950000"/>
          </a:xfrm>
          <a:prstGeom prst="rect">
            <a:avLst/>
          </a:prstGeom>
        </p:spPr>
      </p:pic>
      <p:sp>
        <p:nvSpPr>
          <p:cNvPr id="9007" name="Aro 3"/>
          <p:cNvSpPr/>
          <p:nvPr/>
        </p:nvSpPr>
        <p:spPr>
          <a:xfrm>
            <a:off x="405000" y="362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9" name="Integrante 3" descr="Integrante 3"/>
          <p:cNvPicPr>
            <a:picLocks noChangeAspect="1"/>
          </p:cNvPicPr>
          <p:nvPr/>
        </p:nvPicPr>
        <p:blipFill>
          <a:blip r:embed="rIdPg8"/>
          <a:stretch>
            <a:fillRect/>
          </a:stretch>
        </p:blipFill>
        <p:spPr>
          <a:xfrm>
            <a:off x="450000" y="3670000"/>
            <a:ext cx="1950000" cy="1950000"/>
          </a:xfrm>
          <a:prstGeom prst="rect">
            <a:avLst/>
          </a:prstGeom>
        </p:spPr>
      </p:pic>
      <p:sp>
        <p:nvSpPr>
          <p:cNvPr id="9010" name="Aro 4"/>
          <p:cNvSpPr/>
          <p:nvPr/>
        </p:nvSpPr>
        <p:spPr>
          <a:xfrm>
            <a:off x="2555000" y="362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12" name="Integrante 4" descr="Integrante 4"/>
          <p:cNvPicPr>
            <a:picLocks noChangeAspect="1"/>
          </p:cNvPicPr>
          <p:nvPr/>
        </p:nvPicPr>
        <p:blipFill>
          <a:blip r:embed="rIdPg11"/>
          <a:stretch>
            <a:fillRect/>
          </a:stretch>
        </p:blipFill>
        <p:spPr>
          <a:xfrm>
            <a:off x="2600000" y="3670000"/>
            <a:ext cx="1950000" cy="19500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15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El dinero cruza la frontera. Gastarlo es lo difícil.</a:t>
            </a:r>
          </a:p>
        </p:txBody>
      </p:sp>
      <p:sp>
        <p:nvSpPr>
          <p:cNvPr id="668" name="Google Shape;668;p15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EL PROBLEMA</a:t>
            </a:r>
          </a:p>
        </p:txBody>
      </p:sp>
      <p:sp>
        <p:nvSpPr>
          <p:cNvPr id="9013" name="Fondo user"/>
          <p:cNvSpPr/>
          <p:nvPr/>
        </p:nvSpPr>
        <p:spPr>
          <a:xfrm>
            <a:off x="1000000" y="1750000"/>
            <a:ext cx="1000000" cy="10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15" name="user" descr="user"/>
          <p:cNvPicPr>
            <a:picLocks noChangeAspect="1"/>
          </p:cNvPicPr>
          <p:nvPr/>
        </p:nvPicPr>
        <p:blipFill>
          <a:blip r:embed="rIdPg14"/>
          <a:stretch>
            <a:fillRect/>
          </a:stretch>
        </p:blipFill>
        <p:spPr>
          <a:xfrm>
            <a:off x="1240000" y="1990000"/>
            <a:ext cx="520000" cy="520000"/>
          </a:xfrm>
          <a:prstGeom prst="rect">
            <a:avLst/>
          </a:prstGeom>
        </p:spPr>
      </p:pic>
      <p:sp>
        <p:nvSpPr>
          <p:cNvPr id="9016" name="Hijo"/>
          <p:cNvSpPr txBox="1"/>
          <p:nvPr/>
        </p:nvSpPr>
        <p:spPr>
          <a:xfrm>
            <a:off x="2150000" y="1830000"/>
            <a:ext cx="2300000" cy="84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200" b="1">
                <a:solidFill>
                  <a:srgbClr val="48156E"/>
                </a:solidFill>
                <a:latin typeface="Poppins"/>
                <a:cs typeface="Poppins"/>
              </a:rPr>
              <a:t>Un hijo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trabaja en Texas</a:t>
            </a:r>
          </a:p>
        </p:txBody>
      </p:sp>
      <p:sp>
        <p:nvSpPr>
          <p:cNvPr id="9017" name="Línea"/>
          <p:cNvSpPr/>
          <p:nvPr/>
        </p:nvSpPr>
        <p:spPr>
          <a:xfrm>
            <a:off x="4450000" y="2228000"/>
            <a:ext cx="2850000" cy="44000"/>
          </a:xfrm>
          <a:prstGeom prst="rect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18" name="Punta"/>
          <p:cNvSpPr/>
          <p:nvPr/>
        </p:nvSpPr>
        <p:spPr>
          <a:xfrm>
            <a:off x="7250000" y="2120000"/>
            <a:ext cx="300000" cy="26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19" name="Dinero"/>
          <p:cNvSpPr txBox="1"/>
          <p:nvPr/>
        </p:nvSpPr>
        <p:spPr>
          <a:xfrm>
            <a:off x="5600000" y="1950000"/>
            <a:ext cx="600000" cy="600000"/>
          </a:xfrm>
          <a:prstGeom prst="ellipse">
            <a:avLst/>
          </a:prstGeom>
          <a:solidFill>
            <a:srgbClr val="0FA88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200" b="1">
                <a:solidFill>
                  <a:srgbClr val="FFFFFF"/>
                </a:solidFill>
                <a:latin typeface="Poppins"/>
                <a:cs typeface="Poppins"/>
              </a:rPr>
              <a:t>$</a:t>
            </a:r>
          </a:p>
        </p:txBody>
      </p:sp>
      <p:sp>
        <p:nvSpPr>
          <p:cNvPr id="9020" name="Fondo house"/>
          <p:cNvSpPr/>
          <p:nvPr/>
        </p:nvSpPr>
        <p:spPr>
          <a:xfrm>
            <a:off x="7750000" y="1750000"/>
            <a:ext cx="1000000" cy="10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22" name="house" descr="house"/>
          <p:cNvPicPr>
            <a:picLocks noChangeAspect="1"/>
          </p:cNvPicPr>
          <p:nvPr/>
        </p:nvPicPr>
        <p:blipFill>
          <a:blip r:embed="rIdPg21"/>
          <a:stretch>
            <a:fillRect/>
          </a:stretch>
        </p:blipFill>
        <p:spPr>
          <a:xfrm>
            <a:off x="7990000" y="1990000"/>
            <a:ext cx="520000" cy="520000"/>
          </a:xfrm>
          <a:prstGeom prst="rect">
            <a:avLst/>
          </a:prstGeom>
        </p:spPr>
      </p:pic>
      <p:sp>
        <p:nvSpPr>
          <p:cNvPr id="9023" name="Mamá"/>
          <p:cNvSpPr txBox="1"/>
          <p:nvPr/>
        </p:nvSpPr>
        <p:spPr>
          <a:xfrm>
            <a:off x="8900000" y="1830000"/>
            <a:ext cx="2900000" cy="84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200" b="1">
                <a:solidFill>
                  <a:srgbClr val="48156E"/>
                </a:solidFill>
                <a:latin typeface="Poppins"/>
                <a:cs typeface="Poppins"/>
              </a:rPr>
              <a:t>Su mamá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una vereda de Antioquia</a:t>
            </a:r>
          </a:p>
        </p:txBody>
      </p:sp>
      <p:sp>
        <p:nvSpPr>
          <p:cNvPr id="9024" name="Puente"/>
          <p:cNvSpPr txBox="1"/>
          <p:nvPr/>
        </p:nvSpPr>
        <p:spPr>
          <a:xfrm>
            <a:off x="700000" y="3350000"/>
            <a:ext cx="108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500">
                <a:solidFill>
                  <a:srgbClr val="5A5A66"/>
                </a:solidFill>
                <a:latin typeface="Poppins"/>
                <a:cs typeface="Poppins"/>
              </a:rPr>
              <a:t>Pero para pagar en la tienda del pueblo hace falta…</a:t>
            </a:r>
          </a:p>
        </p:txBody>
      </p:sp>
      <p:sp>
        <p:nvSpPr>
          <p:cNvPr id="9025" name="Tarjeta Señal"/>
          <p:cNvSpPr/>
          <p:nvPr/>
        </p:nvSpPr>
        <p:spPr>
          <a:xfrm>
            <a:off x="70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26" name="Fondo wifi-off"/>
          <p:cNvSpPr/>
          <p:nvPr/>
        </p:nvSpPr>
        <p:spPr>
          <a:xfrm>
            <a:off x="88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28" name="wifi-off" descr="wifi-off"/>
          <p:cNvPicPr>
            <a:picLocks noChangeAspect="1"/>
          </p:cNvPicPr>
          <p:nvPr/>
        </p:nvPicPr>
        <p:blipFill>
          <a:blip r:embed="rIdPg27"/>
          <a:stretch>
            <a:fillRect/>
          </a:stretch>
        </p:blipFill>
        <p:spPr>
          <a:xfrm>
            <a:off x="1028800" y="4438800"/>
            <a:ext cx="322400" cy="322400"/>
          </a:xfrm>
          <a:prstGeom prst="rect">
            <a:avLst/>
          </a:prstGeom>
        </p:spPr>
      </p:pic>
      <p:sp>
        <p:nvSpPr>
          <p:cNvPr id="9029" name="Señal"/>
          <p:cNvSpPr txBox="1"/>
          <p:nvPr/>
        </p:nvSpPr>
        <p:spPr>
          <a:xfrm>
            <a:off x="168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Señal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En la vereda va y viene</a:t>
            </a:r>
          </a:p>
        </p:txBody>
      </p:sp>
      <p:sp>
        <p:nvSpPr>
          <p:cNvPr id="9030" name="Tarjeta Smartphone"/>
          <p:cNvSpPr/>
          <p:nvPr/>
        </p:nvSpPr>
        <p:spPr>
          <a:xfrm>
            <a:off x="344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1" name="Fondo smartphone"/>
          <p:cNvSpPr/>
          <p:nvPr/>
        </p:nvSpPr>
        <p:spPr>
          <a:xfrm>
            <a:off x="362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33" name="smartphone" descr="smartphone"/>
          <p:cNvPicPr>
            <a:picLocks noChangeAspect="1"/>
          </p:cNvPicPr>
          <p:nvPr/>
        </p:nvPicPr>
        <p:blipFill>
          <a:blip r:embed="rIdPg32"/>
          <a:stretch>
            <a:fillRect/>
          </a:stretch>
        </p:blipFill>
        <p:spPr>
          <a:xfrm>
            <a:off x="3768800" y="4438800"/>
            <a:ext cx="322400" cy="322400"/>
          </a:xfrm>
          <a:prstGeom prst="rect">
            <a:avLst/>
          </a:prstGeom>
        </p:spPr>
      </p:pic>
      <p:sp>
        <p:nvSpPr>
          <p:cNvPr id="9034" name="Smartphone"/>
          <p:cNvSpPr txBox="1"/>
          <p:nvPr/>
        </p:nvSpPr>
        <p:spPr>
          <a:xfrm>
            <a:off x="442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Smartphone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Muchos usan celular de teclas</a:t>
            </a:r>
          </a:p>
        </p:txBody>
      </p:sp>
      <p:sp>
        <p:nvSpPr>
          <p:cNvPr id="9035" name="Tarjeta Wallet propia"/>
          <p:cNvSpPr/>
          <p:nvPr/>
        </p:nvSpPr>
        <p:spPr>
          <a:xfrm>
            <a:off x="618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6" name="Fondo wallet"/>
          <p:cNvSpPr/>
          <p:nvPr/>
        </p:nvSpPr>
        <p:spPr>
          <a:xfrm>
            <a:off x="636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38" name="wallet" descr="wallet"/>
          <p:cNvPicPr>
            <a:picLocks noChangeAspect="1"/>
          </p:cNvPicPr>
          <p:nvPr/>
        </p:nvPicPr>
        <p:blipFill>
          <a:blip r:embed="rIdPg37"/>
          <a:stretch>
            <a:fillRect/>
          </a:stretch>
        </p:blipFill>
        <p:spPr>
          <a:xfrm>
            <a:off x="6508800" y="4438800"/>
            <a:ext cx="322400" cy="322400"/>
          </a:xfrm>
          <a:prstGeom prst="rect">
            <a:avLst/>
          </a:prstGeom>
        </p:spPr>
      </p:pic>
      <p:sp>
        <p:nvSpPr>
          <p:cNvPr id="9039" name="Wallet propia"/>
          <p:cNvSpPr txBox="1"/>
          <p:nvPr/>
        </p:nvSpPr>
        <p:spPr>
          <a:xfrm>
            <a:off x="716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Wallet propia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Prestar la tarjeta es darlo todo</a:t>
            </a:r>
          </a:p>
        </p:txBody>
      </p:sp>
      <p:sp>
        <p:nvSpPr>
          <p:cNvPr id="9040" name="Tarjeta Pagos con IA"/>
          <p:cNvSpPr/>
          <p:nvPr/>
        </p:nvSpPr>
        <p:spPr>
          <a:xfrm>
            <a:off x="892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41" name="Fondo bot"/>
          <p:cNvSpPr/>
          <p:nvPr/>
        </p:nvSpPr>
        <p:spPr>
          <a:xfrm>
            <a:off x="910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43" name="bot" descr="bot"/>
          <p:cNvPicPr>
            <a:picLocks noChangeAspect="1"/>
          </p:cNvPicPr>
          <p:nvPr/>
        </p:nvPicPr>
        <p:blipFill>
          <a:blip r:embed="rIdPg42"/>
          <a:stretch>
            <a:fillRect/>
          </a:stretch>
        </p:blipFill>
        <p:spPr>
          <a:xfrm>
            <a:off x="9248800" y="4438800"/>
            <a:ext cx="322400" cy="322400"/>
          </a:xfrm>
          <a:prstGeom prst="rect">
            <a:avLst/>
          </a:prstGeom>
        </p:spPr>
      </p:pic>
      <p:sp>
        <p:nvSpPr>
          <p:cNvPr id="9044" name="Pagos con IA"/>
          <p:cNvSpPr txBox="1"/>
          <p:nvPr/>
        </p:nvSpPr>
        <p:spPr>
          <a:xfrm>
            <a:off x="990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Pagos con IA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Son cerrados y asumen las tres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16"/>
          <p:cNvSpPr txBox="1"/>
          <p:nvPr>
            <p:ph idx="2" type="body"/>
          </p:nvPr>
        </p:nvSpPr>
        <p:spPr>
          <a:xfrm>
            <a:off x="1516225" y="1614500"/>
            <a:ext cx="9155700" cy="29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/>
              <a:t>Pagar no debería necesitar internet.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17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/>
              <a:t>El agente propone. El gateway decide.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Paygent: un permiso de pago que se reparte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LA SOLUCIÓN</a:t>
            </a:r>
          </a:p>
        </p:txBody>
      </p:sp>
      <p:sp>
        <p:nvSpPr>
          <p:cNvPr id="9060" name="Raíz"/>
          <p:cNvSpPr/>
          <p:nvPr/>
        </p:nvSpPr>
        <p:spPr>
          <a:xfrm>
            <a:off x="3796000" y="1550000"/>
            <a:ext cx="4600000" cy="1000000"/>
          </a:xfrm>
          <a:prstGeom prst="roundRect">
            <a:avLst>
              <a:gd name="adj" fmla="val 18000"/>
            </a:avLst>
          </a:prstGeom>
          <a:solidFill>
            <a:srgbClr val="EEE6F5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1" name="Fondo signature"/>
          <p:cNvSpPr/>
          <p:nvPr/>
        </p:nvSpPr>
        <p:spPr>
          <a:xfrm>
            <a:off x="4006000" y="1700000"/>
            <a:ext cx="700000" cy="7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63" name="signature" descr="signature"/>
          <p:cNvPicPr>
            <a:picLocks noChangeAspect="1"/>
          </p:cNvPicPr>
          <p:nvPr/>
        </p:nvPicPr>
        <p:blipFill>
          <a:blip r:embed="rIdPg62"/>
          <a:stretch>
            <a:fillRect/>
          </a:stretch>
        </p:blipFill>
        <p:spPr>
          <a:xfrm>
            <a:off x="4174000" y="1868000"/>
            <a:ext cx="364000" cy="364000"/>
          </a:xfrm>
          <a:prstGeom prst="rect">
            <a:avLst/>
          </a:prstGeom>
        </p:spPr>
      </p:pic>
      <p:sp>
        <p:nvSpPr>
          <p:cNvPr id="9064" name="Raíz texto"/>
          <p:cNvSpPr txBox="1"/>
          <p:nvPr/>
        </p:nvSpPr>
        <p:spPr>
          <a:xfrm>
            <a:off x="4846000" y="1550000"/>
            <a:ext cx="34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900" b="1">
                <a:solidFill>
                  <a:srgbClr val="48156E"/>
                </a:solidFill>
                <a:latin typeface="Poppins"/>
                <a:cs typeface="Poppins"/>
              </a:rPr>
              <a:t>El titular firma una vez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Un grant de Open Payments: $300 al mes</a:t>
            </a:r>
          </a:p>
        </p:txBody>
      </p:sp>
      <p:sp>
        <p:nvSpPr>
          <p:cNvPr id="9065" name="Línea"/>
          <p:cNvSpPr/>
          <p:nvPr/>
        </p:nvSpPr>
        <p:spPr>
          <a:xfrm>
            <a:off x="6076000" y="2550000"/>
            <a:ext cx="40000" cy="33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6" name="Línea"/>
          <p:cNvSpPr/>
          <p:nvPr/>
        </p:nvSpPr>
        <p:spPr>
          <a:xfrm>
            <a:off x="2396000" y="2860000"/>
            <a:ext cx="7400000" cy="4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7" name="Línea"/>
          <p:cNvSpPr/>
          <p:nvPr/>
        </p:nvSpPr>
        <p:spPr>
          <a:xfrm>
            <a:off x="23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8" name="Línea"/>
          <p:cNvSpPr/>
          <p:nvPr/>
        </p:nvSpPr>
        <p:spPr>
          <a:xfrm>
            <a:off x="60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9" name="Línea"/>
          <p:cNvSpPr/>
          <p:nvPr/>
        </p:nvSpPr>
        <p:spPr>
          <a:xfrm>
            <a:off x="97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70" name="Tarjeta Su mamá"/>
          <p:cNvSpPr/>
          <p:nvPr/>
        </p:nvSpPr>
        <p:spPr>
          <a:xfrm>
            <a:off x="6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71" name="Fondo user"/>
          <p:cNvSpPr/>
          <p:nvPr/>
        </p:nvSpPr>
        <p:spPr>
          <a:xfrm>
            <a:off x="876000" y="3400000"/>
            <a:ext cx="650000" cy="65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73" name="user" descr="user"/>
          <p:cNvPicPr>
            <a:picLocks noChangeAspect="1"/>
          </p:cNvPicPr>
          <p:nvPr/>
        </p:nvPicPr>
        <p:blipFill>
          <a:blip r:embed="rIdPg72"/>
          <a:stretch>
            <a:fillRect/>
          </a:stretch>
        </p:blipFill>
        <p:spPr>
          <a:xfrm>
            <a:off x="1032000" y="3556000"/>
            <a:ext cx="338000" cy="338000"/>
          </a:xfrm>
          <a:prstGeom prst="rect">
            <a:avLst/>
          </a:prstGeom>
        </p:spPr>
      </p:pic>
      <p:sp>
        <p:nvSpPr>
          <p:cNvPr id="9074" name="Su mamá"/>
          <p:cNvSpPr txBox="1"/>
          <p:nvPr/>
        </p:nvSpPr>
        <p:spPr>
          <a:xfrm>
            <a:off x="17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Su mamá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Mercado y farmacia · $150</a:t>
            </a:r>
          </a:p>
        </p:txBody>
      </p:sp>
      <p:sp>
        <p:nvSpPr>
          <p:cNvPr id="9075" name="Tarjeta Su celular"/>
          <p:cNvSpPr/>
          <p:nvPr/>
        </p:nvSpPr>
        <p:spPr>
          <a:xfrm>
            <a:off x="43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76" name="Fondo smartphone"/>
          <p:cNvSpPr/>
          <p:nvPr/>
        </p:nvSpPr>
        <p:spPr>
          <a:xfrm>
            <a:off x="4576000" y="3400000"/>
            <a:ext cx="650000" cy="65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78" name="smartphone" descr="smartphone"/>
          <p:cNvPicPr>
            <a:picLocks noChangeAspect="1"/>
          </p:cNvPicPr>
          <p:nvPr/>
        </p:nvPicPr>
        <p:blipFill>
          <a:blip r:embed="rIdPg77"/>
          <a:stretch>
            <a:fillRect/>
          </a:stretch>
        </p:blipFill>
        <p:spPr>
          <a:xfrm>
            <a:off x="4732000" y="3556000"/>
            <a:ext cx="338000" cy="338000"/>
          </a:xfrm>
          <a:prstGeom prst="rect">
            <a:avLst/>
          </a:prstGeom>
        </p:spPr>
      </p:pic>
      <p:sp>
        <p:nvSpPr>
          <p:cNvPr id="9079" name="Su celular"/>
          <p:cNvSpPr txBox="1"/>
          <p:nvPr/>
        </p:nvSpPr>
        <p:spPr>
          <a:xfrm>
            <a:off x="54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Su celular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Paga sin señal · vale firmado</a:t>
            </a:r>
          </a:p>
        </p:txBody>
      </p:sp>
      <p:sp>
        <p:nvSpPr>
          <p:cNvPr id="9080" name="Tarjeta Un agente"/>
          <p:cNvSpPr/>
          <p:nvPr/>
        </p:nvSpPr>
        <p:spPr>
          <a:xfrm>
            <a:off x="80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81" name="Fondo bot"/>
          <p:cNvSpPr/>
          <p:nvPr/>
        </p:nvSpPr>
        <p:spPr>
          <a:xfrm>
            <a:off x="8276000" y="3400000"/>
            <a:ext cx="650000" cy="65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83" name="bot" descr="bot"/>
          <p:cNvPicPr>
            <a:picLocks noChangeAspect="1"/>
          </p:cNvPicPr>
          <p:nvPr/>
        </p:nvPicPr>
        <p:blipFill>
          <a:blip r:embed="rIdPg82"/>
          <a:stretch>
            <a:fillRect/>
          </a:stretch>
        </p:blipFill>
        <p:spPr>
          <a:xfrm>
            <a:off x="8432000" y="3556000"/>
            <a:ext cx="338000" cy="338000"/>
          </a:xfrm>
          <a:prstGeom prst="rect">
            <a:avLst/>
          </a:prstGeom>
        </p:spPr>
      </p:pic>
      <p:sp>
        <p:nvSpPr>
          <p:cNvPr id="9084" name="Un agente"/>
          <p:cNvSpPr txBox="1"/>
          <p:nvPr/>
        </p:nvSpPr>
        <p:spPr>
          <a:xfrm>
            <a:off x="91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Un agente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Compra por ella, por SMS</a:t>
            </a:r>
          </a:p>
        </p:txBody>
      </p:sp>
      <p:sp>
        <p:nvSpPr>
          <p:cNvPr id="9085" name="El gateway revisa cada pago: tope, categoría y PIN"/>
          <p:cNvSpPr/>
          <p:nvPr/>
        </p:nvSpPr>
        <p:spPr>
          <a:xfrm>
            <a:off x="950000" y="4650000"/>
            <a:ext cx="4850000" cy="720000"/>
          </a:xfrm>
          <a:prstGeom prst="roundRect">
            <a:avLst>
              <a:gd name="adj" fmla="val 50000"/>
            </a:avLst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86" name="Fondo shield-check"/>
          <p:cNvSpPr/>
          <p:nvPr/>
        </p:nvSpPr>
        <p:spPr>
          <a:xfrm>
            <a:off x="1070000" y="4750000"/>
            <a:ext cx="520000" cy="52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88" name="shield-check" descr="shield-check"/>
          <p:cNvPicPr>
            <a:picLocks noChangeAspect="1"/>
          </p:cNvPicPr>
          <p:nvPr/>
        </p:nvPicPr>
        <p:blipFill>
          <a:blip r:embed="rIdPg87"/>
          <a:stretch>
            <a:fillRect/>
          </a:stretch>
        </p:blipFill>
        <p:spPr>
          <a:xfrm>
            <a:off x="1194800" y="4874800"/>
            <a:ext cx="270400" cy="270400"/>
          </a:xfrm>
          <a:prstGeom prst="rect">
            <a:avLst/>
          </a:prstGeom>
        </p:spPr>
      </p:pic>
      <p:sp>
        <p:nvSpPr>
          <p:cNvPr id="9089" name="El gateway revisa cada pago: tope, categoría y PIN texto"/>
          <p:cNvSpPr txBox="1"/>
          <p:nvPr/>
        </p:nvSpPr>
        <p:spPr>
          <a:xfrm>
            <a:off x="1700000" y="4650000"/>
            <a:ext cx="40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50" b="1">
                <a:solidFill>
                  <a:srgbClr val="48156E"/>
                </a:solidFill>
                <a:latin typeface="Poppins"/>
                <a:cs typeface="Poppins"/>
              </a:rPr>
              <a:t>El gateway revisa cada pago: tope, categoría y PIN</a:t>
            </a:r>
          </a:p>
        </p:txBody>
      </p:sp>
      <p:sp>
        <p:nvSpPr>
          <p:cNvPr id="9090" name="El dinero va directo del titular a la tienda"/>
          <p:cNvSpPr/>
          <p:nvPr/>
        </p:nvSpPr>
        <p:spPr>
          <a:xfrm>
            <a:off x="6400000" y="4650000"/>
            <a:ext cx="4850000" cy="720000"/>
          </a:xfrm>
          <a:prstGeom prst="roundRect">
            <a:avLst>
              <a:gd name="adj" fmla="val 50000"/>
            </a:avLst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91" name="Fondo send"/>
          <p:cNvSpPr/>
          <p:nvPr/>
        </p:nvSpPr>
        <p:spPr>
          <a:xfrm>
            <a:off x="6520000" y="4750000"/>
            <a:ext cx="520000" cy="52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93" name="send" descr="send"/>
          <p:cNvPicPr>
            <a:picLocks noChangeAspect="1"/>
          </p:cNvPicPr>
          <p:nvPr/>
        </p:nvPicPr>
        <p:blipFill>
          <a:blip r:embed="rIdPg92"/>
          <a:stretch>
            <a:fillRect/>
          </a:stretch>
        </p:blipFill>
        <p:spPr>
          <a:xfrm>
            <a:off x="6644800" y="4874800"/>
            <a:ext cx="270400" cy="270400"/>
          </a:xfrm>
          <a:prstGeom prst="rect">
            <a:avLst/>
          </a:prstGeom>
        </p:spPr>
      </p:pic>
      <p:sp>
        <p:nvSpPr>
          <p:cNvPr id="9094" name="El dinero va directo del titular a la tienda texto"/>
          <p:cNvSpPr txBox="1"/>
          <p:nvPr/>
        </p:nvSpPr>
        <p:spPr>
          <a:xfrm>
            <a:off x="7150000" y="4650000"/>
            <a:ext cx="40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50" b="1">
                <a:solidFill>
                  <a:srgbClr val="48156E"/>
                </a:solidFill>
                <a:latin typeface="Poppins"/>
                <a:cs typeface="Poppins"/>
              </a:rPr>
              <a:t>El dinero va directo del titular a la tienda</a:t>
            </a:r>
          </a:p>
        </p:txBody>
      </p:sp>
      <p:sp>
        <p:nvSpPr>
          <p:cNvPr id="9095" name="Flecha"/>
          <p:cNvSpPr/>
          <p:nvPr/>
        </p:nvSpPr>
        <p:spPr>
          <a:xfrm>
            <a:off x="5936000" y="4900000"/>
            <a:ext cx="32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9"/>
          <p:cNvSpPr txBox="1"/>
          <p:nvPr>
            <p:ph idx="1" type="body"/>
          </p:nvPr>
        </p:nvSpPr>
        <p:spPr>
          <a:xfrm>
            <a:off x="6505625" y="1814321"/>
            <a:ext cx="4946100" cy="22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MY"/>
              <a:t>DEMO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MY"/>
              <a:t>EN VIVO</a:t>
            </a:r>
            <a:endParaRPr/>
          </a:p>
        </p:txBody>
      </p:sp>
      <p:sp>
        <p:nvSpPr>
          <p:cNvPr id="9222" name="Fondo QR"/>
          <p:cNvSpPr/>
          <p:nvPr/>
        </p:nvSpPr>
        <p:spPr>
          <a:xfrm>
            <a:off x="1860000" y="944000"/>
            <a:ext cx="3740000" cy="37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24" name="QR a paygent.up.railway.app" descr="QR a paygent.up.railway.app"/>
          <p:cNvPicPr>
            <a:picLocks noChangeAspect="1"/>
          </p:cNvPicPr>
          <p:nvPr/>
        </p:nvPicPr>
        <p:blipFill>
          <a:blip r:embed="rIdPg223"/>
          <a:stretch>
            <a:fillRect/>
          </a:stretch>
        </p:blipFill>
        <p:spPr>
          <a:xfrm>
            <a:off x="1970000" y="1054000"/>
            <a:ext cx="3520000" cy="3520000"/>
          </a:xfrm>
          <a:prstGeom prst="rect">
            <a:avLst/>
          </a:prstGeom>
        </p:spPr>
      </p:pic>
      <p:sp>
        <p:nvSpPr>
          <p:cNvPr id="9225" name="Enlaces"/>
          <p:cNvSpPr txBox="1"/>
          <p:nvPr/>
        </p:nvSpPr>
        <p:spPr>
          <a:xfrm>
            <a:off x="6550000" y="3850000"/>
            <a:ext cx="5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FFFFFF"/>
                </a:solidFill>
                <a:latin typeface="Poppins"/>
                <a:cs typeface="Poppins"/>
              </a:rPr>
              <a:t>paygent.up.railway.app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500">
                <a:solidFill>
                  <a:srgbClr val="FFFFFF"/>
                </a:solidFill>
                <a:latin typeface="Poppins"/>
                <a:cs typeface="Poppins"/>
              </a:rPr>
              <a:t>github.com/luisseoanes/paygent</a:t>
            </a: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20"/>
          <p:cNvSpPr txBox="1"/>
          <p:nvPr>
            <p:ph idx="1" type="body"/>
          </p:nvPr>
        </p:nvSpPr>
        <p:spPr>
          <a:xfrm>
            <a:off x="6082625" y="1010298"/>
            <a:ext cx="5329200" cy="3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MY"/>
              <a:t>Un permiso. Muchas manos. Cualquier señal.</a:t>
            </a: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Para quienes el dinero llega, pero pagar no es fácil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QUIÉN ES EL USUARIO</a:t>
            </a:r>
          </a:p>
        </p:txBody>
      </p:sp>
      <p:sp>
        <p:nvSpPr>
          <p:cNvPr id="9045" name="Tarjeta Familias que mandan dinero"/>
          <p:cNvSpPr/>
          <p:nvPr/>
        </p:nvSpPr>
        <p:spPr>
          <a:xfrm>
            <a:off x="90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46" name="Fondo globe"/>
          <p:cNvSpPr/>
          <p:nvPr/>
        </p:nvSpPr>
        <p:spPr>
          <a:xfrm>
            <a:off x="2000000" y="1950000"/>
            <a:ext cx="1100000" cy="11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48" name="globe" descr="globe"/>
          <p:cNvPicPr>
            <a:picLocks noChangeAspect="1"/>
          </p:cNvPicPr>
          <p:nvPr/>
        </p:nvPicPr>
        <p:blipFill>
          <a:blip r:embed="rIdPg47"/>
          <a:stretch>
            <a:fillRect/>
          </a:stretch>
        </p:blipFill>
        <p:spPr>
          <a:xfrm>
            <a:off x="2264000" y="2214000"/>
            <a:ext cx="572000" cy="572000"/>
          </a:xfrm>
          <a:prstGeom prst="rect">
            <a:avLst/>
          </a:prstGeom>
        </p:spPr>
      </p:pic>
      <p:sp>
        <p:nvSpPr>
          <p:cNvPr id="9049" name="Familias que mandan dinero"/>
          <p:cNvSpPr txBox="1"/>
          <p:nvPr/>
        </p:nvSpPr>
        <p:spPr>
          <a:xfrm>
            <a:off x="110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900" b="1">
                <a:solidFill>
                  <a:srgbClr val="48156E"/>
                </a:solidFill>
                <a:latin typeface="Poppins"/>
                <a:cs typeface="Poppins"/>
              </a:rPr>
              <a:t>Familias que mandan dinero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350">
                <a:solidFill>
                  <a:srgbClr val="5A5A66"/>
                </a:solidFill>
                <a:latin typeface="Poppins"/>
                <a:cs typeface="Poppins"/>
              </a:rPr>
              <a:t>Desde el exterior; quieren ayudar sin perder el control</a:t>
            </a:r>
          </a:p>
        </p:txBody>
      </p:sp>
      <p:sp>
        <p:nvSpPr>
          <p:cNvPr id="9050" name="Tarjeta Quien lo recibe en el campo"/>
          <p:cNvSpPr/>
          <p:nvPr/>
        </p:nvSpPr>
        <p:spPr>
          <a:xfrm>
            <a:off x="445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1" name="Fondo map-pin"/>
          <p:cNvSpPr/>
          <p:nvPr/>
        </p:nvSpPr>
        <p:spPr>
          <a:xfrm>
            <a:off x="5550000" y="1950000"/>
            <a:ext cx="1100000" cy="11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53" name="map-pin" descr="map-pin"/>
          <p:cNvPicPr>
            <a:picLocks noChangeAspect="1"/>
          </p:cNvPicPr>
          <p:nvPr/>
        </p:nvPicPr>
        <p:blipFill>
          <a:blip r:embed="rIdPg52"/>
          <a:stretch>
            <a:fillRect/>
          </a:stretch>
        </p:blipFill>
        <p:spPr>
          <a:xfrm>
            <a:off x="5814000" y="2214000"/>
            <a:ext cx="572000" cy="572000"/>
          </a:xfrm>
          <a:prstGeom prst="rect">
            <a:avLst/>
          </a:prstGeom>
        </p:spPr>
      </p:pic>
      <p:sp>
        <p:nvSpPr>
          <p:cNvPr id="9054" name="Quien lo recibe en el campo"/>
          <p:cNvSpPr txBox="1"/>
          <p:nvPr/>
        </p:nvSpPr>
        <p:spPr>
          <a:xfrm>
            <a:off x="465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900" b="1">
                <a:solidFill>
                  <a:srgbClr val="48156E"/>
                </a:solidFill>
                <a:latin typeface="Poppins"/>
                <a:cs typeface="Poppins"/>
              </a:rPr>
              <a:t>Quien lo recibe en el campo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350">
                <a:solidFill>
                  <a:srgbClr val="5A5A66"/>
                </a:solidFill>
                <a:latin typeface="Poppins"/>
                <a:cs typeface="Poppins"/>
              </a:rPr>
              <a:t>Con señal a ratos, celular de teclas o sin wallet propia</a:t>
            </a:r>
          </a:p>
        </p:txBody>
      </p:sp>
      <p:sp>
        <p:nvSpPr>
          <p:cNvPr id="9055" name="Tarjeta El tendero del pueblo"/>
          <p:cNvSpPr/>
          <p:nvPr/>
        </p:nvSpPr>
        <p:spPr>
          <a:xfrm>
            <a:off x="800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6" name="Fondo store"/>
          <p:cNvSpPr/>
          <p:nvPr/>
        </p:nvSpPr>
        <p:spPr>
          <a:xfrm>
            <a:off x="9100000" y="1950000"/>
            <a:ext cx="1100000" cy="110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58" name="store" descr="store"/>
          <p:cNvPicPr>
            <a:picLocks noChangeAspect="1"/>
          </p:cNvPicPr>
          <p:nvPr/>
        </p:nvPicPr>
        <p:blipFill>
          <a:blip r:embed="rIdPg57"/>
          <a:stretch>
            <a:fillRect/>
          </a:stretch>
        </p:blipFill>
        <p:spPr>
          <a:xfrm>
            <a:off x="9364000" y="2214000"/>
            <a:ext cx="572000" cy="572000"/>
          </a:xfrm>
          <a:prstGeom prst="rect">
            <a:avLst/>
          </a:prstGeom>
        </p:spPr>
      </p:pic>
      <p:sp>
        <p:nvSpPr>
          <p:cNvPr id="9059" name="El tendero del pueblo"/>
          <p:cNvSpPr txBox="1"/>
          <p:nvPr/>
        </p:nvSpPr>
        <p:spPr>
          <a:xfrm>
            <a:off x="820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900" b="1">
                <a:solidFill>
                  <a:srgbClr val="48156E"/>
                </a:solidFill>
                <a:latin typeface="Poppins"/>
                <a:cs typeface="Poppins"/>
              </a:rPr>
              <a:t>El tendero del pueblo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350">
                <a:solidFill>
                  <a:srgbClr val="5A5A66"/>
                </a:solidFill>
                <a:latin typeface="Poppins"/>
                <a:cs typeface="Poppins"/>
              </a:rPr>
              <a:t>Cobra con o sin señal; sin wallet, por Puntored a su llave Bre-B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La vida de un pago, de la firma a la libreta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FLUJO DE PAGOS</a:t>
            </a:r>
          </a:p>
        </p:txBody>
      </p:sp>
      <p:pic>
        <p:nvPicPr>
          <p:cNvPr id="9097" name="Diagrama: la vida de un pago" descr="Diagrama: la vida de un pago"/>
          <p:cNvPicPr>
            <a:picLocks noChangeAspect="1"/>
          </p:cNvPicPr>
          <p:nvPr/>
        </p:nvPicPr>
        <p:blipFill>
          <a:blip r:embed="rIdPg96"/>
          <a:stretch>
            <a:fillRect/>
          </a:stretch>
        </p:blipFill>
        <p:spPr>
          <a:xfrm>
            <a:off x="400000" y="1550629"/>
            <a:ext cx="11392000" cy="4348742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María paga con QR y la tienda cobra al instante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FLUJO DE PAGO · CON DATOS</a:t>
            </a:r>
          </a:p>
        </p:txBody>
      </p:sp>
      <p:sp>
        <p:nvSpPr>
          <p:cNvPr id="9098" name="Marco CON DATOS"/>
          <p:cNvSpPr/>
          <p:nvPr/>
        </p:nvSpPr>
        <p:spPr>
          <a:xfrm>
            <a:off x="848069" y="1480000"/>
            <a:ext cx="2103862" cy="4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0" name="CON DATOS" descr="CON DATOS"/>
          <p:cNvPicPr>
            <a:picLocks noChangeAspect="1"/>
          </p:cNvPicPr>
          <p:nvPr/>
        </p:nvPicPr>
        <p:blipFill>
          <a:blip r:embed="rIdPg99"/>
          <a:stretch>
            <a:fillRect/>
          </a:stretch>
        </p:blipFill>
        <p:spPr>
          <a:xfrm>
            <a:off x="918069" y="1550000"/>
            <a:ext cx="1963862" cy="4250000"/>
          </a:xfrm>
          <a:prstGeom prst="rect">
            <a:avLst/>
          </a:prstGeom>
        </p:spPr>
      </p:pic>
      <p:sp>
        <p:nvSpPr>
          <p:cNvPr id="9101" name="Línea"/>
          <p:cNvSpPr/>
          <p:nvPr/>
        </p:nvSpPr>
        <p:spPr>
          <a:xfrm>
            <a:off x="4170000" y="1800000"/>
            <a:ext cx="40000" cy="352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02" name="Fondo smartphone"/>
          <p:cNvSpPr/>
          <p:nvPr/>
        </p:nvSpPr>
        <p:spPr>
          <a:xfrm>
            <a:off x="3900000" y="1510000"/>
            <a:ext cx="580000" cy="5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4" name="smartphone" descr="smartphone"/>
          <p:cNvPicPr>
            <a:picLocks noChangeAspect="1"/>
          </p:cNvPicPr>
          <p:nvPr/>
        </p:nvPicPr>
        <p:blipFill>
          <a:blip r:embed="rIdPg103"/>
          <a:stretch>
            <a:fillRect/>
          </a:stretch>
        </p:blipFill>
        <p:spPr>
          <a:xfrm>
            <a:off x="4039200" y="1649200"/>
            <a:ext cx="301600" cy="301600"/>
          </a:xfrm>
          <a:prstGeom prst="rect">
            <a:avLst/>
          </a:prstGeom>
        </p:spPr>
      </p:pic>
      <p:sp>
        <p:nvSpPr>
          <p:cNvPr id="9105" name="Paso 1"/>
          <p:cNvSpPr txBox="1"/>
          <p:nvPr/>
        </p:nvSpPr>
        <p:spPr>
          <a:xfrm>
            <a:off x="4370000" y="153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1</a:t>
            </a:r>
          </a:p>
        </p:txBody>
      </p:sp>
      <p:sp>
        <p:nvSpPr>
          <p:cNvPr id="9106" name="Toca Pagar"/>
          <p:cNvSpPr txBox="1"/>
          <p:nvPr/>
        </p:nvSpPr>
        <p:spPr>
          <a:xfrm>
            <a:off x="4680000" y="152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Toca Pagar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Elige la tienda y el monto en su celular</a:t>
            </a:r>
          </a:p>
        </p:txBody>
      </p:sp>
      <p:sp>
        <p:nvSpPr>
          <p:cNvPr id="9107" name="Fondo qr-code"/>
          <p:cNvSpPr/>
          <p:nvPr/>
        </p:nvSpPr>
        <p:spPr>
          <a:xfrm>
            <a:off x="3900000" y="2390000"/>
            <a:ext cx="580000" cy="5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9" name="qr-code" descr="qr-code"/>
          <p:cNvPicPr>
            <a:picLocks noChangeAspect="1"/>
          </p:cNvPicPr>
          <p:nvPr/>
        </p:nvPicPr>
        <p:blipFill>
          <a:blip r:embed="rIdPg108"/>
          <a:stretch>
            <a:fillRect/>
          </a:stretch>
        </p:blipFill>
        <p:spPr>
          <a:xfrm>
            <a:off x="4039200" y="2529200"/>
            <a:ext cx="301600" cy="301600"/>
          </a:xfrm>
          <a:prstGeom prst="rect">
            <a:avLst/>
          </a:prstGeom>
        </p:spPr>
      </p:pic>
      <p:sp>
        <p:nvSpPr>
          <p:cNvPr id="9110" name="Paso 2"/>
          <p:cNvSpPr txBox="1"/>
          <p:nvPr/>
        </p:nvSpPr>
        <p:spPr>
          <a:xfrm>
            <a:off x="4370000" y="241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9111" name="Muestra el vale QR"/>
          <p:cNvSpPr txBox="1"/>
          <p:nvPr/>
        </p:nvSpPr>
        <p:spPr>
          <a:xfrm>
            <a:off x="4680000" y="240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Muestra el vale QR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El tendero lo escanea</a:t>
            </a:r>
          </a:p>
        </p:txBody>
      </p:sp>
      <p:sp>
        <p:nvSpPr>
          <p:cNvPr id="9112" name="Fondo shield-check"/>
          <p:cNvSpPr/>
          <p:nvPr/>
        </p:nvSpPr>
        <p:spPr>
          <a:xfrm>
            <a:off x="3900000" y="3270000"/>
            <a:ext cx="580000" cy="5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14" name="shield-check" descr="shield-check"/>
          <p:cNvPicPr>
            <a:picLocks noChangeAspect="1"/>
          </p:cNvPicPr>
          <p:nvPr/>
        </p:nvPicPr>
        <p:blipFill>
          <a:blip r:embed="rIdPg113"/>
          <a:stretch>
            <a:fillRect/>
          </a:stretch>
        </p:blipFill>
        <p:spPr>
          <a:xfrm>
            <a:off x="4039200" y="3409200"/>
            <a:ext cx="301600" cy="301600"/>
          </a:xfrm>
          <a:prstGeom prst="rect">
            <a:avLst/>
          </a:prstGeom>
        </p:spPr>
      </p:pic>
      <p:sp>
        <p:nvSpPr>
          <p:cNvPr id="9115" name="Paso 3"/>
          <p:cNvSpPr txBox="1"/>
          <p:nvPr/>
        </p:nvSpPr>
        <p:spPr>
          <a:xfrm>
            <a:off x="4370000" y="329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9116" name="El gateway decide"/>
          <p:cNvSpPr txBox="1"/>
          <p:nvPr/>
        </p:nvSpPr>
        <p:spPr>
          <a:xfrm>
            <a:off x="4680000" y="328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El gateway decide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Rama vigente, categoría y tope del mes</a:t>
            </a:r>
          </a:p>
        </p:txBody>
      </p:sp>
      <p:sp>
        <p:nvSpPr>
          <p:cNvPr id="9117" name="Fondo send"/>
          <p:cNvSpPr/>
          <p:nvPr/>
        </p:nvSpPr>
        <p:spPr>
          <a:xfrm>
            <a:off x="3900000" y="4150000"/>
            <a:ext cx="580000" cy="58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19" name="send" descr="send"/>
          <p:cNvPicPr>
            <a:picLocks noChangeAspect="1"/>
          </p:cNvPicPr>
          <p:nvPr/>
        </p:nvPicPr>
        <p:blipFill>
          <a:blip r:embed="rIdPg118"/>
          <a:stretch>
            <a:fillRect/>
          </a:stretch>
        </p:blipFill>
        <p:spPr>
          <a:xfrm>
            <a:off x="4039200" y="4289200"/>
            <a:ext cx="301600" cy="301600"/>
          </a:xfrm>
          <a:prstGeom prst="rect">
            <a:avLst/>
          </a:prstGeom>
        </p:spPr>
      </p:pic>
      <p:sp>
        <p:nvSpPr>
          <p:cNvPr id="9120" name="Paso 4"/>
          <p:cNvSpPr txBox="1"/>
          <p:nvPr/>
        </p:nvSpPr>
        <p:spPr>
          <a:xfrm>
            <a:off x="4370000" y="417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4</a:t>
            </a:r>
          </a:p>
        </p:txBody>
      </p:sp>
      <p:sp>
        <p:nvSpPr>
          <p:cNvPr id="9121" name="Open Payments paga"/>
          <p:cNvSpPr txBox="1"/>
          <p:nvPr/>
        </p:nvSpPr>
        <p:spPr>
          <a:xfrm>
            <a:off x="4680000" y="416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Open Payments paga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Incoming en la tienda → quote → outgoing desde la wallet de Juan</a:t>
            </a:r>
          </a:p>
        </p:txBody>
      </p:sp>
      <p:sp>
        <p:nvSpPr>
          <p:cNvPr id="9122" name="Fondo notebook-pen"/>
          <p:cNvSpPr/>
          <p:nvPr/>
        </p:nvSpPr>
        <p:spPr>
          <a:xfrm>
            <a:off x="3900000" y="5030000"/>
            <a:ext cx="580000" cy="58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24" name="notebook-pen" descr="notebook-pen"/>
          <p:cNvPicPr>
            <a:picLocks noChangeAspect="1"/>
          </p:cNvPicPr>
          <p:nvPr/>
        </p:nvPicPr>
        <p:blipFill>
          <a:blip r:embed="rIdPg123"/>
          <a:stretch>
            <a:fillRect/>
          </a:stretch>
        </p:blipFill>
        <p:spPr>
          <a:xfrm>
            <a:off x="4039200" y="5169200"/>
            <a:ext cx="301600" cy="301600"/>
          </a:xfrm>
          <a:prstGeom prst="rect">
            <a:avLst/>
          </a:prstGeom>
        </p:spPr>
      </p:pic>
      <p:sp>
        <p:nvSpPr>
          <p:cNvPr id="9125" name="Paso 5"/>
          <p:cNvSpPr txBox="1"/>
          <p:nvPr/>
        </p:nvSpPr>
        <p:spPr>
          <a:xfrm>
            <a:off x="4370000" y="505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5</a:t>
            </a:r>
          </a:p>
        </p:txBody>
      </p:sp>
      <p:sp>
        <p:nvSpPr>
          <p:cNvPr id="9126" name="Queda en la libreta"/>
          <p:cNvSpPr txBox="1"/>
          <p:nvPr/>
        </p:nvSpPr>
        <p:spPr>
          <a:xfrm>
            <a:off x="4680000" y="504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Queda en la libreta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Juan lo ve en vivo, con su porqué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Un vale firmado se verifica offline y se cobra después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FLUJO DE PAGO · SIN SEÑAL</a:t>
            </a:r>
          </a:p>
        </p:txBody>
      </p:sp>
      <p:sp>
        <p:nvSpPr>
          <p:cNvPr id="9127" name="Marco SIN SEÑAL"/>
          <p:cNvSpPr/>
          <p:nvPr/>
        </p:nvSpPr>
        <p:spPr>
          <a:xfrm>
            <a:off x="848069" y="1480000"/>
            <a:ext cx="2103862" cy="4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29" name="SIN SEÑAL" descr="SIN SEÑAL"/>
          <p:cNvPicPr>
            <a:picLocks noChangeAspect="1"/>
          </p:cNvPicPr>
          <p:nvPr/>
        </p:nvPicPr>
        <p:blipFill>
          <a:blip r:embed="rIdPg128"/>
          <a:stretch>
            <a:fillRect/>
          </a:stretch>
        </p:blipFill>
        <p:spPr>
          <a:xfrm>
            <a:off x="918069" y="1550000"/>
            <a:ext cx="1963862" cy="4250000"/>
          </a:xfrm>
          <a:prstGeom prst="rect">
            <a:avLst/>
          </a:prstGeom>
        </p:spPr>
      </p:pic>
      <p:sp>
        <p:nvSpPr>
          <p:cNvPr id="9130" name="Línea"/>
          <p:cNvSpPr/>
          <p:nvPr/>
        </p:nvSpPr>
        <p:spPr>
          <a:xfrm>
            <a:off x="4170000" y="1800000"/>
            <a:ext cx="40000" cy="352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31" name="Fondo key-round"/>
          <p:cNvSpPr/>
          <p:nvPr/>
        </p:nvSpPr>
        <p:spPr>
          <a:xfrm>
            <a:off x="3900000" y="1510000"/>
            <a:ext cx="580000" cy="5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33" name="key-round" descr="key-round"/>
          <p:cNvPicPr>
            <a:picLocks noChangeAspect="1"/>
          </p:cNvPicPr>
          <p:nvPr/>
        </p:nvPicPr>
        <p:blipFill>
          <a:blip r:embed="rIdPg132"/>
          <a:stretch>
            <a:fillRect/>
          </a:stretch>
        </p:blipFill>
        <p:spPr>
          <a:xfrm>
            <a:off x="4039200" y="1649200"/>
            <a:ext cx="301600" cy="301600"/>
          </a:xfrm>
          <a:prstGeom prst="rect">
            <a:avLst/>
          </a:prstGeom>
        </p:spPr>
      </p:pic>
      <p:sp>
        <p:nvSpPr>
          <p:cNvPr id="9134" name="Paso 1"/>
          <p:cNvSpPr txBox="1"/>
          <p:nvPr/>
        </p:nvSpPr>
        <p:spPr>
          <a:xfrm>
            <a:off x="4370000" y="153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1</a:t>
            </a:r>
          </a:p>
        </p:txBody>
      </p:sp>
      <p:sp>
        <p:nvSpPr>
          <p:cNvPr id="9135" name="Con señal, una sola vez"/>
          <p:cNvSpPr txBox="1"/>
          <p:nvPr/>
        </p:nvSpPr>
        <p:spPr>
          <a:xfrm>
            <a:off x="4680000" y="152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Con señal, una sola vez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El celular recibe un certificado del gateway con su tope sin señal</a:t>
            </a:r>
          </a:p>
        </p:txBody>
      </p:sp>
      <p:sp>
        <p:nvSpPr>
          <p:cNvPr id="9136" name="Fondo wifi-off"/>
          <p:cNvSpPr/>
          <p:nvPr/>
        </p:nvSpPr>
        <p:spPr>
          <a:xfrm>
            <a:off x="3900000" y="2390000"/>
            <a:ext cx="580000" cy="5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38" name="wifi-off" descr="wifi-off"/>
          <p:cNvPicPr>
            <a:picLocks noChangeAspect="1"/>
          </p:cNvPicPr>
          <p:nvPr/>
        </p:nvPicPr>
        <p:blipFill>
          <a:blip r:embed="rIdPg137"/>
          <a:stretch>
            <a:fillRect/>
          </a:stretch>
        </p:blipFill>
        <p:spPr>
          <a:xfrm>
            <a:off x="4039200" y="2529200"/>
            <a:ext cx="301600" cy="301600"/>
          </a:xfrm>
          <a:prstGeom prst="rect">
            <a:avLst/>
          </a:prstGeom>
        </p:spPr>
      </p:pic>
      <p:sp>
        <p:nvSpPr>
          <p:cNvPr id="9139" name="Paso 2"/>
          <p:cNvSpPr txBox="1"/>
          <p:nvPr/>
        </p:nvSpPr>
        <p:spPr>
          <a:xfrm>
            <a:off x="4370000" y="241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9140" name="Firma un vale sin internet"/>
          <p:cNvSpPr txBox="1"/>
          <p:nvPr/>
        </p:nvSpPr>
        <p:spPr>
          <a:xfrm>
            <a:off x="4680000" y="240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Firma un vale sin internet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Monto, tienda, contador y acumulado, firmados con ed25519</a:t>
            </a:r>
          </a:p>
        </p:txBody>
      </p:sp>
      <p:sp>
        <p:nvSpPr>
          <p:cNvPr id="9141" name="Fondo scan-line"/>
          <p:cNvSpPr/>
          <p:nvPr/>
        </p:nvSpPr>
        <p:spPr>
          <a:xfrm>
            <a:off x="3900000" y="3270000"/>
            <a:ext cx="580000" cy="58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43" name="scan-line" descr="scan-line"/>
          <p:cNvPicPr>
            <a:picLocks noChangeAspect="1"/>
          </p:cNvPicPr>
          <p:nvPr/>
        </p:nvPicPr>
        <p:blipFill>
          <a:blip r:embed="rIdPg142"/>
          <a:stretch>
            <a:fillRect/>
          </a:stretch>
        </p:blipFill>
        <p:spPr>
          <a:xfrm>
            <a:off x="4039200" y="3409200"/>
            <a:ext cx="301600" cy="301600"/>
          </a:xfrm>
          <a:prstGeom prst="rect">
            <a:avLst/>
          </a:prstGeom>
        </p:spPr>
      </p:pic>
      <p:sp>
        <p:nvSpPr>
          <p:cNvPr id="9144" name="Paso 3"/>
          <p:cNvSpPr txBox="1"/>
          <p:nvPr/>
        </p:nvSpPr>
        <p:spPr>
          <a:xfrm>
            <a:off x="4370000" y="329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9145" name="El tendero lo verifica offline"/>
          <p:cNvSpPr txBox="1"/>
          <p:nvPr/>
        </p:nvSpPr>
        <p:spPr>
          <a:xfrm>
            <a:off x="4680000" y="328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El tendero lo verifica offline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Firma, certificado y tope: no necesita internet</a:t>
            </a:r>
          </a:p>
        </p:txBody>
      </p:sp>
      <p:sp>
        <p:nvSpPr>
          <p:cNvPr id="9146" name="Fondo refresh-cw"/>
          <p:cNvSpPr/>
          <p:nvPr/>
        </p:nvSpPr>
        <p:spPr>
          <a:xfrm>
            <a:off x="3900000" y="4150000"/>
            <a:ext cx="580000" cy="5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48" name="refresh-cw" descr="refresh-cw"/>
          <p:cNvPicPr>
            <a:picLocks noChangeAspect="1"/>
          </p:cNvPicPr>
          <p:nvPr/>
        </p:nvPicPr>
        <p:blipFill>
          <a:blip r:embed="rIdPg147"/>
          <a:stretch>
            <a:fillRect/>
          </a:stretch>
        </p:blipFill>
        <p:spPr>
          <a:xfrm>
            <a:off x="4039200" y="4289200"/>
            <a:ext cx="301600" cy="301600"/>
          </a:xfrm>
          <a:prstGeom prst="rect">
            <a:avLst/>
          </a:prstGeom>
        </p:spPr>
      </p:pic>
      <p:sp>
        <p:nvSpPr>
          <p:cNvPr id="9149" name="Paso 4"/>
          <p:cNvSpPr txBox="1"/>
          <p:nvPr/>
        </p:nvSpPr>
        <p:spPr>
          <a:xfrm>
            <a:off x="4370000" y="417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4</a:t>
            </a:r>
          </a:p>
        </p:txBody>
      </p:sp>
      <p:sp>
        <p:nvSpPr>
          <p:cNvPr id="9150" name="Vuelve la señal"/>
          <p:cNvSpPr txBox="1"/>
          <p:nvPr/>
        </p:nvSpPr>
        <p:spPr>
          <a:xfrm>
            <a:off x="4680000" y="416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Vuelve la señal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El gateway revisa contador y acumulado; el Guardián, el lote</a:t>
            </a:r>
          </a:p>
        </p:txBody>
      </p:sp>
      <p:sp>
        <p:nvSpPr>
          <p:cNvPr id="9151" name="Fondo send"/>
          <p:cNvSpPr/>
          <p:nvPr/>
        </p:nvSpPr>
        <p:spPr>
          <a:xfrm>
            <a:off x="3900000" y="5030000"/>
            <a:ext cx="580000" cy="58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53" name="send" descr="send"/>
          <p:cNvPicPr>
            <a:picLocks noChangeAspect="1"/>
          </p:cNvPicPr>
          <p:nvPr/>
        </p:nvPicPr>
        <p:blipFill>
          <a:blip r:embed="rIdPg152"/>
          <a:stretch>
            <a:fillRect/>
          </a:stretch>
        </p:blipFill>
        <p:spPr>
          <a:xfrm>
            <a:off x="4039200" y="5169200"/>
            <a:ext cx="301600" cy="301600"/>
          </a:xfrm>
          <a:prstGeom prst="rect">
            <a:avLst/>
          </a:prstGeom>
        </p:spPr>
      </p:pic>
      <p:sp>
        <p:nvSpPr>
          <p:cNvPr id="9154" name="Paso 5"/>
          <p:cNvSpPr txBox="1"/>
          <p:nvPr/>
        </p:nvSpPr>
        <p:spPr>
          <a:xfrm>
            <a:off x="4370000" y="505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5</a:t>
            </a:r>
          </a:p>
        </p:txBody>
      </p:sp>
      <p:sp>
        <p:nvSpPr>
          <p:cNvPr id="9155" name="Se cobra de verdad"/>
          <p:cNvSpPr txBox="1"/>
          <p:nvPr/>
        </p:nvSpPr>
        <p:spPr>
          <a:xfrm>
            <a:off x="4680000" y="504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Se cobra de verdad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Outgoing a la tienda; un vale repetido congela el celular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Sin smartphone: el agente compra y el gateway decide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FLUJO DE PAGO · POR SMS, CON UN AGENTE</a:t>
            </a:r>
          </a:p>
        </p:txBody>
      </p:sp>
      <p:sp>
        <p:nvSpPr>
          <p:cNvPr id="9156" name="Marco POR SMS, CON UN AGENTE"/>
          <p:cNvSpPr/>
          <p:nvPr/>
        </p:nvSpPr>
        <p:spPr>
          <a:xfrm>
            <a:off x="848069" y="1480000"/>
            <a:ext cx="2103862" cy="4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58" name="POR SMS, CON UN AGENTE" descr="POR SMS, CON UN AGENTE"/>
          <p:cNvPicPr>
            <a:picLocks noChangeAspect="1"/>
          </p:cNvPicPr>
          <p:nvPr/>
        </p:nvPicPr>
        <p:blipFill>
          <a:blip r:embed="rIdPg157"/>
          <a:stretch>
            <a:fillRect/>
          </a:stretch>
        </p:blipFill>
        <p:spPr>
          <a:xfrm>
            <a:off x="918069" y="1550000"/>
            <a:ext cx="1963862" cy="4250000"/>
          </a:xfrm>
          <a:prstGeom prst="rect">
            <a:avLst/>
          </a:prstGeom>
        </p:spPr>
      </p:pic>
      <p:sp>
        <p:nvSpPr>
          <p:cNvPr id="9159" name="Línea"/>
          <p:cNvSpPr/>
          <p:nvPr/>
        </p:nvSpPr>
        <p:spPr>
          <a:xfrm>
            <a:off x="4170000" y="1800000"/>
            <a:ext cx="40000" cy="352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60" name="Fondo message-square-text"/>
          <p:cNvSpPr/>
          <p:nvPr/>
        </p:nvSpPr>
        <p:spPr>
          <a:xfrm>
            <a:off x="3900000" y="1510000"/>
            <a:ext cx="580000" cy="5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62" name="message-square-text" descr="message-square-text"/>
          <p:cNvPicPr>
            <a:picLocks noChangeAspect="1"/>
          </p:cNvPicPr>
          <p:nvPr/>
        </p:nvPicPr>
        <p:blipFill>
          <a:blip r:embed="rIdPg161"/>
          <a:stretch>
            <a:fillRect/>
          </a:stretch>
        </p:blipFill>
        <p:spPr>
          <a:xfrm>
            <a:off x="4039200" y="1649200"/>
            <a:ext cx="301600" cy="301600"/>
          </a:xfrm>
          <a:prstGeom prst="rect">
            <a:avLst/>
          </a:prstGeom>
        </p:spPr>
      </p:pic>
      <p:sp>
        <p:nvSpPr>
          <p:cNvPr id="9163" name="Paso 1"/>
          <p:cNvSpPr txBox="1"/>
          <p:nvPr/>
        </p:nvSpPr>
        <p:spPr>
          <a:xfrm>
            <a:off x="4370000" y="153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1</a:t>
            </a:r>
          </a:p>
        </p:txBody>
      </p:sp>
      <p:sp>
        <p:nvSpPr>
          <p:cNvPr id="9164" name="Escribe por SMS"/>
          <p:cNvSpPr txBox="1"/>
          <p:nvPr/>
        </p:nvSpPr>
        <p:spPr>
          <a:xfrm>
            <a:off x="4680000" y="152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Escribe por SMS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"necesito la pastilla de la presión", desde un celular de teclas</a:t>
            </a:r>
          </a:p>
        </p:txBody>
      </p:sp>
      <p:sp>
        <p:nvSpPr>
          <p:cNvPr id="9165" name="Fondo bot"/>
          <p:cNvSpPr/>
          <p:nvPr/>
        </p:nvSpPr>
        <p:spPr>
          <a:xfrm>
            <a:off x="3900000" y="2390000"/>
            <a:ext cx="580000" cy="58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67" name="bot" descr="bot"/>
          <p:cNvPicPr>
            <a:picLocks noChangeAspect="1"/>
          </p:cNvPicPr>
          <p:nvPr/>
        </p:nvPicPr>
        <p:blipFill>
          <a:blip r:embed="rIdPg166"/>
          <a:stretch>
            <a:fillRect/>
          </a:stretch>
        </p:blipFill>
        <p:spPr>
          <a:xfrm>
            <a:off x="4039200" y="2529200"/>
            <a:ext cx="301600" cy="301600"/>
          </a:xfrm>
          <a:prstGeom prst="rect">
            <a:avLst/>
          </a:prstGeom>
        </p:spPr>
      </p:pic>
      <p:sp>
        <p:nvSpPr>
          <p:cNvPr id="9168" name="Paso 2"/>
          <p:cNvSpPr txBox="1"/>
          <p:nvPr/>
        </p:nvSpPr>
        <p:spPr>
          <a:xfrm>
            <a:off x="4370000" y="241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9169" name="El Asistente busca"/>
          <p:cNvSpPr txBox="1"/>
          <p:nvPr/>
        </p:nvSpPr>
        <p:spPr>
          <a:xfrm>
            <a:off x="4680000" y="240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El Asistente busca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Le paga $0,01 al Inventario (agente a agente) y halla la farmacia</a:t>
            </a:r>
          </a:p>
        </p:txBody>
      </p:sp>
      <p:sp>
        <p:nvSpPr>
          <p:cNvPr id="9170" name="Fondo lock-keyhole"/>
          <p:cNvSpPr/>
          <p:nvPr/>
        </p:nvSpPr>
        <p:spPr>
          <a:xfrm>
            <a:off x="3900000" y="3270000"/>
            <a:ext cx="580000" cy="58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72" name="lock-keyhole" descr="lock-keyhole"/>
          <p:cNvPicPr>
            <a:picLocks noChangeAspect="1"/>
          </p:cNvPicPr>
          <p:nvPr/>
        </p:nvPicPr>
        <p:blipFill>
          <a:blip r:embed="rIdPg171"/>
          <a:stretch>
            <a:fillRect/>
          </a:stretch>
        </p:blipFill>
        <p:spPr>
          <a:xfrm>
            <a:off x="4039200" y="3409200"/>
            <a:ext cx="301600" cy="301600"/>
          </a:xfrm>
          <a:prstGeom prst="rect">
            <a:avLst/>
          </a:prstGeom>
        </p:spPr>
      </p:pic>
      <p:sp>
        <p:nvSpPr>
          <p:cNvPr id="9173" name="Paso 3"/>
          <p:cNvSpPr txBox="1"/>
          <p:nvPr/>
        </p:nvSpPr>
        <p:spPr>
          <a:xfrm>
            <a:off x="4370000" y="329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9174" name="Pide su PIN"/>
          <p:cNvSpPr txBox="1"/>
          <p:nvPr/>
        </p:nvSpPr>
        <p:spPr>
          <a:xfrm>
            <a:off x="4680000" y="328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Pide su PIN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Se intercepta antes del modelo: nunca llega al LLM</a:t>
            </a:r>
          </a:p>
        </p:txBody>
      </p:sp>
      <p:sp>
        <p:nvSpPr>
          <p:cNvPr id="9175" name="Fondo shield-check"/>
          <p:cNvSpPr/>
          <p:nvPr/>
        </p:nvSpPr>
        <p:spPr>
          <a:xfrm>
            <a:off x="3900000" y="4150000"/>
            <a:ext cx="580000" cy="5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77" name="shield-check" descr="shield-check"/>
          <p:cNvPicPr>
            <a:picLocks noChangeAspect="1"/>
          </p:cNvPicPr>
          <p:nvPr/>
        </p:nvPicPr>
        <p:blipFill>
          <a:blip r:embed="rIdPg176"/>
          <a:stretch>
            <a:fillRect/>
          </a:stretch>
        </p:blipFill>
        <p:spPr>
          <a:xfrm>
            <a:off x="4039200" y="4289200"/>
            <a:ext cx="301600" cy="301600"/>
          </a:xfrm>
          <a:prstGeom prst="rect">
            <a:avLst/>
          </a:prstGeom>
        </p:spPr>
      </p:pic>
      <p:sp>
        <p:nvSpPr>
          <p:cNvPr id="9178" name="Paso 4"/>
          <p:cNvSpPr txBox="1"/>
          <p:nvPr/>
        </p:nvSpPr>
        <p:spPr>
          <a:xfrm>
            <a:off x="4370000" y="417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4</a:t>
            </a:r>
          </a:p>
        </p:txBody>
      </p:sp>
      <p:sp>
        <p:nvSpPr>
          <p:cNvPr id="9179" name="El gateway decide"/>
          <p:cNvSpPr txBox="1"/>
          <p:nvPr/>
        </p:nvSpPr>
        <p:spPr>
          <a:xfrm>
            <a:off x="4680000" y="416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El gateway decide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Tope de la rama del agente, categoría y PIN</a:t>
            </a:r>
          </a:p>
        </p:txBody>
      </p:sp>
      <p:sp>
        <p:nvSpPr>
          <p:cNvPr id="9180" name="Fondo send"/>
          <p:cNvSpPr/>
          <p:nvPr/>
        </p:nvSpPr>
        <p:spPr>
          <a:xfrm>
            <a:off x="3900000" y="5030000"/>
            <a:ext cx="580000" cy="58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82" name="send" descr="send"/>
          <p:cNvPicPr>
            <a:picLocks noChangeAspect="1"/>
          </p:cNvPicPr>
          <p:nvPr/>
        </p:nvPicPr>
        <p:blipFill>
          <a:blip r:embed="rIdPg181"/>
          <a:stretch>
            <a:fillRect/>
          </a:stretch>
        </p:blipFill>
        <p:spPr>
          <a:xfrm>
            <a:off x="4039200" y="5169200"/>
            <a:ext cx="301600" cy="301600"/>
          </a:xfrm>
          <a:prstGeom prst="rect">
            <a:avLst/>
          </a:prstGeom>
        </p:spPr>
      </p:pic>
      <p:sp>
        <p:nvSpPr>
          <p:cNvPr id="9183" name="Paso 5"/>
          <p:cNvSpPr txBox="1"/>
          <p:nvPr/>
        </p:nvSpPr>
        <p:spPr>
          <a:xfrm>
            <a:off x="4370000" y="5050000"/>
            <a:ext cx="240000" cy="240000"/>
          </a:xfrm>
          <a:prstGeom prst="ellipse">
            <a:avLst/>
          </a:prstGeom>
          <a:solidFill>
            <a:srgbClr val="48156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000" b="1">
                <a:solidFill>
                  <a:srgbClr val="FFFFFF"/>
                </a:solidFill>
                <a:latin typeface="Poppins"/>
                <a:cs typeface="Poppins"/>
              </a:rPr>
              <a:t>5</a:t>
            </a:r>
          </a:p>
        </p:txBody>
      </p:sp>
      <p:sp>
        <p:nvSpPr>
          <p:cNvPr id="9184" name="Pago real y código por SMS"/>
          <p:cNvSpPr txBox="1"/>
          <p:nvPr/>
        </p:nvSpPr>
        <p:spPr>
          <a:xfrm>
            <a:off x="4680000" y="5040000"/>
            <a:ext cx="70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Pago real y código por SMS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Outgoing a la farmacia; le llega su código de retiro</a:t>
            </a: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Un permiso una vez; después, cada pago es real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CÓMO USAMOS OPEN PAYMENTS</a:t>
            </a:r>
          </a:p>
        </p:txBody>
      </p:sp>
      <p:sp>
        <p:nvSpPr>
          <p:cNvPr id="9185" name="UNA VEZ"/>
          <p:cNvSpPr txBox="1"/>
          <p:nvPr/>
        </p:nvSpPr>
        <p:spPr>
          <a:xfrm>
            <a:off x="450000" y="1780000"/>
            <a:ext cx="1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00" b="1">
                <a:solidFill>
                  <a:srgbClr val="48156E"/>
                </a:solidFill>
                <a:latin typeface="Poppins"/>
                <a:cs typeface="Poppins"/>
              </a:rPr>
              <a:t>UNA VEZ</a:t>
            </a:r>
          </a:p>
        </p:txBody>
      </p:sp>
      <p:sp>
        <p:nvSpPr>
          <p:cNvPr id="9186" name="Fondo file-key"/>
          <p:cNvSpPr/>
          <p:nvPr/>
        </p:nvSpPr>
        <p:spPr>
          <a:xfrm>
            <a:off x="3142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88" name="file-key" descr="file-key"/>
          <p:cNvPicPr>
            <a:picLocks noChangeAspect="1"/>
          </p:cNvPicPr>
          <p:nvPr/>
        </p:nvPicPr>
        <p:blipFill>
          <a:blip r:embed="rIdPg187"/>
          <a:stretch>
            <a:fillRect/>
          </a:stretch>
        </p:blipFill>
        <p:spPr>
          <a:xfrm>
            <a:off x="3329200" y="1737200"/>
            <a:ext cx="405600" cy="405600"/>
          </a:xfrm>
          <a:prstGeom prst="rect">
            <a:avLst/>
          </a:prstGeom>
        </p:spPr>
      </p:pic>
      <p:sp>
        <p:nvSpPr>
          <p:cNvPr id="9189" name="Grant GNAP"/>
          <p:cNvSpPr txBox="1"/>
          <p:nvPr/>
        </p:nvSpPr>
        <p:spPr>
          <a:xfrm>
            <a:off x="2125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Grant GNAP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debitAmount + interval</a:t>
            </a:r>
          </a:p>
        </p:txBody>
      </p:sp>
      <p:sp>
        <p:nvSpPr>
          <p:cNvPr id="9190" name="Flecha"/>
          <p:cNvSpPr/>
          <p:nvPr/>
        </p:nvSpPr>
        <p:spPr>
          <a:xfrm>
            <a:off x="4974000" y="183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91" name="Fondo user-check"/>
          <p:cNvSpPr/>
          <p:nvPr/>
        </p:nvSpPr>
        <p:spPr>
          <a:xfrm>
            <a:off x="6406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93" name="user-check" descr="user-check"/>
          <p:cNvPicPr>
            <a:picLocks noChangeAspect="1"/>
          </p:cNvPicPr>
          <p:nvPr/>
        </p:nvPicPr>
        <p:blipFill>
          <a:blip r:embed="rIdPg192"/>
          <a:stretch>
            <a:fillRect/>
          </a:stretch>
        </p:blipFill>
        <p:spPr>
          <a:xfrm>
            <a:off x="6593200" y="1737200"/>
            <a:ext cx="405600" cy="405600"/>
          </a:xfrm>
          <a:prstGeom prst="rect">
            <a:avLst/>
          </a:prstGeom>
        </p:spPr>
      </p:pic>
      <p:sp>
        <p:nvSpPr>
          <p:cNvPr id="9194" name="Aprueba en su wallet"/>
          <p:cNvSpPr txBox="1"/>
          <p:nvPr/>
        </p:nvSpPr>
        <p:spPr>
          <a:xfrm>
            <a:off x="5389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Aprueba en su wallet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consentimiento interactivo</a:t>
            </a:r>
          </a:p>
        </p:txBody>
      </p:sp>
      <p:sp>
        <p:nvSpPr>
          <p:cNvPr id="9195" name="Flecha"/>
          <p:cNvSpPr/>
          <p:nvPr/>
        </p:nvSpPr>
        <p:spPr>
          <a:xfrm>
            <a:off x="8238000" y="183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96" name="Fondo key-round"/>
          <p:cNvSpPr/>
          <p:nvPr/>
        </p:nvSpPr>
        <p:spPr>
          <a:xfrm>
            <a:off x="9670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98" name="key-round" descr="key-round"/>
          <p:cNvPicPr>
            <a:picLocks noChangeAspect="1"/>
          </p:cNvPicPr>
          <p:nvPr/>
        </p:nvPicPr>
        <p:blipFill>
          <a:blip r:embed="rIdPg197"/>
          <a:stretch>
            <a:fillRect/>
          </a:stretch>
        </p:blipFill>
        <p:spPr>
          <a:xfrm>
            <a:off x="9857200" y="1737200"/>
            <a:ext cx="405600" cy="405600"/>
          </a:xfrm>
          <a:prstGeom prst="rect">
            <a:avLst/>
          </a:prstGeom>
        </p:spPr>
      </p:pic>
      <p:sp>
        <p:nvSpPr>
          <p:cNvPr id="9199" name="Mandato raíz"/>
          <p:cNvSpPr txBox="1"/>
          <p:nvPr/>
        </p:nvSpPr>
        <p:spPr>
          <a:xfrm>
            <a:off x="8653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Mandato raíz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token con el tope</a:t>
            </a:r>
          </a:p>
        </p:txBody>
      </p:sp>
      <p:sp>
        <p:nvSpPr>
          <p:cNvPr id="9200" name="CADA PAGO"/>
          <p:cNvSpPr txBox="1"/>
          <p:nvPr/>
        </p:nvSpPr>
        <p:spPr>
          <a:xfrm>
            <a:off x="450000" y="3830000"/>
            <a:ext cx="1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00" b="1">
                <a:solidFill>
                  <a:srgbClr val="48156E"/>
                </a:solidFill>
                <a:latin typeface="Poppins"/>
                <a:cs typeface="Poppins"/>
              </a:rPr>
              <a:t>CADA PAGO</a:t>
            </a:r>
          </a:p>
        </p:txBody>
      </p:sp>
      <p:sp>
        <p:nvSpPr>
          <p:cNvPr id="9201" name="Fondo inbox"/>
          <p:cNvSpPr/>
          <p:nvPr/>
        </p:nvSpPr>
        <p:spPr>
          <a:xfrm>
            <a:off x="2734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03" name="inbox" descr="inbox"/>
          <p:cNvPicPr>
            <a:picLocks noChangeAspect="1"/>
          </p:cNvPicPr>
          <p:nvPr/>
        </p:nvPicPr>
        <p:blipFill>
          <a:blip r:embed="rIdPg202"/>
          <a:stretch>
            <a:fillRect/>
          </a:stretch>
        </p:blipFill>
        <p:spPr>
          <a:xfrm>
            <a:off x="2921200" y="3787200"/>
            <a:ext cx="405600" cy="405600"/>
          </a:xfrm>
          <a:prstGeom prst="rect">
            <a:avLst/>
          </a:prstGeom>
        </p:spPr>
      </p:pic>
      <p:sp>
        <p:nvSpPr>
          <p:cNvPr id="9204" name="Incoming"/>
          <p:cNvSpPr txBox="1"/>
          <p:nvPr/>
        </p:nvSpPr>
        <p:spPr>
          <a:xfrm>
            <a:off x="2125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Incoming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en la wallet de la tienda</a:t>
            </a:r>
          </a:p>
        </p:txBody>
      </p:sp>
      <p:sp>
        <p:nvSpPr>
          <p:cNvPr id="9205" name="Flecha"/>
          <p:cNvSpPr/>
          <p:nvPr/>
        </p:nvSpPr>
        <p:spPr>
          <a:xfrm>
            <a:off x="4158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06" name="Fondo calculator"/>
          <p:cNvSpPr/>
          <p:nvPr/>
        </p:nvSpPr>
        <p:spPr>
          <a:xfrm>
            <a:off x="5182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08" name="calculator" descr="calculator"/>
          <p:cNvPicPr>
            <a:picLocks noChangeAspect="1"/>
          </p:cNvPicPr>
          <p:nvPr/>
        </p:nvPicPr>
        <p:blipFill>
          <a:blip r:embed="rIdPg207"/>
          <a:stretch>
            <a:fillRect/>
          </a:stretch>
        </p:blipFill>
        <p:spPr>
          <a:xfrm>
            <a:off x="5369200" y="3787200"/>
            <a:ext cx="405600" cy="405600"/>
          </a:xfrm>
          <a:prstGeom prst="rect">
            <a:avLst/>
          </a:prstGeom>
        </p:spPr>
      </p:pic>
      <p:sp>
        <p:nvSpPr>
          <p:cNvPr id="9209" name="Quote"/>
          <p:cNvSpPr txBox="1"/>
          <p:nvPr/>
        </p:nvSpPr>
        <p:spPr>
          <a:xfrm>
            <a:off x="4573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Quote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el débito real</a:t>
            </a:r>
          </a:p>
        </p:txBody>
      </p:sp>
      <p:sp>
        <p:nvSpPr>
          <p:cNvPr id="9210" name="Flecha"/>
          <p:cNvSpPr/>
          <p:nvPr/>
        </p:nvSpPr>
        <p:spPr>
          <a:xfrm>
            <a:off x="6606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11" name="Fondo send"/>
          <p:cNvSpPr/>
          <p:nvPr/>
        </p:nvSpPr>
        <p:spPr>
          <a:xfrm>
            <a:off x="7630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13" name="send" descr="send"/>
          <p:cNvPicPr>
            <a:picLocks noChangeAspect="1"/>
          </p:cNvPicPr>
          <p:nvPr/>
        </p:nvPicPr>
        <p:blipFill>
          <a:blip r:embed="rIdPg212"/>
          <a:stretch>
            <a:fillRect/>
          </a:stretch>
        </p:blipFill>
        <p:spPr>
          <a:xfrm>
            <a:off x="7817200" y="3787200"/>
            <a:ext cx="405600" cy="405600"/>
          </a:xfrm>
          <a:prstGeom prst="rect">
            <a:avLst/>
          </a:prstGeom>
        </p:spPr>
      </p:pic>
      <p:sp>
        <p:nvSpPr>
          <p:cNvPr id="9214" name="Outgoing"/>
          <p:cNvSpPr txBox="1"/>
          <p:nvPr/>
        </p:nvSpPr>
        <p:spPr>
          <a:xfrm>
            <a:off x="7021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Outgoing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con el token del titular</a:t>
            </a:r>
          </a:p>
        </p:txBody>
      </p:sp>
      <p:sp>
        <p:nvSpPr>
          <p:cNvPr id="9215" name="Flecha"/>
          <p:cNvSpPr/>
          <p:nvPr/>
        </p:nvSpPr>
        <p:spPr>
          <a:xfrm>
            <a:off x="9054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16" name="Fondo check-check"/>
          <p:cNvSpPr/>
          <p:nvPr/>
        </p:nvSpPr>
        <p:spPr>
          <a:xfrm>
            <a:off x="10078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18" name="check-check" descr="check-check"/>
          <p:cNvPicPr>
            <a:picLocks noChangeAspect="1"/>
          </p:cNvPicPr>
          <p:nvPr/>
        </p:nvPicPr>
        <p:blipFill>
          <a:blip r:embed="rIdPg217"/>
          <a:stretch>
            <a:fillRect/>
          </a:stretch>
        </p:blipFill>
        <p:spPr>
          <a:xfrm>
            <a:off x="10265200" y="3787200"/>
            <a:ext cx="405600" cy="405600"/>
          </a:xfrm>
          <a:prstGeom prst="rect">
            <a:avLst/>
          </a:prstGeom>
        </p:spPr>
      </p:pic>
      <p:sp>
        <p:nvSpPr>
          <p:cNvPr id="9219" name="Llegó"/>
          <p:cNvSpPr txBox="1"/>
          <p:nvPr/>
        </p:nvSpPr>
        <p:spPr>
          <a:xfrm>
            <a:off x="9469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Llegó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y queda en la libreta</a:t>
            </a:r>
          </a:p>
        </p:txBody>
      </p:sp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Un solo lugar decide cada pago: el gateway de mandatos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ARQUITECTURA</a:t>
            </a:r>
          </a:p>
        </p:txBody>
      </p:sp>
      <p:pic>
        <p:nvPicPr>
          <p:cNvPr id="9221" name="Diagrama de arquitectura de Paygent" descr="Diagrama de arquitectura de Paygent"/>
          <p:cNvPicPr>
            <a:picLocks noChangeAspect="1"/>
          </p:cNvPicPr>
          <p:nvPr/>
        </p:nvPicPr>
        <p:blipFill>
          <a:blip r:embed="rIdPg220"/>
          <a:stretch>
            <a:fillRect/>
          </a:stretch>
        </p:blipFill>
        <p:spPr>
          <a:xfrm>
            <a:off x="400000" y="1525516"/>
            <a:ext cx="11392000" cy="4398968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Lo que nos enseñó construirlo con dinero real en Interledger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APRENDIZAJES CLAVE</a:t>
            </a:r>
          </a:p>
        </p:txBody>
      </p:sp>
      <p:sp>
        <p:nvSpPr>
          <p:cNvPr id="9226" name="Tarjeta Open Payments no delega grants"/>
          <p:cNvSpPr/>
          <p:nvPr/>
        </p:nvSpPr>
        <p:spPr>
          <a:xfrm>
            <a:off x="900000" y="1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27" name="Fondo split"/>
          <p:cNvSpPr/>
          <p:nvPr/>
        </p:nvSpPr>
        <p:spPr>
          <a:xfrm>
            <a:off x="1080000" y="2050000"/>
            <a:ext cx="900000" cy="9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29" name="split" descr="split"/>
          <p:cNvPicPr>
            <a:picLocks noChangeAspect="1"/>
          </p:cNvPicPr>
          <p:nvPr/>
        </p:nvPicPr>
        <p:blipFill>
          <a:blip r:embed="rIdPg228"/>
          <a:stretch>
            <a:fillRect/>
          </a:stretch>
        </p:blipFill>
        <p:spPr>
          <a:xfrm>
            <a:off x="1296000" y="2266000"/>
            <a:ext cx="468000" cy="468000"/>
          </a:xfrm>
          <a:prstGeom prst="rect">
            <a:avLst/>
          </a:prstGeom>
        </p:spPr>
      </p:pic>
      <p:sp>
        <p:nvSpPr>
          <p:cNvPr id="9230" name="Open Payments no delega grants"/>
          <p:cNvSpPr txBox="1"/>
          <p:nvPr/>
        </p:nvSpPr>
        <p:spPr>
          <a:xfrm>
            <a:off x="2160000" y="1650000"/>
            <a:ext cx="364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Open Payments no delega grants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Lo resolvimos con sub-mandatos firmados; proponemos la delegación nativa</a:t>
            </a:r>
          </a:p>
        </p:txBody>
      </p:sp>
      <p:sp>
        <p:nvSpPr>
          <p:cNvPr id="9231" name="Tarjeta Crear un pago no es que llegó"/>
          <p:cNvSpPr/>
          <p:nvPr/>
        </p:nvSpPr>
        <p:spPr>
          <a:xfrm>
            <a:off x="6200000" y="1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32" name="Fondo check-check"/>
          <p:cNvSpPr/>
          <p:nvPr/>
        </p:nvSpPr>
        <p:spPr>
          <a:xfrm>
            <a:off x="6380000" y="2050000"/>
            <a:ext cx="900000" cy="9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34" name="check-check" descr="check-check"/>
          <p:cNvPicPr>
            <a:picLocks noChangeAspect="1"/>
          </p:cNvPicPr>
          <p:nvPr/>
        </p:nvPicPr>
        <p:blipFill>
          <a:blip r:embed="rIdPg233"/>
          <a:stretch>
            <a:fillRect/>
          </a:stretch>
        </p:blipFill>
        <p:spPr>
          <a:xfrm>
            <a:off x="6596000" y="2266000"/>
            <a:ext cx="468000" cy="468000"/>
          </a:xfrm>
          <a:prstGeom prst="rect">
            <a:avLst/>
          </a:prstGeom>
        </p:spPr>
      </p:pic>
      <p:sp>
        <p:nvSpPr>
          <p:cNvPr id="9235" name="Crear un pago no es que llegó"/>
          <p:cNvSpPr txBox="1"/>
          <p:nvPr/>
        </p:nvSpPr>
        <p:spPr>
          <a:xfrm>
            <a:off x="7460000" y="1650000"/>
            <a:ext cx="364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Crear un pago no es que llegó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Hay que esperar lo recibido y cerrar el incoming</a:t>
            </a:r>
          </a:p>
        </p:txBody>
      </p:sp>
      <p:sp>
        <p:nvSpPr>
          <p:cNvPr id="9236" name="Tarjeta El modelo no puede decidir"/>
          <p:cNvSpPr/>
          <p:nvPr/>
        </p:nvSpPr>
        <p:spPr>
          <a:xfrm>
            <a:off x="900000" y="3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37" name="Fondo shield-check"/>
          <p:cNvSpPr/>
          <p:nvPr/>
        </p:nvSpPr>
        <p:spPr>
          <a:xfrm>
            <a:off x="1080000" y="4050000"/>
            <a:ext cx="900000" cy="90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39" name="shield-check" descr="shield-check"/>
          <p:cNvPicPr>
            <a:picLocks noChangeAspect="1"/>
          </p:cNvPicPr>
          <p:nvPr/>
        </p:nvPicPr>
        <p:blipFill>
          <a:blip r:embed="rIdPg238"/>
          <a:stretch>
            <a:fillRect/>
          </a:stretch>
        </p:blipFill>
        <p:spPr>
          <a:xfrm>
            <a:off x="1296000" y="4266000"/>
            <a:ext cx="468000" cy="468000"/>
          </a:xfrm>
          <a:prstGeom prst="rect">
            <a:avLst/>
          </a:prstGeom>
        </p:spPr>
      </p:pic>
      <p:sp>
        <p:nvSpPr>
          <p:cNvPr id="9240" name="El modelo no puede decidir"/>
          <p:cNvSpPr txBox="1"/>
          <p:nvPr/>
        </p:nvSpPr>
        <p:spPr>
          <a:xfrm>
            <a:off x="2160000" y="3650000"/>
            <a:ext cx="364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El modelo no puede decidir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Los topes viven en código con tests; la IA solo propone</a:t>
            </a:r>
          </a:p>
        </p:txBody>
      </p:sp>
      <p:sp>
        <p:nvSpPr>
          <p:cNvPr id="9241" name="Tarjeta Sin señal, el riesgo se acota"/>
          <p:cNvSpPr/>
          <p:nvPr/>
        </p:nvSpPr>
        <p:spPr>
          <a:xfrm>
            <a:off x="6200000" y="3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242" name="Fondo wifi-off"/>
          <p:cNvSpPr/>
          <p:nvPr/>
        </p:nvSpPr>
        <p:spPr>
          <a:xfrm>
            <a:off x="6380000" y="4050000"/>
            <a:ext cx="900000" cy="90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244" name="wifi-off" descr="wifi-off"/>
          <p:cNvPicPr>
            <a:picLocks noChangeAspect="1"/>
          </p:cNvPicPr>
          <p:nvPr/>
        </p:nvPicPr>
        <p:blipFill>
          <a:blip r:embed="rIdPg243"/>
          <a:stretch>
            <a:fillRect/>
          </a:stretch>
        </p:blipFill>
        <p:spPr>
          <a:xfrm>
            <a:off x="6596000" y="4266000"/>
            <a:ext cx="468000" cy="468000"/>
          </a:xfrm>
          <a:prstGeom prst="rect">
            <a:avLst/>
          </a:prstGeom>
        </p:spPr>
      </p:pic>
      <p:sp>
        <p:nvSpPr>
          <p:cNvPr id="9245" name="Sin señal, el riesgo se acota"/>
          <p:cNvSpPr txBox="1"/>
          <p:nvPr/>
        </p:nvSpPr>
        <p:spPr>
          <a:xfrm>
            <a:off x="7460000" y="3650000"/>
            <a:ext cx="364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Sin señal, el riesgo se acota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Con un tope sin señal; falta una reserva de fondos en Open Payments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616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48156E"/>
      </a:accent1>
      <a:accent2>
        <a:srgbClr val="FFB259"/>
      </a:accent2>
      <a:accent3>
        <a:srgbClr val="959FF9"/>
      </a:accent3>
      <a:accent4>
        <a:srgbClr val="7EDFC8"/>
      </a:accent4>
      <a:accent5>
        <a:srgbClr val="747474"/>
      </a:accent5>
      <a:accent6>
        <a:srgbClr val="D8D8D8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