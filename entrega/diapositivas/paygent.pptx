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embeddedFontLst>
    <p:embeddedFont>
      <p:font typeface="Poppins Light"/>
      <p:regular r:id="rId18"/>
      <p:bold r:id="rId19"/>
      <p:italic r:id="rId20"/>
      <p:boldItalic r:id="rId18"/>
    </p:embeddedFont>
    <p:embeddedFont>
      <p:font typeface="Poppins ExtraBold"/>
      <p:regular r:id="rId18"/>
      <p:bold r:id="rId19"/>
      <p:boldItalic r:id="rId18"/>
    </p:embeddedFont>
    <p:embeddedFont>
      <p:font typeface="Poppins"/>
      <p:regular r:id="rId18"/>
      <p:bold r:id="rId19"/>
      <p:italic r:id="rId20"/>
      <p:boldItalic r:id="rId18"/>
    </p:embeddedFont>
    <p:embeddedFont>
      <p:font typeface="Noto Sans CJK SC"/>
      <p:regular r:id="rId21"/>
      <p:bold r:id="rId21"/>
      <p:italic r:id="rId21"/>
    </p:embeddedFont>
    <p:embeddedFont>
      <p:font typeface="Noto Sans Devanagari"/>
      <p:regular r:id="rId22"/>
      <p:bold r:id="rId22"/>
      <p:italic r:id="rId22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font" Target="fonts/Font_1_Poppins_Light_Regular.fntdata"/><Relationship Id="rId19" Type="http://schemas.openxmlformats.org/officeDocument/2006/relationships/font" Target="fonts/Font_2_Poppins_Light_Bold.fntdata"/><Relationship Id="rId20" Type="http://schemas.openxmlformats.org/officeDocument/2006/relationships/font" Target="fonts/Font_3_Poppins_Light_Italic.fntdata"/><Relationship Id="rId21" Type="http://schemas.openxmlformats.org/officeDocument/2006/relationships/font" Target="fonts/Font_4_Noto_Sans_CJK_SC_Regular.fntdata"/><Relationship Id="rId22" Type="http://schemas.openxmlformats.org/officeDocument/2006/relationships/font" Target="fonts/Font_5_Noto_Sans_Devanagari_Regular.fntdata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8B281E-F446-4DA6-9BE3-5075A168AF3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[8 s] Somos Paygent: pagos delegables para personas y agentes de IA, con cualquier señal.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[8 s] Somos cuatro, de Medellín. (Nombres.)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[30 s] Un hijo trabaja en Texas y le manda plata a su mamá en una vereda de Antioquia. El dinero llega; gastarlo no. Allá la señal va y viene, ella usa un celular de teclas y no tiene wallet propia. Y los pagos con IA de Visa, Mastercard o Google asumen smartphone, internet y tarjeta.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[20 s] Es para tres personas: la familia que manda dinero desde lejos y quiere control; quien lo recibe en el campo, con poca señal o un celular básico; y el tendero del pueblo, que cobra aunque no tenga wallet ni datáfono.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[30 s] Paygent es un permiso que se reparte. El titular firma UNA vez en su wallet un grant de Open Payments con tope. Lo reparte en ramas: su mamá, el celular de ella, un agente que compra por ella. Cada pago pasa por el gateway, que revisa tope, categoría y PIN, y el dinero va directo a la tienda.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[25 s] Open Payments de verdad: un grant GNAP interactivo con debitAmount e interval es el mandato raíz. Cada pago es incoming en la tienda, quote con el débito real y outgoing con el token del titular.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[15 s] Todo pago pasa por un solo lugar, el gateway. Los agentes solo proponen: no tienen llaves ni dinero. El dinero va de la wallet del titular al comercio.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[demo] Escaneen el QR: está en vivo, con pagos reales en la red de prueba de Interledger.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[30 s] Aprendimos cuatro cosas: Open Payments no delega grants, así que lo resolvimos con sub-mandatos firmados; crear un pago no significa que llegó; un modelo no puede ser la última línea del dinero; y sin señal el riesgo se acota con topes, pero falta una reserva de fondos.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[4 s] Un permiso. Muchas manos. Cualquier señal.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interledger.org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hyperlink" Target="http://interledger.org" TargetMode="Externa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interledger.org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interledger.org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interledger.org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interledger.org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interledger.org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hyperlink" Target="http://interledger.org" TargetMode="External"/><Relationship Id="rId4" Type="http://schemas.openxmlformats.org/officeDocument/2006/relationships/image" Target="../media/image7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hyperlink" Target="http://interledger.org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8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hyperlink" Target="http://interledger.org" TargetMode="External"/><Relationship Id="rId4" Type="http://schemas.openxmlformats.org/officeDocument/2006/relationships/image" Target="../media/image7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hyperlink" Target="http://interledger.org" TargetMode="External"/><Relationship Id="rId4" Type="http://schemas.openxmlformats.org/officeDocument/2006/relationships/image" Target="../media/image7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hyperlink" Target="http://interledger.org" TargetMode="External"/><Relationship Id="rId4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4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;p1"/>
          <p:cNvPicPr/>
          <p:nvPr/>
        </p:nvPicPr>
        <p:blipFill>
          <a:blip r:embed="rId2"/>
          <a:stretch/>
        </p:blipFill>
        <p:spPr>
          <a:xfrm>
            <a:off x="9929160" y="295200"/>
            <a:ext cx="1971360" cy="5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Google Shape;11;p1"/>
          <p:cNvSpPr/>
          <p:nvPr/>
        </p:nvSpPr>
        <p:spPr>
          <a:xfrm>
            <a:off x="7142760" y="6258960"/>
            <a:ext cx="4861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sng" strike="noStrike">
                <a:solidFill>
                  <a:srgbClr val="467886"/>
                </a:solidFill>
                <a:effectLst/>
                <a:uFillTx/>
                <a:latin typeface="Poppins Light"/>
                <a:ea typeface="Poppins Light"/>
                <a:hlinkClick r:id="rId3"/>
              </a:rPr>
              <a:t>Interledger.org</a:t>
            </a: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#OpenPayments #ILPHacks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435;p9"/>
          <p:cNvSpPr/>
          <p:nvPr/>
        </p:nvSpPr>
        <p:spPr>
          <a:xfrm>
            <a:off x="0" y="0"/>
            <a:ext cx="12182400" cy="68569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2296080" y="1614600"/>
            <a:ext cx="7590600" cy="292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142760" y="6566760"/>
            <a:ext cx="4861440" cy="2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" name="Google Shape;438;p9"/>
          <p:cNvGrpSpPr/>
          <p:nvPr/>
        </p:nvGrpSpPr>
        <p:grpSpPr>
          <a:xfrm>
            <a:off x="0" y="6344640"/>
            <a:ext cx="9068400" cy="301680"/>
            <a:chOff x="0" y="6344640"/>
            <a:chExt cx="9068400" cy="301680"/>
          </a:xfrm>
        </p:grpSpPr>
        <p:grpSp>
          <p:nvGrpSpPr>
            <p:cNvPr id="8" name="Google Shape;439;p9"/>
            <p:cNvGrpSpPr/>
            <p:nvPr/>
          </p:nvGrpSpPr>
          <p:grpSpPr>
            <a:xfrm>
              <a:off x="0" y="6345000"/>
              <a:ext cx="593640" cy="300600"/>
              <a:chOff x="0" y="6345000"/>
              <a:chExt cx="593640" cy="300600"/>
            </a:xfrm>
          </p:grpSpPr>
          <p:sp>
            <p:nvSpPr>
              <p:cNvPr id="9" name="Google Shape;440;p9"/>
              <p:cNvSpPr/>
              <p:nvPr/>
            </p:nvSpPr>
            <p:spPr>
              <a:xfrm>
                <a:off x="0" y="6345360"/>
                <a:ext cx="292320" cy="292320"/>
              </a:xfrm>
              <a:custGeom>
                <a:avLst/>
                <a:gdLst>
                  <a:gd name="textAreaLeft" fmla="*/ 0 w 292320"/>
                  <a:gd name="textAreaRight" fmla="*/ 293400 w 292320"/>
                  <a:gd name="textAreaTop" fmla="*/ 0 h 292320"/>
                  <a:gd name="textAreaBottom" fmla="*/ 293400 h 292320"/>
                </a:gdLst>
                <a:ahLst/>
                <a:cxnLst/>
                <a:rect l="textAreaLeft" t="textAreaTop" r="textAreaRight" b="textAreaBottom"/>
                <a:pathLst>
                  <a:path w="423545" h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w="423545" h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w="423545" h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w="423545" h="423545">
                    <a:moveTo>
                      <a:pt x="423379" y="38"/>
                    </a:moveTo>
                  </a:path>
                  <a:path w="423545" h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Google Shape;441;p9"/>
              <p:cNvSpPr/>
              <p:nvPr/>
            </p:nvSpPr>
            <p:spPr>
              <a:xfrm>
                <a:off x="2934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Google Shape;442;p9"/>
              <p:cNvSpPr/>
              <p:nvPr/>
            </p:nvSpPr>
            <p:spPr>
              <a:xfrm>
                <a:off x="2934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Google Shape;443;p9"/>
              <p:cNvSpPr/>
              <p:nvPr/>
            </p:nvSpPr>
            <p:spPr>
              <a:xfrm>
                <a:off x="293400" y="645300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3" name="Google Shape;444;p9"/>
              <p:cNvPicPr/>
              <p:nvPr/>
            </p:nvPicPr>
            <p:blipFill>
              <a:blip r:embed="rId4"/>
              <a:stretch/>
            </p:blipFill>
            <p:spPr>
              <a:xfrm>
                <a:off x="293400" y="645300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14" name="Google Shape;445;p9"/>
            <p:cNvGrpSpPr/>
            <p:nvPr/>
          </p:nvGrpSpPr>
          <p:grpSpPr>
            <a:xfrm>
              <a:off x="594720" y="6345000"/>
              <a:ext cx="951840" cy="300240"/>
              <a:chOff x="594720" y="6345000"/>
              <a:chExt cx="951840" cy="300240"/>
            </a:xfrm>
          </p:grpSpPr>
          <p:sp>
            <p:nvSpPr>
              <p:cNvPr id="15" name="Google Shape;446;p9"/>
              <p:cNvSpPr/>
              <p:nvPr/>
            </p:nvSpPr>
            <p:spPr>
              <a:xfrm>
                <a:off x="94536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Google Shape;447;p9"/>
              <p:cNvSpPr/>
              <p:nvPr/>
            </p:nvSpPr>
            <p:spPr>
              <a:xfrm>
                <a:off x="945360" y="6366600"/>
                <a:ext cx="300240" cy="25776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257760"/>
                  <a:gd name="textAreaBottom" fmla="*/ 258840 h 257760"/>
                </a:gdLst>
                <a:ahLst/>
                <a:cxnLst/>
                <a:rect l="textAreaLeft" t="textAreaTop" r="textAreaRight" b="textAreaBottom"/>
                <a:pathLst>
                  <a:path w="434975" h="373379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w="434975" h="373379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w="434975" h="373379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w="434975" h="373379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w="434975" h="373379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w="434975" h="373379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w="434975" h="373379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w="434975" h="373379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w="434975" h="373379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w="434975" h="373379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w="434975" h="373379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w="434975" h="373379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w="434975" h="373379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w="434975" h="373379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w="434975" h="373379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w="434975" h="373379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Google Shape;448;p9"/>
              <p:cNvSpPr/>
              <p:nvPr/>
            </p:nvSpPr>
            <p:spPr>
              <a:xfrm>
                <a:off x="124632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Google Shape;449;p9"/>
              <p:cNvSpPr/>
              <p:nvPr/>
            </p:nvSpPr>
            <p:spPr>
              <a:xfrm>
                <a:off x="1287360" y="638604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4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9" name="Google Shape;450;p9"/>
              <p:cNvPicPr/>
              <p:nvPr/>
            </p:nvPicPr>
            <p:blipFill>
              <a:blip r:embed="rId5"/>
              <a:stretch/>
            </p:blipFill>
            <p:spPr>
              <a:xfrm>
                <a:off x="1366560" y="645120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20" name="Google Shape;451;p9"/>
              <p:cNvSpPr/>
              <p:nvPr/>
            </p:nvSpPr>
            <p:spPr>
              <a:xfrm>
                <a:off x="59472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Google Shape;452;p9"/>
              <p:cNvSpPr/>
              <p:nvPr/>
            </p:nvSpPr>
            <p:spPr>
              <a:xfrm>
                <a:off x="59472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30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30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" name="Google Shape;453;p9"/>
            <p:cNvGrpSpPr/>
            <p:nvPr/>
          </p:nvGrpSpPr>
          <p:grpSpPr>
            <a:xfrm>
              <a:off x="1898280" y="6345720"/>
              <a:ext cx="601560" cy="300240"/>
              <a:chOff x="1898280" y="6345720"/>
              <a:chExt cx="601560" cy="300240"/>
            </a:xfrm>
          </p:grpSpPr>
          <p:sp>
            <p:nvSpPr>
              <p:cNvPr id="23" name="Google Shape;454;p9"/>
              <p:cNvSpPr/>
              <p:nvPr/>
            </p:nvSpPr>
            <p:spPr>
              <a:xfrm>
                <a:off x="219960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Google Shape;455;p9"/>
              <p:cNvSpPr/>
              <p:nvPr/>
            </p:nvSpPr>
            <p:spPr>
              <a:xfrm>
                <a:off x="219960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w="434975" h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Google Shape;456;p9"/>
              <p:cNvSpPr/>
              <p:nvPr/>
            </p:nvSpPr>
            <p:spPr>
              <a:xfrm>
                <a:off x="18982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Google Shape;457;p9"/>
              <p:cNvSpPr/>
              <p:nvPr/>
            </p:nvSpPr>
            <p:spPr>
              <a:xfrm>
                <a:off x="1954080" y="640116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19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Google Shape;458;p9"/>
              <p:cNvSpPr/>
              <p:nvPr/>
            </p:nvSpPr>
            <p:spPr>
              <a:xfrm>
                <a:off x="2012400" y="644040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89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8" name="Google Shape;459;p9"/>
            <p:cNvGrpSpPr/>
            <p:nvPr/>
          </p:nvGrpSpPr>
          <p:grpSpPr>
            <a:xfrm>
              <a:off x="1547640" y="6344640"/>
              <a:ext cx="349920" cy="300240"/>
              <a:chOff x="1547640" y="6344640"/>
              <a:chExt cx="349920" cy="300240"/>
            </a:xfrm>
          </p:grpSpPr>
          <p:sp>
            <p:nvSpPr>
              <p:cNvPr id="29" name="Google Shape;460;p9"/>
              <p:cNvSpPr/>
              <p:nvPr/>
            </p:nvSpPr>
            <p:spPr>
              <a:xfrm>
                <a:off x="1547640" y="634464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Google Shape;461;p9"/>
              <p:cNvSpPr/>
              <p:nvPr/>
            </p:nvSpPr>
            <p:spPr>
              <a:xfrm>
                <a:off x="1683720" y="643968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4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" name="Google Shape;462;p9"/>
            <p:cNvSpPr/>
            <p:nvPr/>
          </p:nvSpPr>
          <p:spPr>
            <a:xfrm>
              <a:off x="4708800" y="6346080"/>
              <a:ext cx="301320" cy="300240"/>
            </a:xfrm>
            <a:custGeom>
              <a:avLst/>
              <a:gdLst>
                <a:gd name="textAreaLeft" fmla="*/ 0 w 301320"/>
                <a:gd name="textAreaRight" fmla="*/ 302400 w 301320"/>
                <a:gd name="textAreaTop" fmla="*/ 0 h 300240"/>
                <a:gd name="textAreaBottom" fmla="*/ 301320 h 300240"/>
              </a:gdLst>
              <a:ahLst/>
              <a:cxnLst/>
              <a:rect l="textAreaLeft" t="textAreaTop" r="textAreaRight" b="textAreaBottom"/>
              <a:pathLst>
                <a:path w="436245" h="43497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5" h="43497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5" h="43497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5" h="43497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5" h="43497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5" h="434975">
                  <a:moveTo>
                    <a:pt x="435978" y="101"/>
                  </a:moveTo>
                </a:path>
                <a:path w="436245" h="434975">
                  <a:moveTo>
                    <a:pt x="435978" y="50"/>
                  </a:moveTo>
                </a:path>
                <a:path w="436245" h="43497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5" h="43497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5" h="43497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5" h="43497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" name="Google Shape;463;p9"/>
            <p:cNvGrpSpPr/>
            <p:nvPr/>
          </p:nvGrpSpPr>
          <p:grpSpPr>
            <a:xfrm>
              <a:off x="3454920" y="6346080"/>
              <a:ext cx="601560" cy="300240"/>
              <a:chOff x="3454920" y="6346080"/>
              <a:chExt cx="601560" cy="300240"/>
            </a:xfrm>
          </p:grpSpPr>
          <p:sp>
            <p:nvSpPr>
              <p:cNvPr id="33" name="Google Shape;464;p9"/>
              <p:cNvSpPr/>
              <p:nvPr/>
            </p:nvSpPr>
            <p:spPr>
              <a:xfrm>
                <a:off x="37562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Google Shape;465;p9"/>
              <p:cNvSpPr/>
              <p:nvPr/>
            </p:nvSpPr>
            <p:spPr>
              <a:xfrm>
                <a:off x="37562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w="434975" h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w="434975" h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Google Shape;466;p9"/>
              <p:cNvSpPr/>
              <p:nvPr/>
            </p:nvSpPr>
            <p:spPr>
              <a:xfrm>
                <a:off x="34549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Google Shape;467;p9"/>
              <p:cNvSpPr/>
              <p:nvPr/>
            </p:nvSpPr>
            <p:spPr>
              <a:xfrm>
                <a:off x="3510720" y="640188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Google Shape;468;p9"/>
              <p:cNvSpPr/>
              <p:nvPr/>
            </p:nvSpPr>
            <p:spPr>
              <a:xfrm>
                <a:off x="3569040" y="644076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89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8" name="Google Shape;469;p9"/>
            <p:cNvGrpSpPr/>
            <p:nvPr/>
          </p:nvGrpSpPr>
          <p:grpSpPr>
            <a:xfrm>
              <a:off x="2803320" y="6345000"/>
              <a:ext cx="650880" cy="301320"/>
              <a:chOff x="2803320" y="6345000"/>
              <a:chExt cx="650880" cy="301320"/>
            </a:xfrm>
          </p:grpSpPr>
          <p:sp>
            <p:nvSpPr>
              <p:cNvPr id="39" name="Google Shape;470;p9"/>
              <p:cNvSpPr/>
              <p:nvPr/>
            </p:nvSpPr>
            <p:spPr>
              <a:xfrm>
                <a:off x="2803680" y="6346080"/>
                <a:ext cx="299880" cy="300240"/>
              </a:xfrm>
              <a:custGeom>
                <a:avLst/>
                <a:gdLst>
                  <a:gd name="textAreaLeft" fmla="*/ 0 w 299880"/>
                  <a:gd name="textAreaRight" fmla="*/ 300960 w 29988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339" h="434975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Google Shape;471;p9"/>
              <p:cNvSpPr/>
              <p:nvPr/>
            </p:nvSpPr>
            <p:spPr>
              <a:xfrm>
                <a:off x="2803320" y="6435000"/>
                <a:ext cx="210960" cy="210960"/>
              </a:xfrm>
              <a:custGeom>
                <a:avLst/>
                <a:gdLst>
                  <a:gd name="textAreaLeft" fmla="*/ 0 w 210960"/>
                  <a:gd name="textAreaRight" fmla="*/ 212040 w 210960"/>
                  <a:gd name="textAreaTop" fmla="*/ 0 h 210960"/>
                  <a:gd name="textAreaBottom" fmla="*/ 212040 h 210960"/>
                </a:gdLst>
                <a:ahLst/>
                <a:cxnLst/>
                <a:rect l="textAreaLeft" t="textAreaTop" r="textAreaRight" b="textAreaBottom"/>
                <a:pathLst>
                  <a:path w="306070" h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41" name="Google Shape;472;p9"/>
              <p:cNvPicPr/>
              <p:nvPr/>
            </p:nvPicPr>
            <p:blipFill>
              <a:blip r:embed="rId6"/>
              <a:stretch/>
            </p:blipFill>
            <p:spPr>
              <a:xfrm>
                <a:off x="2803320" y="6435000"/>
                <a:ext cx="210600" cy="210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2" name="Google Shape;473;p9"/>
              <p:cNvSpPr/>
              <p:nvPr/>
            </p:nvSpPr>
            <p:spPr>
              <a:xfrm>
                <a:off x="310428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Google Shape;474;p9"/>
              <p:cNvSpPr/>
              <p:nvPr/>
            </p:nvSpPr>
            <p:spPr>
              <a:xfrm>
                <a:off x="3240360" y="644040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4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4" name="Google Shape;475;p9"/>
            <p:cNvGrpSpPr/>
            <p:nvPr/>
          </p:nvGrpSpPr>
          <p:grpSpPr>
            <a:xfrm>
              <a:off x="4057560" y="6346080"/>
              <a:ext cx="650880" cy="300240"/>
              <a:chOff x="4057560" y="6346080"/>
              <a:chExt cx="650880" cy="300240"/>
            </a:xfrm>
          </p:grpSpPr>
          <p:sp>
            <p:nvSpPr>
              <p:cNvPr id="45" name="Google Shape;476;p9"/>
              <p:cNvSpPr/>
              <p:nvPr/>
            </p:nvSpPr>
            <p:spPr>
              <a:xfrm>
                <a:off x="405756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Google Shape;477;p9"/>
              <p:cNvSpPr/>
              <p:nvPr/>
            </p:nvSpPr>
            <p:spPr>
              <a:xfrm>
                <a:off x="405756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Google Shape;478;p9"/>
              <p:cNvSpPr/>
              <p:nvPr/>
            </p:nvSpPr>
            <p:spPr>
              <a:xfrm>
                <a:off x="4057560" y="645372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48" name="Google Shape;479;p9"/>
              <p:cNvPicPr/>
              <p:nvPr/>
            </p:nvPicPr>
            <p:blipFill>
              <a:blip r:embed="rId7"/>
              <a:stretch/>
            </p:blipFill>
            <p:spPr>
              <a:xfrm>
                <a:off x="4057560" y="645372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9" name="Google Shape;480;p9"/>
              <p:cNvSpPr/>
              <p:nvPr/>
            </p:nvSpPr>
            <p:spPr>
              <a:xfrm>
                <a:off x="435852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Google Shape;481;p9"/>
              <p:cNvSpPr/>
              <p:nvPr/>
            </p:nvSpPr>
            <p:spPr>
              <a:xfrm>
                <a:off x="435852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1" name="Google Shape;482;p9"/>
            <p:cNvGrpSpPr/>
            <p:nvPr/>
          </p:nvGrpSpPr>
          <p:grpSpPr>
            <a:xfrm>
              <a:off x="2502000" y="6344640"/>
              <a:ext cx="300240" cy="300240"/>
              <a:chOff x="2502000" y="6344640"/>
              <a:chExt cx="300240" cy="300240"/>
            </a:xfrm>
          </p:grpSpPr>
          <p:sp>
            <p:nvSpPr>
              <p:cNvPr id="52" name="Google Shape;483;p9"/>
              <p:cNvSpPr/>
              <p:nvPr/>
            </p:nvSpPr>
            <p:spPr>
              <a:xfrm>
                <a:off x="2502000" y="634464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Google Shape;484;p9"/>
              <p:cNvSpPr/>
              <p:nvPr/>
            </p:nvSpPr>
            <p:spPr>
              <a:xfrm>
                <a:off x="2543040" y="638568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4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54" name="Google Shape;485;p9"/>
              <p:cNvPicPr/>
              <p:nvPr/>
            </p:nvPicPr>
            <p:blipFill>
              <a:blip r:embed="rId8"/>
              <a:stretch/>
            </p:blipFill>
            <p:spPr>
              <a:xfrm>
                <a:off x="2622240" y="645084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55" name="Google Shape;486;p9"/>
            <p:cNvGrpSpPr/>
            <p:nvPr/>
          </p:nvGrpSpPr>
          <p:grpSpPr>
            <a:xfrm>
              <a:off x="5007960" y="6345000"/>
              <a:ext cx="596880" cy="300240"/>
              <a:chOff x="5007960" y="6345000"/>
              <a:chExt cx="596880" cy="300240"/>
            </a:xfrm>
          </p:grpSpPr>
          <p:sp>
            <p:nvSpPr>
              <p:cNvPr id="56" name="Google Shape;487;p9"/>
              <p:cNvSpPr/>
              <p:nvPr/>
            </p:nvSpPr>
            <p:spPr>
              <a:xfrm>
                <a:off x="5007960" y="6345000"/>
                <a:ext cx="295920" cy="300240"/>
              </a:xfrm>
              <a:custGeom>
                <a:avLst/>
                <a:gdLst>
                  <a:gd name="textAreaLeft" fmla="*/ 0 w 295920"/>
                  <a:gd name="textAreaRight" fmla="*/ 297000 w 295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28625" h="43497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Google Shape;488;p9"/>
              <p:cNvSpPr/>
              <p:nvPr/>
            </p:nvSpPr>
            <p:spPr>
              <a:xfrm>
                <a:off x="5007960" y="6366600"/>
                <a:ext cx="295920" cy="257760"/>
              </a:xfrm>
              <a:custGeom>
                <a:avLst/>
                <a:gdLst>
                  <a:gd name="textAreaLeft" fmla="*/ 0 w 295920"/>
                  <a:gd name="textAreaRight" fmla="*/ 297000 w 295920"/>
                  <a:gd name="textAreaTop" fmla="*/ 0 h 257760"/>
                  <a:gd name="textAreaBottom" fmla="*/ 258840 h 257760"/>
                </a:gdLst>
                <a:ahLst/>
                <a:cxnLst/>
                <a:rect l="textAreaLeft" t="textAreaTop" r="textAreaRight" b="textAreaBottom"/>
                <a:pathLst>
                  <a:path w="428625" h="373379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w="428625" h="373379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w="428625" h="373379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w="428625" h="373379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w="428625" h="373379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w="428625" h="373379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w="428625" h="373379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w="428625" h="373379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w="428625" h="373379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w="428625" h="373379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w="428625" h="373379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w="428625" h="373379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w="428625" h="373379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w="428625" h="373379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w="428625" h="373379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w="428625" h="373379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Google Shape;489;p9"/>
              <p:cNvSpPr/>
              <p:nvPr/>
            </p:nvSpPr>
            <p:spPr>
              <a:xfrm>
                <a:off x="53046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Google Shape;490;p9"/>
              <p:cNvSpPr/>
              <p:nvPr/>
            </p:nvSpPr>
            <p:spPr>
              <a:xfrm>
                <a:off x="5345640" y="638604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5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60" name="Google Shape;491;p9"/>
              <p:cNvPicPr/>
              <p:nvPr/>
            </p:nvPicPr>
            <p:blipFill>
              <a:blip r:embed="rId9"/>
              <a:stretch/>
            </p:blipFill>
            <p:spPr>
              <a:xfrm>
                <a:off x="5424840" y="645120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61" name="Google Shape;492;p9"/>
            <p:cNvGrpSpPr/>
            <p:nvPr/>
          </p:nvGrpSpPr>
          <p:grpSpPr>
            <a:xfrm>
              <a:off x="5956560" y="6345720"/>
              <a:ext cx="601560" cy="300240"/>
              <a:chOff x="5956560" y="6345720"/>
              <a:chExt cx="601560" cy="300240"/>
            </a:xfrm>
          </p:grpSpPr>
          <p:sp>
            <p:nvSpPr>
              <p:cNvPr id="62" name="Google Shape;493;p9"/>
              <p:cNvSpPr/>
              <p:nvPr/>
            </p:nvSpPr>
            <p:spPr>
              <a:xfrm>
                <a:off x="62578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Google Shape;494;p9"/>
              <p:cNvSpPr/>
              <p:nvPr/>
            </p:nvSpPr>
            <p:spPr>
              <a:xfrm>
                <a:off x="62578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w="434975" h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Google Shape;495;p9"/>
              <p:cNvSpPr/>
              <p:nvPr/>
            </p:nvSpPr>
            <p:spPr>
              <a:xfrm>
                <a:off x="595656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Google Shape;496;p9"/>
              <p:cNvSpPr/>
              <p:nvPr/>
            </p:nvSpPr>
            <p:spPr>
              <a:xfrm>
                <a:off x="6012360" y="640116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Google Shape;497;p9"/>
              <p:cNvSpPr/>
              <p:nvPr/>
            </p:nvSpPr>
            <p:spPr>
              <a:xfrm>
                <a:off x="6070680" y="644040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90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7" name="Google Shape;498;p9"/>
            <p:cNvGrpSpPr/>
            <p:nvPr/>
          </p:nvGrpSpPr>
          <p:grpSpPr>
            <a:xfrm>
              <a:off x="5605920" y="6344640"/>
              <a:ext cx="349920" cy="300240"/>
              <a:chOff x="5605920" y="6344640"/>
              <a:chExt cx="349920" cy="300240"/>
            </a:xfrm>
          </p:grpSpPr>
          <p:sp>
            <p:nvSpPr>
              <p:cNvPr id="68" name="Google Shape;499;p9"/>
              <p:cNvSpPr/>
              <p:nvPr/>
            </p:nvSpPr>
            <p:spPr>
              <a:xfrm>
                <a:off x="5605920" y="634464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Google Shape;500;p9"/>
              <p:cNvSpPr/>
              <p:nvPr/>
            </p:nvSpPr>
            <p:spPr>
              <a:xfrm>
                <a:off x="5742000" y="643968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5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Google Shape;501;p9"/>
            <p:cNvSpPr/>
            <p:nvPr/>
          </p:nvSpPr>
          <p:spPr>
            <a:xfrm>
              <a:off x="8767080" y="6346080"/>
              <a:ext cx="301320" cy="300240"/>
            </a:xfrm>
            <a:custGeom>
              <a:avLst/>
              <a:gdLst>
                <a:gd name="textAreaLeft" fmla="*/ 0 w 301320"/>
                <a:gd name="textAreaRight" fmla="*/ 302400 w 301320"/>
                <a:gd name="textAreaTop" fmla="*/ 0 h 300240"/>
                <a:gd name="textAreaBottom" fmla="*/ 301320 h 300240"/>
              </a:gdLst>
              <a:ahLst/>
              <a:cxnLst/>
              <a:rect l="textAreaLeft" t="textAreaTop" r="textAreaRight" b="textAreaBottom"/>
              <a:pathLst>
                <a:path w="436244" h="43497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4" h="43497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4" h="43497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4" h="43497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4" h="43497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4" h="434975">
                  <a:moveTo>
                    <a:pt x="435978" y="101"/>
                  </a:moveTo>
                </a:path>
                <a:path w="436244" h="434975">
                  <a:moveTo>
                    <a:pt x="435978" y="50"/>
                  </a:moveTo>
                </a:path>
                <a:path w="436244" h="43497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4" h="43497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4" h="43497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4" h="43497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" name="Google Shape;502;p9"/>
            <p:cNvGrpSpPr/>
            <p:nvPr/>
          </p:nvGrpSpPr>
          <p:grpSpPr>
            <a:xfrm>
              <a:off x="7513200" y="6346080"/>
              <a:ext cx="601560" cy="300240"/>
              <a:chOff x="7513200" y="6346080"/>
              <a:chExt cx="601560" cy="300240"/>
            </a:xfrm>
          </p:grpSpPr>
          <p:sp>
            <p:nvSpPr>
              <p:cNvPr id="72" name="Google Shape;503;p9"/>
              <p:cNvSpPr/>
              <p:nvPr/>
            </p:nvSpPr>
            <p:spPr>
              <a:xfrm>
                <a:off x="78145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Google Shape;504;p9"/>
              <p:cNvSpPr/>
              <p:nvPr/>
            </p:nvSpPr>
            <p:spPr>
              <a:xfrm>
                <a:off x="78145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w="434975" h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w="434975" h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Google Shape;505;p9"/>
              <p:cNvSpPr/>
              <p:nvPr/>
            </p:nvSpPr>
            <p:spPr>
              <a:xfrm>
                <a:off x="751320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Google Shape;506;p9"/>
              <p:cNvSpPr/>
              <p:nvPr/>
            </p:nvSpPr>
            <p:spPr>
              <a:xfrm>
                <a:off x="7569000" y="640188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Google Shape;507;p9"/>
              <p:cNvSpPr/>
              <p:nvPr/>
            </p:nvSpPr>
            <p:spPr>
              <a:xfrm>
                <a:off x="7627320" y="644076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90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7" name="Google Shape;508;p9"/>
            <p:cNvGrpSpPr/>
            <p:nvPr/>
          </p:nvGrpSpPr>
          <p:grpSpPr>
            <a:xfrm>
              <a:off x="6861600" y="6345000"/>
              <a:ext cx="650880" cy="301320"/>
              <a:chOff x="6861600" y="6345000"/>
              <a:chExt cx="650880" cy="301320"/>
            </a:xfrm>
          </p:grpSpPr>
          <p:sp>
            <p:nvSpPr>
              <p:cNvPr id="78" name="Google Shape;509;p9"/>
              <p:cNvSpPr/>
              <p:nvPr/>
            </p:nvSpPr>
            <p:spPr>
              <a:xfrm>
                <a:off x="6861960" y="6346080"/>
                <a:ext cx="299880" cy="300240"/>
              </a:xfrm>
              <a:custGeom>
                <a:avLst/>
                <a:gdLst>
                  <a:gd name="textAreaLeft" fmla="*/ 0 w 299880"/>
                  <a:gd name="textAreaRight" fmla="*/ 300960 w 29988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340" h="434975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Google Shape;510;p9"/>
              <p:cNvSpPr/>
              <p:nvPr/>
            </p:nvSpPr>
            <p:spPr>
              <a:xfrm>
                <a:off x="6861600" y="6435000"/>
                <a:ext cx="210960" cy="210960"/>
              </a:xfrm>
              <a:custGeom>
                <a:avLst/>
                <a:gdLst>
                  <a:gd name="textAreaLeft" fmla="*/ 0 w 210960"/>
                  <a:gd name="textAreaRight" fmla="*/ 212040 w 210960"/>
                  <a:gd name="textAreaTop" fmla="*/ 0 h 210960"/>
                  <a:gd name="textAreaBottom" fmla="*/ 212040 h 210960"/>
                </a:gdLst>
                <a:ahLst/>
                <a:cxnLst/>
                <a:rect l="textAreaLeft" t="textAreaTop" r="textAreaRight" b="textAreaBottom"/>
                <a:pathLst>
                  <a:path w="306070" h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80" name="Google Shape;511;p9"/>
              <p:cNvPicPr/>
              <p:nvPr/>
            </p:nvPicPr>
            <p:blipFill>
              <a:blip r:embed="rId10"/>
              <a:stretch/>
            </p:blipFill>
            <p:spPr>
              <a:xfrm>
                <a:off x="6861600" y="6435000"/>
                <a:ext cx="210600" cy="210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81" name="Google Shape;512;p9"/>
              <p:cNvSpPr/>
              <p:nvPr/>
            </p:nvSpPr>
            <p:spPr>
              <a:xfrm>
                <a:off x="716256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Google Shape;513;p9"/>
              <p:cNvSpPr/>
              <p:nvPr/>
            </p:nvSpPr>
            <p:spPr>
              <a:xfrm>
                <a:off x="7298640" y="644040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5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3" name="Google Shape;514;p9"/>
            <p:cNvGrpSpPr/>
            <p:nvPr/>
          </p:nvGrpSpPr>
          <p:grpSpPr>
            <a:xfrm>
              <a:off x="8115840" y="6346080"/>
              <a:ext cx="650880" cy="300240"/>
              <a:chOff x="8115840" y="6346080"/>
              <a:chExt cx="650880" cy="300240"/>
            </a:xfrm>
          </p:grpSpPr>
          <p:sp>
            <p:nvSpPr>
              <p:cNvPr id="84" name="Google Shape;515;p9"/>
              <p:cNvSpPr/>
              <p:nvPr/>
            </p:nvSpPr>
            <p:spPr>
              <a:xfrm>
                <a:off x="81158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Google Shape;516;p9"/>
              <p:cNvSpPr/>
              <p:nvPr/>
            </p:nvSpPr>
            <p:spPr>
              <a:xfrm>
                <a:off x="81158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Google Shape;517;p9"/>
              <p:cNvSpPr/>
              <p:nvPr/>
            </p:nvSpPr>
            <p:spPr>
              <a:xfrm>
                <a:off x="8115840" y="645372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87" name="Google Shape;518;p9"/>
              <p:cNvPicPr/>
              <p:nvPr/>
            </p:nvPicPr>
            <p:blipFill>
              <a:blip r:embed="rId11"/>
              <a:stretch/>
            </p:blipFill>
            <p:spPr>
              <a:xfrm>
                <a:off x="8115840" y="645372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88" name="Google Shape;519;p9"/>
              <p:cNvSpPr/>
              <p:nvPr/>
            </p:nvSpPr>
            <p:spPr>
              <a:xfrm>
                <a:off x="841680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Google Shape;520;p9"/>
              <p:cNvSpPr/>
              <p:nvPr/>
            </p:nvSpPr>
            <p:spPr>
              <a:xfrm>
                <a:off x="841680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0" name="Google Shape;521;p9"/>
            <p:cNvGrpSpPr/>
            <p:nvPr/>
          </p:nvGrpSpPr>
          <p:grpSpPr>
            <a:xfrm>
              <a:off x="6560280" y="6344640"/>
              <a:ext cx="300240" cy="300240"/>
              <a:chOff x="6560280" y="6344640"/>
              <a:chExt cx="300240" cy="300240"/>
            </a:xfrm>
          </p:grpSpPr>
          <p:sp>
            <p:nvSpPr>
              <p:cNvPr id="91" name="Google Shape;522;p9"/>
              <p:cNvSpPr/>
              <p:nvPr/>
            </p:nvSpPr>
            <p:spPr>
              <a:xfrm>
                <a:off x="6560280" y="634464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Google Shape;523;p9"/>
              <p:cNvSpPr/>
              <p:nvPr/>
            </p:nvSpPr>
            <p:spPr>
              <a:xfrm>
                <a:off x="6601320" y="638568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5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93" name="Google Shape;524;p9"/>
              <p:cNvPicPr/>
              <p:nvPr/>
            </p:nvPicPr>
            <p:blipFill>
              <a:blip r:embed="rId12"/>
              <a:stretch/>
            </p:blipFill>
            <p:spPr>
              <a:xfrm>
                <a:off x="6680520" y="645084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pic>
        <p:nvPicPr>
          <p:cNvPr id="94" name="Google Shape;525;p9"/>
          <p:cNvPicPr/>
          <p:nvPr/>
        </p:nvPicPr>
        <p:blipFill>
          <a:blip r:embed="rId13"/>
          <a:stretch/>
        </p:blipFill>
        <p:spPr>
          <a:xfrm>
            <a:off x="9929160" y="295200"/>
            <a:ext cx="1971360" cy="5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Google Shape;526;p9"/>
          <p:cNvSpPr/>
          <p:nvPr/>
        </p:nvSpPr>
        <p:spPr>
          <a:xfrm>
            <a:off x="7142760" y="6258960"/>
            <a:ext cx="4861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sng" strike="noStrike">
                <a:solidFill>
                  <a:schemeClr val="lt1"/>
                </a:solidFill>
                <a:effectLst/>
                <a:uFillTx/>
                <a:latin typeface="Poppins Light"/>
                <a:ea typeface="Poppins Light"/>
                <a:hlinkClick r:id="rId14"/>
              </a:rPr>
              <a:t>Interledger.org</a:t>
            </a:r>
            <a:r>
              <a:rPr lang="en-MY" sz="1000" b="0" u="none" strike="noStrike">
                <a:solidFill>
                  <a:schemeClr val="lt1"/>
                </a:solidFill>
                <a:effectLst/>
                <a:uFillTx/>
                <a:latin typeface="Poppins Light"/>
                <a:ea typeface="Poppins Light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none" strike="noStrike">
                <a:solidFill>
                  <a:schemeClr val="lt1"/>
                </a:solidFill>
                <a:effectLst/>
                <a:uFillTx/>
                <a:latin typeface="Poppins Light"/>
                <a:ea typeface="Poppins Light"/>
              </a:rPr>
              <a:t>#OpenPayments #ILPHacks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3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10;p1"/>
          <p:cNvPicPr/>
          <p:nvPr/>
        </p:nvPicPr>
        <p:blipFill>
          <a:blip r:embed="rId2"/>
          <a:stretch/>
        </p:blipFill>
        <p:spPr>
          <a:xfrm>
            <a:off x="9929160" y="295200"/>
            <a:ext cx="1971360" cy="5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Google Shape;11;p1"/>
          <p:cNvSpPr/>
          <p:nvPr/>
        </p:nvSpPr>
        <p:spPr>
          <a:xfrm>
            <a:off x="7142760" y="6258960"/>
            <a:ext cx="4861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sng" strike="noStrike">
                <a:solidFill>
                  <a:srgbClr val="467886"/>
                </a:solidFill>
                <a:effectLst/>
                <a:uFillTx/>
                <a:latin typeface="Poppins Light"/>
                <a:ea typeface="Poppins Light"/>
                <a:hlinkClick r:id="rId3"/>
              </a:rPr>
              <a:t>Interledger.org</a:t>
            </a: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#OpenPayments #ILPHacks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body"/>
          </p:nvPr>
        </p:nvSpPr>
        <p:spPr>
          <a:xfrm>
            <a:off x="7142760" y="6566760"/>
            <a:ext cx="4861440" cy="2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2296080" y="1614600"/>
            <a:ext cx="7590600" cy="292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" name="Google Shape;530;p10"/>
          <p:cNvGrpSpPr/>
          <p:nvPr/>
        </p:nvGrpSpPr>
        <p:grpSpPr>
          <a:xfrm>
            <a:off x="0" y="6344640"/>
            <a:ext cx="9068400" cy="301680"/>
            <a:chOff x="0" y="6344640"/>
            <a:chExt cx="9068400" cy="301680"/>
          </a:xfrm>
        </p:grpSpPr>
        <p:grpSp>
          <p:nvGrpSpPr>
            <p:cNvPr id="102" name="Google Shape;531;p10"/>
            <p:cNvGrpSpPr/>
            <p:nvPr/>
          </p:nvGrpSpPr>
          <p:grpSpPr>
            <a:xfrm>
              <a:off x="0" y="6345000"/>
              <a:ext cx="593640" cy="300600"/>
              <a:chOff x="0" y="6345000"/>
              <a:chExt cx="593640" cy="300600"/>
            </a:xfrm>
          </p:grpSpPr>
          <p:sp>
            <p:nvSpPr>
              <p:cNvPr id="103" name="Google Shape;532;p10"/>
              <p:cNvSpPr/>
              <p:nvPr/>
            </p:nvSpPr>
            <p:spPr>
              <a:xfrm>
                <a:off x="0" y="6345360"/>
                <a:ext cx="292320" cy="292320"/>
              </a:xfrm>
              <a:custGeom>
                <a:avLst/>
                <a:gdLst>
                  <a:gd name="textAreaLeft" fmla="*/ 0 w 292320"/>
                  <a:gd name="textAreaRight" fmla="*/ 293400 w 292320"/>
                  <a:gd name="textAreaTop" fmla="*/ 0 h 292320"/>
                  <a:gd name="textAreaBottom" fmla="*/ 293400 h 292320"/>
                </a:gdLst>
                <a:ahLst/>
                <a:cxnLst/>
                <a:rect l="textAreaLeft" t="textAreaTop" r="textAreaRight" b="textAreaBottom"/>
                <a:pathLst>
                  <a:path w="423545" h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w="423545" h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w="423545" h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w="423545" h="423545">
                    <a:moveTo>
                      <a:pt x="423379" y="38"/>
                    </a:moveTo>
                  </a:path>
                  <a:path w="423545" h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Google Shape;533;p10"/>
              <p:cNvSpPr/>
              <p:nvPr/>
            </p:nvSpPr>
            <p:spPr>
              <a:xfrm>
                <a:off x="2934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Google Shape;534;p10"/>
              <p:cNvSpPr/>
              <p:nvPr/>
            </p:nvSpPr>
            <p:spPr>
              <a:xfrm>
                <a:off x="2934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Google Shape;535;p10"/>
              <p:cNvSpPr/>
              <p:nvPr/>
            </p:nvSpPr>
            <p:spPr>
              <a:xfrm>
                <a:off x="293400" y="645300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07" name="Google Shape;536;p10"/>
              <p:cNvPicPr/>
              <p:nvPr/>
            </p:nvPicPr>
            <p:blipFill>
              <a:blip r:embed="rId4"/>
              <a:stretch/>
            </p:blipFill>
            <p:spPr>
              <a:xfrm>
                <a:off x="293400" y="645300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108" name="Google Shape;537;p10"/>
            <p:cNvGrpSpPr/>
            <p:nvPr/>
          </p:nvGrpSpPr>
          <p:grpSpPr>
            <a:xfrm>
              <a:off x="594720" y="6345000"/>
              <a:ext cx="951840" cy="300240"/>
              <a:chOff x="594720" y="6345000"/>
              <a:chExt cx="951840" cy="300240"/>
            </a:xfrm>
          </p:grpSpPr>
          <p:sp>
            <p:nvSpPr>
              <p:cNvPr id="109" name="Google Shape;538;p10"/>
              <p:cNvSpPr/>
              <p:nvPr/>
            </p:nvSpPr>
            <p:spPr>
              <a:xfrm>
                <a:off x="94536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Google Shape;539;p10"/>
              <p:cNvSpPr/>
              <p:nvPr/>
            </p:nvSpPr>
            <p:spPr>
              <a:xfrm>
                <a:off x="945360" y="6366600"/>
                <a:ext cx="300240" cy="25776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257760"/>
                  <a:gd name="textAreaBottom" fmla="*/ 258840 h 257760"/>
                </a:gdLst>
                <a:ahLst/>
                <a:cxnLst/>
                <a:rect l="textAreaLeft" t="textAreaTop" r="textAreaRight" b="textAreaBottom"/>
                <a:pathLst>
                  <a:path w="434975" h="373379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w="434975" h="373379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w="434975" h="373379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w="434975" h="373379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w="434975" h="373379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w="434975" h="373379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w="434975" h="373379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w="434975" h="373379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w="434975" h="373379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w="434975" h="373379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w="434975" h="373379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w="434975" h="373379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w="434975" h="373379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w="434975" h="373379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w="434975" h="373379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w="434975" h="373379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Google Shape;540;p10"/>
              <p:cNvSpPr/>
              <p:nvPr/>
            </p:nvSpPr>
            <p:spPr>
              <a:xfrm>
                <a:off x="124632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Google Shape;541;p10"/>
              <p:cNvSpPr/>
              <p:nvPr/>
            </p:nvSpPr>
            <p:spPr>
              <a:xfrm>
                <a:off x="1287360" y="638604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4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13" name="Google Shape;542;p10"/>
              <p:cNvPicPr/>
              <p:nvPr/>
            </p:nvPicPr>
            <p:blipFill>
              <a:blip r:embed="rId5"/>
              <a:stretch/>
            </p:blipFill>
            <p:spPr>
              <a:xfrm>
                <a:off x="1366560" y="645120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14" name="Google Shape;543;p10"/>
              <p:cNvSpPr/>
              <p:nvPr/>
            </p:nvSpPr>
            <p:spPr>
              <a:xfrm>
                <a:off x="59472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Google Shape;544;p10"/>
              <p:cNvSpPr/>
              <p:nvPr/>
            </p:nvSpPr>
            <p:spPr>
              <a:xfrm>
                <a:off x="59472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30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30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6" name="Google Shape;545;p10"/>
            <p:cNvGrpSpPr/>
            <p:nvPr/>
          </p:nvGrpSpPr>
          <p:grpSpPr>
            <a:xfrm>
              <a:off x="1898280" y="6345720"/>
              <a:ext cx="601560" cy="300240"/>
              <a:chOff x="1898280" y="6345720"/>
              <a:chExt cx="601560" cy="300240"/>
            </a:xfrm>
          </p:grpSpPr>
          <p:sp>
            <p:nvSpPr>
              <p:cNvPr id="117" name="Google Shape;546;p10"/>
              <p:cNvSpPr/>
              <p:nvPr/>
            </p:nvSpPr>
            <p:spPr>
              <a:xfrm>
                <a:off x="219960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Google Shape;547;p10"/>
              <p:cNvSpPr/>
              <p:nvPr/>
            </p:nvSpPr>
            <p:spPr>
              <a:xfrm>
                <a:off x="219960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w="434975" h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Google Shape;548;p10"/>
              <p:cNvSpPr/>
              <p:nvPr/>
            </p:nvSpPr>
            <p:spPr>
              <a:xfrm>
                <a:off x="18982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Google Shape;549;p10"/>
              <p:cNvSpPr/>
              <p:nvPr/>
            </p:nvSpPr>
            <p:spPr>
              <a:xfrm>
                <a:off x="1954080" y="640116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19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Google Shape;550;p10"/>
              <p:cNvSpPr/>
              <p:nvPr/>
            </p:nvSpPr>
            <p:spPr>
              <a:xfrm>
                <a:off x="2012400" y="644040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89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2" name="Google Shape;551;p10"/>
            <p:cNvGrpSpPr/>
            <p:nvPr/>
          </p:nvGrpSpPr>
          <p:grpSpPr>
            <a:xfrm>
              <a:off x="1547640" y="6344640"/>
              <a:ext cx="349920" cy="300240"/>
              <a:chOff x="1547640" y="6344640"/>
              <a:chExt cx="349920" cy="300240"/>
            </a:xfrm>
          </p:grpSpPr>
          <p:sp>
            <p:nvSpPr>
              <p:cNvPr id="123" name="Google Shape;552;p10"/>
              <p:cNvSpPr/>
              <p:nvPr/>
            </p:nvSpPr>
            <p:spPr>
              <a:xfrm>
                <a:off x="1547640" y="634464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Google Shape;553;p10"/>
              <p:cNvSpPr/>
              <p:nvPr/>
            </p:nvSpPr>
            <p:spPr>
              <a:xfrm>
                <a:off x="1683720" y="643968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4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" name="Google Shape;554;p10"/>
            <p:cNvSpPr/>
            <p:nvPr/>
          </p:nvSpPr>
          <p:spPr>
            <a:xfrm>
              <a:off x="4708800" y="6346080"/>
              <a:ext cx="301320" cy="300240"/>
            </a:xfrm>
            <a:custGeom>
              <a:avLst/>
              <a:gdLst>
                <a:gd name="textAreaLeft" fmla="*/ 0 w 301320"/>
                <a:gd name="textAreaRight" fmla="*/ 302400 w 301320"/>
                <a:gd name="textAreaTop" fmla="*/ 0 h 300240"/>
                <a:gd name="textAreaBottom" fmla="*/ 301320 h 300240"/>
              </a:gdLst>
              <a:ahLst/>
              <a:cxnLst/>
              <a:rect l="textAreaLeft" t="textAreaTop" r="textAreaRight" b="textAreaBottom"/>
              <a:pathLst>
                <a:path w="436245" h="43497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5" h="43497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5" h="43497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5" h="43497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5" h="43497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5" h="434975">
                  <a:moveTo>
                    <a:pt x="435978" y="101"/>
                  </a:moveTo>
                </a:path>
                <a:path w="436245" h="434975">
                  <a:moveTo>
                    <a:pt x="435978" y="50"/>
                  </a:moveTo>
                </a:path>
                <a:path w="436245" h="43497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5" h="43497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5" h="43497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5" h="43497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" name="Google Shape;555;p10"/>
            <p:cNvGrpSpPr/>
            <p:nvPr/>
          </p:nvGrpSpPr>
          <p:grpSpPr>
            <a:xfrm>
              <a:off x="3454920" y="6346080"/>
              <a:ext cx="601560" cy="300240"/>
              <a:chOff x="3454920" y="6346080"/>
              <a:chExt cx="601560" cy="300240"/>
            </a:xfrm>
          </p:grpSpPr>
          <p:sp>
            <p:nvSpPr>
              <p:cNvPr id="127" name="Google Shape;556;p10"/>
              <p:cNvSpPr/>
              <p:nvPr/>
            </p:nvSpPr>
            <p:spPr>
              <a:xfrm>
                <a:off x="37562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Google Shape;557;p10"/>
              <p:cNvSpPr/>
              <p:nvPr/>
            </p:nvSpPr>
            <p:spPr>
              <a:xfrm>
                <a:off x="37562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w="434975" h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w="434975" h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Google Shape;558;p10"/>
              <p:cNvSpPr/>
              <p:nvPr/>
            </p:nvSpPr>
            <p:spPr>
              <a:xfrm>
                <a:off x="34549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Google Shape;559;p10"/>
              <p:cNvSpPr/>
              <p:nvPr/>
            </p:nvSpPr>
            <p:spPr>
              <a:xfrm>
                <a:off x="3510720" y="640188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Google Shape;560;p10"/>
              <p:cNvSpPr/>
              <p:nvPr/>
            </p:nvSpPr>
            <p:spPr>
              <a:xfrm>
                <a:off x="3569040" y="644076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89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2" name="Google Shape;561;p10"/>
            <p:cNvGrpSpPr/>
            <p:nvPr/>
          </p:nvGrpSpPr>
          <p:grpSpPr>
            <a:xfrm>
              <a:off x="2803320" y="6345000"/>
              <a:ext cx="650880" cy="301320"/>
              <a:chOff x="2803320" y="6345000"/>
              <a:chExt cx="650880" cy="301320"/>
            </a:xfrm>
          </p:grpSpPr>
          <p:sp>
            <p:nvSpPr>
              <p:cNvPr id="133" name="Google Shape;562;p10"/>
              <p:cNvSpPr/>
              <p:nvPr/>
            </p:nvSpPr>
            <p:spPr>
              <a:xfrm>
                <a:off x="2803680" y="6346080"/>
                <a:ext cx="299880" cy="300240"/>
              </a:xfrm>
              <a:custGeom>
                <a:avLst/>
                <a:gdLst>
                  <a:gd name="textAreaLeft" fmla="*/ 0 w 299880"/>
                  <a:gd name="textAreaRight" fmla="*/ 300960 w 29988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339" h="434975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Google Shape;563;p10"/>
              <p:cNvSpPr/>
              <p:nvPr/>
            </p:nvSpPr>
            <p:spPr>
              <a:xfrm>
                <a:off x="2803320" y="6435000"/>
                <a:ext cx="210960" cy="210960"/>
              </a:xfrm>
              <a:custGeom>
                <a:avLst/>
                <a:gdLst>
                  <a:gd name="textAreaLeft" fmla="*/ 0 w 210960"/>
                  <a:gd name="textAreaRight" fmla="*/ 212040 w 210960"/>
                  <a:gd name="textAreaTop" fmla="*/ 0 h 210960"/>
                  <a:gd name="textAreaBottom" fmla="*/ 212040 h 210960"/>
                </a:gdLst>
                <a:ahLst/>
                <a:cxnLst/>
                <a:rect l="textAreaLeft" t="textAreaTop" r="textAreaRight" b="textAreaBottom"/>
                <a:pathLst>
                  <a:path w="306070" h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35" name="Google Shape;564;p10"/>
              <p:cNvPicPr/>
              <p:nvPr/>
            </p:nvPicPr>
            <p:blipFill>
              <a:blip r:embed="rId6"/>
              <a:stretch/>
            </p:blipFill>
            <p:spPr>
              <a:xfrm>
                <a:off x="2803320" y="6435000"/>
                <a:ext cx="210600" cy="210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36" name="Google Shape;565;p10"/>
              <p:cNvSpPr/>
              <p:nvPr/>
            </p:nvSpPr>
            <p:spPr>
              <a:xfrm>
                <a:off x="310428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Google Shape;566;p10"/>
              <p:cNvSpPr/>
              <p:nvPr/>
            </p:nvSpPr>
            <p:spPr>
              <a:xfrm>
                <a:off x="3240360" y="644040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4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8" name="Google Shape;567;p10"/>
            <p:cNvGrpSpPr/>
            <p:nvPr/>
          </p:nvGrpSpPr>
          <p:grpSpPr>
            <a:xfrm>
              <a:off x="4057560" y="6346080"/>
              <a:ext cx="650880" cy="300240"/>
              <a:chOff x="4057560" y="6346080"/>
              <a:chExt cx="650880" cy="300240"/>
            </a:xfrm>
          </p:grpSpPr>
          <p:sp>
            <p:nvSpPr>
              <p:cNvPr id="139" name="Google Shape;568;p10"/>
              <p:cNvSpPr/>
              <p:nvPr/>
            </p:nvSpPr>
            <p:spPr>
              <a:xfrm>
                <a:off x="405756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Google Shape;569;p10"/>
              <p:cNvSpPr/>
              <p:nvPr/>
            </p:nvSpPr>
            <p:spPr>
              <a:xfrm>
                <a:off x="405756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Google Shape;570;p10"/>
              <p:cNvSpPr/>
              <p:nvPr/>
            </p:nvSpPr>
            <p:spPr>
              <a:xfrm>
                <a:off x="4057560" y="645372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42" name="Google Shape;571;p10"/>
              <p:cNvPicPr/>
              <p:nvPr/>
            </p:nvPicPr>
            <p:blipFill>
              <a:blip r:embed="rId7"/>
              <a:stretch/>
            </p:blipFill>
            <p:spPr>
              <a:xfrm>
                <a:off x="4057560" y="645372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43" name="Google Shape;572;p10"/>
              <p:cNvSpPr/>
              <p:nvPr/>
            </p:nvSpPr>
            <p:spPr>
              <a:xfrm>
                <a:off x="435852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Google Shape;573;p10"/>
              <p:cNvSpPr/>
              <p:nvPr/>
            </p:nvSpPr>
            <p:spPr>
              <a:xfrm>
                <a:off x="435852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5" name="Google Shape;574;p10"/>
            <p:cNvGrpSpPr/>
            <p:nvPr/>
          </p:nvGrpSpPr>
          <p:grpSpPr>
            <a:xfrm>
              <a:off x="2502000" y="6344640"/>
              <a:ext cx="300240" cy="300240"/>
              <a:chOff x="2502000" y="6344640"/>
              <a:chExt cx="300240" cy="300240"/>
            </a:xfrm>
          </p:grpSpPr>
          <p:sp>
            <p:nvSpPr>
              <p:cNvPr id="146" name="Google Shape;575;p10"/>
              <p:cNvSpPr/>
              <p:nvPr/>
            </p:nvSpPr>
            <p:spPr>
              <a:xfrm>
                <a:off x="2502000" y="634464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Google Shape;576;p10"/>
              <p:cNvSpPr/>
              <p:nvPr/>
            </p:nvSpPr>
            <p:spPr>
              <a:xfrm>
                <a:off x="2543040" y="638568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4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48" name="Google Shape;577;p10"/>
              <p:cNvPicPr/>
              <p:nvPr/>
            </p:nvPicPr>
            <p:blipFill>
              <a:blip r:embed="rId8"/>
              <a:stretch/>
            </p:blipFill>
            <p:spPr>
              <a:xfrm>
                <a:off x="2622240" y="645084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149" name="Google Shape;578;p10"/>
            <p:cNvGrpSpPr/>
            <p:nvPr/>
          </p:nvGrpSpPr>
          <p:grpSpPr>
            <a:xfrm>
              <a:off x="5007960" y="6345000"/>
              <a:ext cx="596880" cy="300240"/>
              <a:chOff x="5007960" y="6345000"/>
              <a:chExt cx="596880" cy="300240"/>
            </a:xfrm>
          </p:grpSpPr>
          <p:sp>
            <p:nvSpPr>
              <p:cNvPr id="150" name="Google Shape;579;p10"/>
              <p:cNvSpPr/>
              <p:nvPr/>
            </p:nvSpPr>
            <p:spPr>
              <a:xfrm>
                <a:off x="5007960" y="6345000"/>
                <a:ext cx="295920" cy="300240"/>
              </a:xfrm>
              <a:custGeom>
                <a:avLst/>
                <a:gdLst>
                  <a:gd name="textAreaLeft" fmla="*/ 0 w 295920"/>
                  <a:gd name="textAreaRight" fmla="*/ 297000 w 295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28625" h="43497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" name="Google Shape;580;p10"/>
              <p:cNvSpPr/>
              <p:nvPr/>
            </p:nvSpPr>
            <p:spPr>
              <a:xfrm>
                <a:off x="5007960" y="6366600"/>
                <a:ext cx="295920" cy="257760"/>
              </a:xfrm>
              <a:custGeom>
                <a:avLst/>
                <a:gdLst>
                  <a:gd name="textAreaLeft" fmla="*/ 0 w 295920"/>
                  <a:gd name="textAreaRight" fmla="*/ 297000 w 295920"/>
                  <a:gd name="textAreaTop" fmla="*/ 0 h 257760"/>
                  <a:gd name="textAreaBottom" fmla="*/ 258840 h 257760"/>
                </a:gdLst>
                <a:ahLst/>
                <a:cxnLst/>
                <a:rect l="textAreaLeft" t="textAreaTop" r="textAreaRight" b="textAreaBottom"/>
                <a:pathLst>
                  <a:path w="428625" h="373379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w="428625" h="373379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w="428625" h="373379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w="428625" h="373379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w="428625" h="373379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w="428625" h="373379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w="428625" h="373379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w="428625" h="373379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w="428625" h="373379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w="428625" h="373379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w="428625" h="373379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w="428625" h="373379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w="428625" h="373379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w="428625" h="373379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w="428625" h="373379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w="428625" h="373379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Google Shape;581;p10"/>
              <p:cNvSpPr/>
              <p:nvPr/>
            </p:nvSpPr>
            <p:spPr>
              <a:xfrm>
                <a:off x="53046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" name="Google Shape;582;p10"/>
              <p:cNvSpPr/>
              <p:nvPr/>
            </p:nvSpPr>
            <p:spPr>
              <a:xfrm>
                <a:off x="5345640" y="638604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5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54" name="Google Shape;583;p10"/>
              <p:cNvPicPr/>
              <p:nvPr/>
            </p:nvPicPr>
            <p:blipFill>
              <a:blip r:embed="rId9"/>
              <a:stretch/>
            </p:blipFill>
            <p:spPr>
              <a:xfrm>
                <a:off x="5424840" y="645120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155" name="Google Shape;584;p10"/>
            <p:cNvGrpSpPr/>
            <p:nvPr/>
          </p:nvGrpSpPr>
          <p:grpSpPr>
            <a:xfrm>
              <a:off x="5956560" y="6345720"/>
              <a:ext cx="601560" cy="300240"/>
              <a:chOff x="5956560" y="6345720"/>
              <a:chExt cx="601560" cy="300240"/>
            </a:xfrm>
          </p:grpSpPr>
          <p:sp>
            <p:nvSpPr>
              <p:cNvPr id="156" name="Google Shape;585;p10"/>
              <p:cNvSpPr/>
              <p:nvPr/>
            </p:nvSpPr>
            <p:spPr>
              <a:xfrm>
                <a:off x="62578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" name="Google Shape;586;p10"/>
              <p:cNvSpPr/>
              <p:nvPr/>
            </p:nvSpPr>
            <p:spPr>
              <a:xfrm>
                <a:off x="62578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w="434975" h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" name="Google Shape;587;p10"/>
              <p:cNvSpPr/>
              <p:nvPr/>
            </p:nvSpPr>
            <p:spPr>
              <a:xfrm>
                <a:off x="595656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" name="Google Shape;588;p10"/>
              <p:cNvSpPr/>
              <p:nvPr/>
            </p:nvSpPr>
            <p:spPr>
              <a:xfrm>
                <a:off x="6012360" y="640116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Google Shape;589;p10"/>
              <p:cNvSpPr/>
              <p:nvPr/>
            </p:nvSpPr>
            <p:spPr>
              <a:xfrm>
                <a:off x="6070680" y="644040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90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1" name="Google Shape;590;p10"/>
            <p:cNvGrpSpPr/>
            <p:nvPr/>
          </p:nvGrpSpPr>
          <p:grpSpPr>
            <a:xfrm>
              <a:off x="5605920" y="6344640"/>
              <a:ext cx="349920" cy="300240"/>
              <a:chOff x="5605920" y="6344640"/>
              <a:chExt cx="349920" cy="300240"/>
            </a:xfrm>
          </p:grpSpPr>
          <p:sp>
            <p:nvSpPr>
              <p:cNvPr id="162" name="Google Shape;591;p10"/>
              <p:cNvSpPr/>
              <p:nvPr/>
            </p:nvSpPr>
            <p:spPr>
              <a:xfrm>
                <a:off x="5605920" y="634464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Google Shape;592;p10"/>
              <p:cNvSpPr/>
              <p:nvPr/>
            </p:nvSpPr>
            <p:spPr>
              <a:xfrm>
                <a:off x="5742000" y="643968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5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64" name="Google Shape;593;p10"/>
            <p:cNvSpPr/>
            <p:nvPr/>
          </p:nvSpPr>
          <p:spPr>
            <a:xfrm>
              <a:off x="8767080" y="6346080"/>
              <a:ext cx="301320" cy="300240"/>
            </a:xfrm>
            <a:custGeom>
              <a:avLst/>
              <a:gdLst>
                <a:gd name="textAreaLeft" fmla="*/ 0 w 301320"/>
                <a:gd name="textAreaRight" fmla="*/ 302400 w 301320"/>
                <a:gd name="textAreaTop" fmla="*/ 0 h 300240"/>
                <a:gd name="textAreaBottom" fmla="*/ 301320 h 300240"/>
              </a:gdLst>
              <a:ahLst/>
              <a:cxnLst/>
              <a:rect l="textAreaLeft" t="textAreaTop" r="textAreaRight" b="textAreaBottom"/>
              <a:pathLst>
                <a:path w="436244" h="43497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4" h="43497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4" h="43497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4" h="43497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4" h="43497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4" h="434975">
                  <a:moveTo>
                    <a:pt x="435978" y="101"/>
                  </a:moveTo>
                </a:path>
                <a:path w="436244" h="434975">
                  <a:moveTo>
                    <a:pt x="435978" y="50"/>
                  </a:moveTo>
                </a:path>
                <a:path w="436244" h="43497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4" h="43497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4" h="43497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4" h="43497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5" name="Google Shape;594;p10"/>
            <p:cNvGrpSpPr/>
            <p:nvPr/>
          </p:nvGrpSpPr>
          <p:grpSpPr>
            <a:xfrm>
              <a:off x="7513200" y="6346080"/>
              <a:ext cx="601560" cy="300240"/>
              <a:chOff x="7513200" y="6346080"/>
              <a:chExt cx="601560" cy="300240"/>
            </a:xfrm>
          </p:grpSpPr>
          <p:sp>
            <p:nvSpPr>
              <p:cNvPr id="166" name="Google Shape;595;p10"/>
              <p:cNvSpPr/>
              <p:nvPr/>
            </p:nvSpPr>
            <p:spPr>
              <a:xfrm>
                <a:off x="78145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Google Shape;596;p10"/>
              <p:cNvSpPr/>
              <p:nvPr/>
            </p:nvSpPr>
            <p:spPr>
              <a:xfrm>
                <a:off x="78145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w="434975" h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w="434975" h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Google Shape;597;p10"/>
              <p:cNvSpPr/>
              <p:nvPr/>
            </p:nvSpPr>
            <p:spPr>
              <a:xfrm>
                <a:off x="751320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Google Shape;598;p10"/>
              <p:cNvSpPr/>
              <p:nvPr/>
            </p:nvSpPr>
            <p:spPr>
              <a:xfrm>
                <a:off x="7569000" y="640188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Google Shape;599;p10"/>
              <p:cNvSpPr/>
              <p:nvPr/>
            </p:nvSpPr>
            <p:spPr>
              <a:xfrm>
                <a:off x="7627320" y="644076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90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1" name="Google Shape;600;p10"/>
            <p:cNvGrpSpPr/>
            <p:nvPr/>
          </p:nvGrpSpPr>
          <p:grpSpPr>
            <a:xfrm>
              <a:off x="6861600" y="6345000"/>
              <a:ext cx="650880" cy="301320"/>
              <a:chOff x="6861600" y="6345000"/>
              <a:chExt cx="650880" cy="301320"/>
            </a:xfrm>
          </p:grpSpPr>
          <p:sp>
            <p:nvSpPr>
              <p:cNvPr id="172" name="Google Shape;601;p10"/>
              <p:cNvSpPr/>
              <p:nvPr/>
            </p:nvSpPr>
            <p:spPr>
              <a:xfrm>
                <a:off x="6861960" y="6346080"/>
                <a:ext cx="299880" cy="300240"/>
              </a:xfrm>
              <a:custGeom>
                <a:avLst/>
                <a:gdLst>
                  <a:gd name="textAreaLeft" fmla="*/ 0 w 299880"/>
                  <a:gd name="textAreaRight" fmla="*/ 300960 w 29988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340" h="434975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Google Shape;602;p10"/>
              <p:cNvSpPr/>
              <p:nvPr/>
            </p:nvSpPr>
            <p:spPr>
              <a:xfrm>
                <a:off x="6861600" y="6435000"/>
                <a:ext cx="210960" cy="210960"/>
              </a:xfrm>
              <a:custGeom>
                <a:avLst/>
                <a:gdLst>
                  <a:gd name="textAreaLeft" fmla="*/ 0 w 210960"/>
                  <a:gd name="textAreaRight" fmla="*/ 212040 w 210960"/>
                  <a:gd name="textAreaTop" fmla="*/ 0 h 210960"/>
                  <a:gd name="textAreaBottom" fmla="*/ 212040 h 210960"/>
                </a:gdLst>
                <a:ahLst/>
                <a:cxnLst/>
                <a:rect l="textAreaLeft" t="textAreaTop" r="textAreaRight" b="textAreaBottom"/>
                <a:pathLst>
                  <a:path w="306070" h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74" name="Google Shape;603;p10"/>
              <p:cNvPicPr/>
              <p:nvPr/>
            </p:nvPicPr>
            <p:blipFill>
              <a:blip r:embed="rId10"/>
              <a:stretch/>
            </p:blipFill>
            <p:spPr>
              <a:xfrm>
                <a:off x="6861600" y="6435000"/>
                <a:ext cx="210600" cy="210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75" name="Google Shape;604;p10"/>
              <p:cNvSpPr/>
              <p:nvPr/>
            </p:nvSpPr>
            <p:spPr>
              <a:xfrm>
                <a:off x="716256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Google Shape;605;p10"/>
              <p:cNvSpPr/>
              <p:nvPr/>
            </p:nvSpPr>
            <p:spPr>
              <a:xfrm>
                <a:off x="7298640" y="644040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5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7" name="Google Shape;606;p10"/>
            <p:cNvGrpSpPr/>
            <p:nvPr/>
          </p:nvGrpSpPr>
          <p:grpSpPr>
            <a:xfrm>
              <a:off x="8115840" y="6346080"/>
              <a:ext cx="650880" cy="300240"/>
              <a:chOff x="8115840" y="6346080"/>
              <a:chExt cx="650880" cy="300240"/>
            </a:xfrm>
          </p:grpSpPr>
          <p:sp>
            <p:nvSpPr>
              <p:cNvPr id="178" name="Google Shape;607;p10"/>
              <p:cNvSpPr/>
              <p:nvPr/>
            </p:nvSpPr>
            <p:spPr>
              <a:xfrm>
                <a:off x="81158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" name="Google Shape;608;p10"/>
              <p:cNvSpPr/>
              <p:nvPr/>
            </p:nvSpPr>
            <p:spPr>
              <a:xfrm>
                <a:off x="81158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" name="Google Shape;609;p10"/>
              <p:cNvSpPr/>
              <p:nvPr/>
            </p:nvSpPr>
            <p:spPr>
              <a:xfrm>
                <a:off x="8115840" y="645372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81" name="Google Shape;610;p10"/>
              <p:cNvPicPr/>
              <p:nvPr/>
            </p:nvPicPr>
            <p:blipFill>
              <a:blip r:embed="rId11"/>
              <a:stretch/>
            </p:blipFill>
            <p:spPr>
              <a:xfrm>
                <a:off x="8115840" y="645372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82" name="Google Shape;611;p10"/>
              <p:cNvSpPr/>
              <p:nvPr/>
            </p:nvSpPr>
            <p:spPr>
              <a:xfrm>
                <a:off x="841680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" name="Google Shape;612;p10"/>
              <p:cNvSpPr/>
              <p:nvPr/>
            </p:nvSpPr>
            <p:spPr>
              <a:xfrm>
                <a:off x="841680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4" name="Google Shape;613;p10"/>
            <p:cNvGrpSpPr/>
            <p:nvPr/>
          </p:nvGrpSpPr>
          <p:grpSpPr>
            <a:xfrm>
              <a:off x="6560280" y="6344640"/>
              <a:ext cx="300240" cy="300240"/>
              <a:chOff x="6560280" y="6344640"/>
              <a:chExt cx="300240" cy="300240"/>
            </a:xfrm>
          </p:grpSpPr>
          <p:sp>
            <p:nvSpPr>
              <p:cNvPr id="185" name="Google Shape;614;p10"/>
              <p:cNvSpPr/>
              <p:nvPr/>
            </p:nvSpPr>
            <p:spPr>
              <a:xfrm>
                <a:off x="6560280" y="634464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Google Shape;615;p10"/>
              <p:cNvSpPr/>
              <p:nvPr/>
            </p:nvSpPr>
            <p:spPr>
              <a:xfrm>
                <a:off x="6601320" y="638568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5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87" name="Google Shape;616;p10"/>
              <p:cNvPicPr/>
              <p:nvPr/>
            </p:nvPicPr>
            <p:blipFill>
              <a:blip r:embed="rId12"/>
              <a:stretch/>
            </p:blipFill>
            <p:spPr>
              <a:xfrm>
                <a:off x="6680520" y="645084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18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0;p1"/>
          <p:cNvPicPr/>
          <p:nvPr/>
        </p:nvPicPr>
        <p:blipFill>
          <a:blip r:embed="rId2"/>
          <a:stretch/>
        </p:blipFill>
        <p:spPr>
          <a:xfrm>
            <a:off x="9929160" y="295200"/>
            <a:ext cx="1971360" cy="5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Google Shape;11;p1"/>
          <p:cNvSpPr/>
          <p:nvPr/>
        </p:nvSpPr>
        <p:spPr>
          <a:xfrm>
            <a:off x="7142760" y="6258960"/>
            <a:ext cx="4861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sng" strike="noStrike">
                <a:solidFill>
                  <a:srgbClr val="467886"/>
                </a:solidFill>
                <a:effectLst/>
                <a:uFillTx/>
                <a:latin typeface="Poppins Light"/>
                <a:ea typeface="Poppins Light"/>
                <a:hlinkClick r:id="rId3"/>
              </a:rPr>
              <a:t>Interledger.org</a:t>
            </a: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#OpenPayments #ILPHacks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body"/>
          </p:nvPr>
        </p:nvSpPr>
        <p:spPr>
          <a:xfrm>
            <a:off x="271080" y="83304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271080" y="55872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401760" y="1491480"/>
            <a:ext cx="4318920" cy="431892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5688360" y="1801080"/>
            <a:ext cx="5389920" cy="4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5688360" y="2608560"/>
            <a:ext cx="5389920" cy="4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6"/>
          <p:cNvSpPr>
            <a:spLocks noGrp="1"/>
          </p:cNvSpPr>
          <p:nvPr>
            <p:ph type="body"/>
          </p:nvPr>
        </p:nvSpPr>
        <p:spPr>
          <a:xfrm>
            <a:off x="5688360" y="3416400"/>
            <a:ext cx="5389920" cy="4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7"/>
          <p:cNvSpPr>
            <a:spLocks noGrp="1"/>
          </p:cNvSpPr>
          <p:nvPr>
            <p:ph type="body"/>
          </p:nvPr>
        </p:nvSpPr>
        <p:spPr>
          <a:xfrm>
            <a:off x="5688360" y="4224240"/>
            <a:ext cx="5389920" cy="4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8"/>
          <p:cNvSpPr>
            <a:spLocks noGrp="1"/>
          </p:cNvSpPr>
          <p:nvPr>
            <p:ph type="body"/>
          </p:nvPr>
        </p:nvSpPr>
        <p:spPr>
          <a:xfrm>
            <a:off x="5688360" y="5032080"/>
            <a:ext cx="5389920" cy="4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9" name="Google Shape;38;p3"/>
          <p:cNvCxnSpPr/>
          <p:nvPr/>
        </p:nvCxnSpPr>
        <p:spPr>
          <a:xfrm flipH="1">
            <a:off x="5242320" y="2439000"/>
            <a:ext cx="5837760" cy="1080"/>
          </a:xfrm>
          <a:prstGeom prst="straightConnector1">
            <a:avLst/>
          </a:prstGeom>
          <a:ln w="9525">
            <a:solidFill>
              <a:schemeClr val="accent1">
                <a:alpha val="80000"/>
              </a:schemeClr>
            </a:solidFill>
            <a:miter/>
          </a:ln>
        </p:spPr>
      </p:cxnSp>
      <p:cxnSp>
        <p:nvCxnSpPr>
          <p:cNvPr id="200" name="Google Shape;39;p3"/>
          <p:cNvCxnSpPr/>
          <p:nvPr/>
        </p:nvCxnSpPr>
        <p:spPr>
          <a:xfrm flipH="1">
            <a:off x="5242320" y="3247200"/>
            <a:ext cx="5837760" cy="1080"/>
          </a:xfrm>
          <a:prstGeom prst="straightConnector1">
            <a:avLst/>
          </a:prstGeom>
          <a:ln w="9525">
            <a:solidFill>
              <a:schemeClr val="accent1">
                <a:alpha val="80000"/>
              </a:schemeClr>
            </a:solidFill>
            <a:miter/>
          </a:ln>
        </p:spPr>
      </p:cxnSp>
      <p:cxnSp>
        <p:nvCxnSpPr>
          <p:cNvPr id="201" name="Google Shape;40;p3"/>
          <p:cNvCxnSpPr/>
          <p:nvPr/>
        </p:nvCxnSpPr>
        <p:spPr>
          <a:xfrm flipH="1">
            <a:off x="5242320" y="4055400"/>
            <a:ext cx="5837760" cy="1080"/>
          </a:xfrm>
          <a:prstGeom prst="straightConnector1">
            <a:avLst/>
          </a:prstGeom>
          <a:ln w="9525">
            <a:solidFill>
              <a:schemeClr val="accent1">
                <a:alpha val="80000"/>
              </a:schemeClr>
            </a:solidFill>
            <a:miter/>
          </a:ln>
        </p:spPr>
      </p:cxnSp>
      <p:cxnSp>
        <p:nvCxnSpPr>
          <p:cNvPr id="202" name="Google Shape;41;p3"/>
          <p:cNvCxnSpPr/>
          <p:nvPr/>
        </p:nvCxnSpPr>
        <p:spPr>
          <a:xfrm flipH="1">
            <a:off x="5242320" y="4863600"/>
            <a:ext cx="5837760" cy="1080"/>
          </a:xfrm>
          <a:prstGeom prst="straightConnector1">
            <a:avLst/>
          </a:prstGeom>
          <a:ln w="9525">
            <a:solidFill>
              <a:schemeClr val="accent1">
                <a:alpha val="80000"/>
              </a:schemeClr>
            </a:solidFill>
            <a:miter/>
          </a:ln>
        </p:spPr>
      </p:cxnSp>
      <p:sp>
        <p:nvSpPr>
          <p:cNvPr id="203" name="PlaceHolder 9"/>
          <p:cNvSpPr>
            <a:spLocks noGrp="1"/>
          </p:cNvSpPr>
          <p:nvPr>
            <p:ph type="body"/>
          </p:nvPr>
        </p:nvSpPr>
        <p:spPr>
          <a:xfrm>
            <a:off x="7142760" y="6566760"/>
            <a:ext cx="4861440" cy="2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43;p3" descr="Arrow: Straight with solid fill"/>
          <p:cNvSpPr/>
          <p:nvPr/>
        </p:nvSpPr>
        <p:spPr>
          <a:xfrm flipH="1">
            <a:off x="5263560" y="1859040"/>
            <a:ext cx="35424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44;p3" descr="Arrow: Straight with solid fill"/>
          <p:cNvSpPr/>
          <p:nvPr/>
        </p:nvSpPr>
        <p:spPr>
          <a:xfrm flipH="1">
            <a:off x="5263560" y="2666880"/>
            <a:ext cx="35424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45;p3" descr="Arrow: Straight with solid fill"/>
          <p:cNvSpPr/>
          <p:nvPr/>
        </p:nvSpPr>
        <p:spPr>
          <a:xfrm flipH="1">
            <a:off x="5263560" y="3473640"/>
            <a:ext cx="35424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46;p3" descr="Arrow: Straight with solid fill"/>
          <p:cNvSpPr/>
          <p:nvPr/>
        </p:nvSpPr>
        <p:spPr>
          <a:xfrm flipH="1">
            <a:off x="5263560" y="4282560"/>
            <a:ext cx="35424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47;p3" descr="Arrow: Straight with solid fill"/>
          <p:cNvSpPr/>
          <p:nvPr/>
        </p:nvSpPr>
        <p:spPr>
          <a:xfrm flipH="1">
            <a:off x="5263560" y="5083920"/>
            <a:ext cx="35424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9" name="Google Shape;48;p3"/>
          <p:cNvGrpSpPr/>
          <p:nvPr/>
        </p:nvGrpSpPr>
        <p:grpSpPr>
          <a:xfrm>
            <a:off x="0" y="6344640"/>
            <a:ext cx="9068400" cy="301680"/>
            <a:chOff x="0" y="6344640"/>
            <a:chExt cx="9068400" cy="301680"/>
          </a:xfrm>
        </p:grpSpPr>
        <p:grpSp>
          <p:nvGrpSpPr>
            <p:cNvPr id="210" name="Google Shape;49;p3"/>
            <p:cNvGrpSpPr/>
            <p:nvPr/>
          </p:nvGrpSpPr>
          <p:grpSpPr>
            <a:xfrm>
              <a:off x="0" y="6345000"/>
              <a:ext cx="593640" cy="300600"/>
              <a:chOff x="0" y="6345000"/>
              <a:chExt cx="593640" cy="300600"/>
            </a:xfrm>
          </p:grpSpPr>
          <p:sp>
            <p:nvSpPr>
              <p:cNvPr id="211" name="Google Shape;50;p3"/>
              <p:cNvSpPr/>
              <p:nvPr/>
            </p:nvSpPr>
            <p:spPr>
              <a:xfrm>
                <a:off x="0" y="6345360"/>
                <a:ext cx="292320" cy="292320"/>
              </a:xfrm>
              <a:custGeom>
                <a:avLst/>
                <a:gdLst>
                  <a:gd name="textAreaLeft" fmla="*/ 0 w 292320"/>
                  <a:gd name="textAreaRight" fmla="*/ 293400 w 292320"/>
                  <a:gd name="textAreaTop" fmla="*/ 0 h 292320"/>
                  <a:gd name="textAreaBottom" fmla="*/ 293400 h 292320"/>
                </a:gdLst>
                <a:ahLst/>
                <a:cxnLst/>
                <a:rect l="textAreaLeft" t="textAreaTop" r="textAreaRight" b="textAreaBottom"/>
                <a:pathLst>
                  <a:path w="423545" h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w="423545" h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w="423545" h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w="423545" h="423545">
                    <a:moveTo>
                      <a:pt x="423379" y="38"/>
                    </a:moveTo>
                  </a:path>
                  <a:path w="423545" h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" name="Google Shape;51;p3"/>
              <p:cNvSpPr/>
              <p:nvPr/>
            </p:nvSpPr>
            <p:spPr>
              <a:xfrm>
                <a:off x="2934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" name="Google Shape;52;p3"/>
              <p:cNvSpPr/>
              <p:nvPr/>
            </p:nvSpPr>
            <p:spPr>
              <a:xfrm>
                <a:off x="2934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" name="Google Shape;53;p3"/>
              <p:cNvSpPr/>
              <p:nvPr/>
            </p:nvSpPr>
            <p:spPr>
              <a:xfrm>
                <a:off x="293400" y="645300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15" name="Google Shape;54;p3"/>
              <p:cNvPicPr/>
              <p:nvPr/>
            </p:nvPicPr>
            <p:blipFill>
              <a:blip r:embed="rId4"/>
              <a:stretch/>
            </p:blipFill>
            <p:spPr>
              <a:xfrm>
                <a:off x="293400" y="645300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16" name="Google Shape;55;p3"/>
            <p:cNvGrpSpPr/>
            <p:nvPr/>
          </p:nvGrpSpPr>
          <p:grpSpPr>
            <a:xfrm>
              <a:off x="594720" y="6345000"/>
              <a:ext cx="951840" cy="300240"/>
              <a:chOff x="594720" y="6345000"/>
              <a:chExt cx="951840" cy="300240"/>
            </a:xfrm>
          </p:grpSpPr>
          <p:sp>
            <p:nvSpPr>
              <p:cNvPr id="217" name="Google Shape;56;p3"/>
              <p:cNvSpPr/>
              <p:nvPr/>
            </p:nvSpPr>
            <p:spPr>
              <a:xfrm>
                <a:off x="94536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" name="Google Shape;57;p3"/>
              <p:cNvSpPr/>
              <p:nvPr/>
            </p:nvSpPr>
            <p:spPr>
              <a:xfrm>
                <a:off x="945360" y="6366600"/>
                <a:ext cx="300240" cy="25776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257760"/>
                  <a:gd name="textAreaBottom" fmla="*/ 258840 h 257760"/>
                </a:gdLst>
                <a:ahLst/>
                <a:cxnLst/>
                <a:rect l="textAreaLeft" t="textAreaTop" r="textAreaRight" b="textAreaBottom"/>
                <a:pathLst>
                  <a:path w="434975" h="373379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w="434975" h="373379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w="434975" h="373379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w="434975" h="373379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w="434975" h="373379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w="434975" h="373379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w="434975" h="373379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w="434975" h="373379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w="434975" h="373379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w="434975" h="373379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w="434975" h="373379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w="434975" h="373379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w="434975" h="373379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w="434975" h="373379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w="434975" h="373379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w="434975" h="373379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Google Shape;58;p3"/>
              <p:cNvSpPr/>
              <p:nvPr/>
            </p:nvSpPr>
            <p:spPr>
              <a:xfrm>
                <a:off x="124632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Google Shape;59;p3"/>
              <p:cNvSpPr/>
              <p:nvPr/>
            </p:nvSpPr>
            <p:spPr>
              <a:xfrm>
                <a:off x="1287360" y="638604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4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21" name="Google Shape;60;p3"/>
              <p:cNvPicPr/>
              <p:nvPr/>
            </p:nvPicPr>
            <p:blipFill>
              <a:blip r:embed="rId5"/>
              <a:stretch/>
            </p:blipFill>
            <p:spPr>
              <a:xfrm>
                <a:off x="1366560" y="645120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222" name="Google Shape;61;p3"/>
              <p:cNvSpPr/>
              <p:nvPr/>
            </p:nvSpPr>
            <p:spPr>
              <a:xfrm>
                <a:off x="59472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" name="Google Shape;62;p3"/>
              <p:cNvSpPr/>
              <p:nvPr/>
            </p:nvSpPr>
            <p:spPr>
              <a:xfrm>
                <a:off x="59472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30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30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4" name="Google Shape;63;p3"/>
            <p:cNvGrpSpPr/>
            <p:nvPr/>
          </p:nvGrpSpPr>
          <p:grpSpPr>
            <a:xfrm>
              <a:off x="1898280" y="6345720"/>
              <a:ext cx="601560" cy="300240"/>
              <a:chOff x="1898280" y="6345720"/>
              <a:chExt cx="601560" cy="300240"/>
            </a:xfrm>
          </p:grpSpPr>
          <p:sp>
            <p:nvSpPr>
              <p:cNvPr id="225" name="Google Shape;64;p3"/>
              <p:cNvSpPr/>
              <p:nvPr/>
            </p:nvSpPr>
            <p:spPr>
              <a:xfrm>
                <a:off x="219960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Google Shape;65;p3"/>
              <p:cNvSpPr/>
              <p:nvPr/>
            </p:nvSpPr>
            <p:spPr>
              <a:xfrm>
                <a:off x="219960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w="434975" h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Google Shape;66;p3"/>
              <p:cNvSpPr/>
              <p:nvPr/>
            </p:nvSpPr>
            <p:spPr>
              <a:xfrm>
                <a:off x="18982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" name="Google Shape;67;p3"/>
              <p:cNvSpPr/>
              <p:nvPr/>
            </p:nvSpPr>
            <p:spPr>
              <a:xfrm>
                <a:off x="1954080" y="640116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19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9" name="Google Shape;68;p3"/>
              <p:cNvSpPr/>
              <p:nvPr/>
            </p:nvSpPr>
            <p:spPr>
              <a:xfrm>
                <a:off x="2012400" y="644040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89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0" name="Google Shape;69;p3"/>
            <p:cNvGrpSpPr/>
            <p:nvPr/>
          </p:nvGrpSpPr>
          <p:grpSpPr>
            <a:xfrm>
              <a:off x="1547640" y="6344640"/>
              <a:ext cx="349920" cy="300240"/>
              <a:chOff x="1547640" y="6344640"/>
              <a:chExt cx="349920" cy="300240"/>
            </a:xfrm>
          </p:grpSpPr>
          <p:sp>
            <p:nvSpPr>
              <p:cNvPr id="231" name="Google Shape;70;p3"/>
              <p:cNvSpPr/>
              <p:nvPr/>
            </p:nvSpPr>
            <p:spPr>
              <a:xfrm>
                <a:off x="1547640" y="634464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Google Shape;71;p3"/>
              <p:cNvSpPr/>
              <p:nvPr/>
            </p:nvSpPr>
            <p:spPr>
              <a:xfrm>
                <a:off x="1683720" y="643968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4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3" name="Google Shape;72;p3"/>
            <p:cNvSpPr/>
            <p:nvPr/>
          </p:nvSpPr>
          <p:spPr>
            <a:xfrm>
              <a:off x="4708800" y="6346080"/>
              <a:ext cx="301320" cy="300240"/>
            </a:xfrm>
            <a:custGeom>
              <a:avLst/>
              <a:gdLst>
                <a:gd name="textAreaLeft" fmla="*/ 0 w 301320"/>
                <a:gd name="textAreaRight" fmla="*/ 302400 w 301320"/>
                <a:gd name="textAreaTop" fmla="*/ 0 h 300240"/>
                <a:gd name="textAreaBottom" fmla="*/ 301320 h 300240"/>
              </a:gdLst>
              <a:ahLst/>
              <a:cxnLst/>
              <a:rect l="textAreaLeft" t="textAreaTop" r="textAreaRight" b="textAreaBottom"/>
              <a:pathLst>
                <a:path w="436245" h="43497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5" h="43497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5" h="43497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5" h="43497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5" h="43497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5" h="434975">
                  <a:moveTo>
                    <a:pt x="435978" y="101"/>
                  </a:moveTo>
                </a:path>
                <a:path w="436245" h="434975">
                  <a:moveTo>
                    <a:pt x="435978" y="50"/>
                  </a:moveTo>
                </a:path>
                <a:path w="436245" h="43497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5" h="43497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5" h="43497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5" h="43497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4" name="Google Shape;73;p3"/>
            <p:cNvGrpSpPr/>
            <p:nvPr/>
          </p:nvGrpSpPr>
          <p:grpSpPr>
            <a:xfrm>
              <a:off x="3454920" y="6346080"/>
              <a:ext cx="601560" cy="300240"/>
              <a:chOff x="3454920" y="6346080"/>
              <a:chExt cx="601560" cy="300240"/>
            </a:xfrm>
          </p:grpSpPr>
          <p:sp>
            <p:nvSpPr>
              <p:cNvPr id="235" name="Google Shape;74;p3"/>
              <p:cNvSpPr/>
              <p:nvPr/>
            </p:nvSpPr>
            <p:spPr>
              <a:xfrm>
                <a:off x="37562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6" name="Google Shape;75;p3"/>
              <p:cNvSpPr/>
              <p:nvPr/>
            </p:nvSpPr>
            <p:spPr>
              <a:xfrm>
                <a:off x="37562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w="434975" h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w="434975" h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7" name="Google Shape;76;p3"/>
              <p:cNvSpPr/>
              <p:nvPr/>
            </p:nvSpPr>
            <p:spPr>
              <a:xfrm>
                <a:off x="34549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8" name="Google Shape;77;p3"/>
              <p:cNvSpPr/>
              <p:nvPr/>
            </p:nvSpPr>
            <p:spPr>
              <a:xfrm>
                <a:off x="3510720" y="640188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9" name="Google Shape;78;p3"/>
              <p:cNvSpPr/>
              <p:nvPr/>
            </p:nvSpPr>
            <p:spPr>
              <a:xfrm>
                <a:off x="3569040" y="644076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89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0" name="Google Shape;79;p3"/>
            <p:cNvGrpSpPr/>
            <p:nvPr/>
          </p:nvGrpSpPr>
          <p:grpSpPr>
            <a:xfrm>
              <a:off x="2803320" y="6345000"/>
              <a:ext cx="650880" cy="301320"/>
              <a:chOff x="2803320" y="6345000"/>
              <a:chExt cx="650880" cy="301320"/>
            </a:xfrm>
          </p:grpSpPr>
          <p:sp>
            <p:nvSpPr>
              <p:cNvPr id="241" name="Google Shape;80;p3"/>
              <p:cNvSpPr/>
              <p:nvPr/>
            </p:nvSpPr>
            <p:spPr>
              <a:xfrm>
                <a:off x="2803680" y="6346080"/>
                <a:ext cx="299880" cy="300240"/>
              </a:xfrm>
              <a:custGeom>
                <a:avLst/>
                <a:gdLst>
                  <a:gd name="textAreaLeft" fmla="*/ 0 w 299880"/>
                  <a:gd name="textAreaRight" fmla="*/ 300960 w 29988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339" h="434975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2" name="Google Shape;81;p3"/>
              <p:cNvSpPr/>
              <p:nvPr/>
            </p:nvSpPr>
            <p:spPr>
              <a:xfrm>
                <a:off x="2803320" y="6435000"/>
                <a:ext cx="210960" cy="210960"/>
              </a:xfrm>
              <a:custGeom>
                <a:avLst/>
                <a:gdLst>
                  <a:gd name="textAreaLeft" fmla="*/ 0 w 210960"/>
                  <a:gd name="textAreaRight" fmla="*/ 212040 w 210960"/>
                  <a:gd name="textAreaTop" fmla="*/ 0 h 210960"/>
                  <a:gd name="textAreaBottom" fmla="*/ 212040 h 210960"/>
                </a:gdLst>
                <a:ahLst/>
                <a:cxnLst/>
                <a:rect l="textAreaLeft" t="textAreaTop" r="textAreaRight" b="textAreaBottom"/>
                <a:pathLst>
                  <a:path w="306070" h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43" name="Google Shape;82;p3"/>
              <p:cNvPicPr/>
              <p:nvPr/>
            </p:nvPicPr>
            <p:blipFill>
              <a:blip r:embed="rId6"/>
              <a:stretch/>
            </p:blipFill>
            <p:spPr>
              <a:xfrm>
                <a:off x="2803320" y="6435000"/>
                <a:ext cx="210600" cy="210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244" name="Google Shape;83;p3"/>
              <p:cNvSpPr/>
              <p:nvPr/>
            </p:nvSpPr>
            <p:spPr>
              <a:xfrm>
                <a:off x="310428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Google Shape;84;p3"/>
              <p:cNvSpPr/>
              <p:nvPr/>
            </p:nvSpPr>
            <p:spPr>
              <a:xfrm>
                <a:off x="3240360" y="644040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4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6" name="Google Shape;85;p3"/>
            <p:cNvGrpSpPr/>
            <p:nvPr/>
          </p:nvGrpSpPr>
          <p:grpSpPr>
            <a:xfrm>
              <a:off x="4057560" y="6346080"/>
              <a:ext cx="650880" cy="300240"/>
              <a:chOff x="4057560" y="6346080"/>
              <a:chExt cx="650880" cy="300240"/>
            </a:xfrm>
          </p:grpSpPr>
          <p:sp>
            <p:nvSpPr>
              <p:cNvPr id="247" name="Google Shape;86;p3"/>
              <p:cNvSpPr/>
              <p:nvPr/>
            </p:nvSpPr>
            <p:spPr>
              <a:xfrm>
                <a:off x="405756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8" name="Google Shape;87;p3"/>
              <p:cNvSpPr/>
              <p:nvPr/>
            </p:nvSpPr>
            <p:spPr>
              <a:xfrm>
                <a:off x="405756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9" name="Google Shape;88;p3"/>
              <p:cNvSpPr/>
              <p:nvPr/>
            </p:nvSpPr>
            <p:spPr>
              <a:xfrm>
                <a:off x="4057560" y="645372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50" name="Google Shape;89;p3"/>
              <p:cNvPicPr/>
              <p:nvPr/>
            </p:nvPicPr>
            <p:blipFill>
              <a:blip r:embed="rId7"/>
              <a:stretch/>
            </p:blipFill>
            <p:spPr>
              <a:xfrm>
                <a:off x="4057560" y="645372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251" name="Google Shape;90;p3"/>
              <p:cNvSpPr/>
              <p:nvPr/>
            </p:nvSpPr>
            <p:spPr>
              <a:xfrm>
                <a:off x="435852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Google Shape;91;p3"/>
              <p:cNvSpPr/>
              <p:nvPr/>
            </p:nvSpPr>
            <p:spPr>
              <a:xfrm>
                <a:off x="435852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53" name="Google Shape;92;p3"/>
            <p:cNvGrpSpPr/>
            <p:nvPr/>
          </p:nvGrpSpPr>
          <p:grpSpPr>
            <a:xfrm>
              <a:off x="2502000" y="6344640"/>
              <a:ext cx="300240" cy="300240"/>
              <a:chOff x="2502000" y="6344640"/>
              <a:chExt cx="300240" cy="300240"/>
            </a:xfrm>
          </p:grpSpPr>
          <p:sp>
            <p:nvSpPr>
              <p:cNvPr id="254" name="Google Shape;93;p3"/>
              <p:cNvSpPr/>
              <p:nvPr/>
            </p:nvSpPr>
            <p:spPr>
              <a:xfrm>
                <a:off x="2502000" y="634464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5" name="Google Shape;94;p3"/>
              <p:cNvSpPr/>
              <p:nvPr/>
            </p:nvSpPr>
            <p:spPr>
              <a:xfrm>
                <a:off x="2543040" y="638568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4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56" name="Google Shape;95;p3"/>
              <p:cNvPicPr/>
              <p:nvPr/>
            </p:nvPicPr>
            <p:blipFill>
              <a:blip r:embed="rId8"/>
              <a:stretch/>
            </p:blipFill>
            <p:spPr>
              <a:xfrm>
                <a:off x="2622240" y="645084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57" name="Google Shape;96;p3"/>
            <p:cNvGrpSpPr/>
            <p:nvPr/>
          </p:nvGrpSpPr>
          <p:grpSpPr>
            <a:xfrm>
              <a:off x="5007960" y="6345000"/>
              <a:ext cx="596880" cy="300240"/>
              <a:chOff x="5007960" y="6345000"/>
              <a:chExt cx="596880" cy="300240"/>
            </a:xfrm>
          </p:grpSpPr>
          <p:sp>
            <p:nvSpPr>
              <p:cNvPr id="258" name="Google Shape;97;p3"/>
              <p:cNvSpPr/>
              <p:nvPr/>
            </p:nvSpPr>
            <p:spPr>
              <a:xfrm>
                <a:off x="5007960" y="6345000"/>
                <a:ext cx="295920" cy="300240"/>
              </a:xfrm>
              <a:custGeom>
                <a:avLst/>
                <a:gdLst>
                  <a:gd name="textAreaLeft" fmla="*/ 0 w 295920"/>
                  <a:gd name="textAreaRight" fmla="*/ 297000 w 295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28625" h="43497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" name="Google Shape;98;p3"/>
              <p:cNvSpPr/>
              <p:nvPr/>
            </p:nvSpPr>
            <p:spPr>
              <a:xfrm>
                <a:off x="5007960" y="6366600"/>
                <a:ext cx="295920" cy="257760"/>
              </a:xfrm>
              <a:custGeom>
                <a:avLst/>
                <a:gdLst>
                  <a:gd name="textAreaLeft" fmla="*/ 0 w 295920"/>
                  <a:gd name="textAreaRight" fmla="*/ 297000 w 295920"/>
                  <a:gd name="textAreaTop" fmla="*/ 0 h 257760"/>
                  <a:gd name="textAreaBottom" fmla="*/ 258840 h 257760"/>
                </a:gdLst>
                <a:ahLst/>
                <a:cxnLst/>
                <a:rect l="textAreaLeft" t="textAreaTop" r="textAreaRight" b="textAreaBottom"/>
                <a:pathLst>
                  <a:path w="428625" h="373379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w="428625" h="373379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w="428625" h="373379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w="428625" h="373379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w="428625" h="373379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w="428625" h="373379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w="428625" h="373379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w="428625" h="373379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w="428625" h="373379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w="428625" h="373379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w="428625" h="373379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w="428625" h="373379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w="428625" h="373379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w="428625" h="373379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w="428625" h="373379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w="428625" h="373379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Google Shape;99;p3"/>
              <p:cNvSpPr/>
              <p:nvPr/>
            </p:nvSpPr>
            <p:spPr>
              <a:xfrm>
                <a:off x="53046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1" name="Google Shape;100;p3"/>
              <p:cNvSpPr/>
              <p:nvPr/>
            </p:nvSpPr>
            <p:spPr>
              <a:xfrm>
                <a:off x="5345640" y="638604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5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62" name="Google Shape;101;p3"/>
              <p:cNvPicPr/>
              <p:nvPr/>
            </p:nvPicPr>
            <p:blipFill>
              <a:blip r:embed="rId9"/>
              <a:stretch/>
            </p:blipFill>
            <p:spPr>
              <a:xfrm>
                <a:off x="5424840" y="645120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63" name="Google Shape;102;p3"/>
            <p:cNvGrpSpPr/>
            <p:nvPr/>
          </p:nvGrpSpPr>
          <p:grpSpPr>
            <a:xfrm>
              <a:off x="5956560" y="6345720"/>
              <a:ext cx="601560" cy="300240"/>
              <a:chOff x="5956560" y="6345720"/>
              <a:chExt cx="601560" cy="300240"/>
            </a:xfrm>
          </p:grpSpPr>
          <p:sp>
            <p:nvSpPr>
              <p:cNvPr id="264" name="Google Shape;103;p3"/>
              <p:cNvSpPr/>
              <p:nvPr/>
            </p:nvSpPr>
            <p:spPr>
              <a:xfrm>
                <a:off x="62578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Google Shape;104;p3"/>
              <p:cNvSpPr/>
              <p:nvPr/>
            </p:nvSpPr>
            <p:spPr>
              <a:xfrm>
                <a:off x="62578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w="434975" h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6" name="Google Shape;105;p3"/>
              <p:cNvSpPr/>
              <p:nvPr/>
            </p:nvSpPr>
            <p:spPr>
              <a:xfrm>
                <a:off x="595656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7" name="Google Shape;106;p3"/>
              <p:cNvSpPr/>
              <p:nvPr/>
            </p:nvSpPr>
            <p:spPr>
              <a:xfrm>
                <a:off x="6012360" y="640116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Google Shape;107;p3"/>
              <p:cNvSpPr/>
              <p:nvPr/>
            </p:nvSpPr>
            <p:spPr>
              <a:xfrm>
                <a:off x="6070680" y="644040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90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69" name="Google Shape;108;p3"/>
            <p:cNvGrpSpPr/>
            <p:nvPr/>
          </p:nvGrpSpPr>
          <p:grpSpPr>
            <a:xfrm>
              <a:off x="5605920" y="6344640"/>
              <a:ext cx="349920" cy="300240"/>
              <a:chOff x="5605920" y="6344640"/>
              <a:chExt cx="349920" cy="300240"/>
            </a:xfrm>
          </p:grpSpPr>
          <p:sp>
            <p:nvSpPr>
              <p:cNvPr id="270" name="Google Shape;109;p3"/>
              <p:cNvSpPr/>
              <p:nvPr/>
            </p:nvSpPr>
            <p:spPr>
              <a:xfrm>
                <a:off x="5605920" y="634464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1" name="Google Shape;110;p3"/>
              <p:cNvSpPr/>
              <p:nvPr/>
            </p:nvSpPr>
            <p:spPr>
              <a:xfrm>
                <a:off x="5742000" y="643968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5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72" name="Google Shape;111;p3"/>
            <p:cNvSpPr/>
            <p:nvPr/>
          </p:nvSpPr>
          <p:spPr>
            <a:xfrm>
              <a:off x="8767080" y="6346080"/>
              <a:ext cx="301320" cy="300240"/>
            </a:xfrm>
            <a:custGeom>
              <a:avLst/>
              <a:gdLst>
                <a:gd name="textAreaLeft" fmla="*/ 0 w 301320"/>
                <a:gd name="textAreaRight" fmla="*/ 302400 w 301320"/>
                <a:gd name="textAreaTop" fmla="*/ 0 h 300240"/>
                <a:gd name="textAreaBottom" fmla="*/ 301320 h 300240"/>
              </a:gdLst>
              <a:ahLst/>
              <a:cxnLst/>
              <a:rect l="textAreaLeft" t="textAreaTop" r="textAreaRight" b="textAreaBottom"/>
              <a:pathLst>
                <a:path w="436244" h="43497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4" h="43497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4" h="43497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4" h="43497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4" h="43497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4" h="434975">
                  <a:moveTo>
                    <a:pt x="435978" y="101"/>
                  </a:moveTo>
                </a:path>
                <a:path w="436244" h="434975">
                  <a:moveTo>
                    <a:pt x="435978" y="50"/>
                  </a:moveTo>
                </a:path>
                <a:path w="436244" h="43497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4" h="43497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4" h="43497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4" h="43497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73" name="Google Shape;112;p3"/>
            <p:cNvGrpSpPr/>
            <p:nvPr/>
          </p:nvGrpSpPr>
          <p:grpSpPr>
            <a:xfrm>
              <a:off x="7513200" y="6346080"/>
              <a:ext cx="601560" cy="300240"/>
              <a:chOff x="7513200" y="6346080"/>
              <a:chExt cx="601560" cy="300240"/>
            </a:xfrm>
          </p:grpSpPr>
          <p:sp>
            <p:nvSpPr>
              <p:cNvPr id="274" name="Google Shape;113;p3"/>
              <p:cNvSpPr/>
              <p:nvPr/>
            </p:nvSpPr>
            <p:spPr>
              <a:xfrm>
                <a:off x="78145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Google Shape;114;p3"/>
              <p:cNvSpPr/>
              <p:nvPr/>
            </p:nvSpPr>
            <p:spPr>
              <a:xfrm>
                <a:off x="78145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w="434975" h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w="434975" h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Google Shape;115;p3"/>
              <p:cNvSpPr/>
              <p:nvPr/>
            </p:nvSpPr>
            <p:spPr>
              <a:xfrm>
                <a:off x="751320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Google Shape;116;p3"/>
              <p:cNvSpPr/>
              <p:nvPr/>
            </p:nvSpPr>
            <p:spPr>
              <a:xfrm>
                <a:off x="7569000" y="640188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Google Shape;117;p3"/>
              <p:cNvSpPr/>
              <p:nvPr/>
            </p:nvSpPr>
            <p:spPr>
              <a:xfrm>
                <a:off x="7627320" y="644076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90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79" name="Google Shape;118;p3"/>
            <p:cNvGrpSpPr/>
            <p:nvPr/>
          </p:nvGrpSpPr>
          <p:grpSpPr>
            <a:xfrm>
              <a:off x="6861600" y="6345000"/>
              <a:ext cx="650880" cy="301320"/>
              <a:chOff x="6861600" y="6345000"/>
              <a:chExt cx="650880" cy="301320"/>
            </a:xfrm>
          </p:grpSpPr>
          <p:sp>
            <p:nvSpPr>
              <p:cNvPr id="280" name="Google Shape;119;p3"/>
              <p:cNvSpPr/>
              <p:nvPr/>
            </p:nvSpPr>
            <p:spPr>
              <a:xfrm>
                <a:off x="6861960" y="6346080"/>
                <a:ext cx="299880" cy="300240"/>
              </a:xfrm>
              <a:custGeom>
                <a:avLst/>
                <a:gdLst>
                  <a:gd name="textAreaLeft" fmla="*/ 0 w 299880"/>
                  <a:gd name="textAreaRight" fmla="*/ 300960 w 29988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340" h="434975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Google Shape;120;p3"/>
              <p:cNvSpPr/>
              <p:nvPr/>
            </p:nvSpPr>
            <p:spPr>
              <a:xfrm>
                <a:off x="6861600" y="6435000"/>
                <a:ext cx="210960" cy="210960"/>
              </a:xfrm>
              <a:custGeom>
                <a:avLst/>
                <a:gdLst>
                  <a:gd name="textAreaLeft" fmla="*/ 0 w 210960"/>
                  <a:gd name="textAreaRight" fmla="*/ 212040 w 210960"/>
                  <a:gd name="textAreaTop" fmla="*/ 0 h 210960"/>
                  <a:gd name="textAreaBottom" fmla="*/ 212040 h 210960"/>
                </a:gdLst>
                <a:ahLst/>
                <a:cxnLst/>
                <a:rect l="textAreaLeft" t="textAreaTop" r="textAreaRight" b="textAreaBottom"/>
                <a:pathLst>
                  <a:path w="306070" h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82" name="Google Shape;121;p3"/>
              <p:cNvPicPr/>
              <p:nvPr/>
            </p:nvPicPr>
            <p:blipFill>
              <a:blip r:embed="rId10"/>
              <a:stretch/>
            </p:blipFill>
            <p:spPr>
              <a:xfrm>
                <a:off x="6861600" y="6435000"/>
                <a:ext cx="210600" cy="210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283" name="Google Shape;122;p3"/>
              <p:cNvSpPr/>
              <p:nvPr/>
            </p:nvSpPr>
            <p:spPr>
              <a:xfrm>
                <a:off x="716256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Google Shape;123;p3"/>
              <p:cNvSpPr/>
              <p:nvPr/>
            </p:nvSpPr>
            <p:spPr>
              <a:xfrm>
                <a:off x="7298640" y="644040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5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85" name="Google Shape;124;p3"/>
            <p:cNvGrpSpPr/>
            <p:nvPr/>
          </p:nvGrpSpPr>
          <p:grpSpPr>
            <a:xfrm>
              <a:off x="8115840" y="6346080"/>
              <a:ext cx="650880" cy="300240"/>
              <a:chOff x="8115840" y="6346080"/>
              <a:chExt cx="650880" cy="300240"/>
            </a:xfrm>
          </p:grpSpPr>
          <p:sp>
            <p:nvSpPr>
              <p:cNvPr id="286" name="Google Shape;125;p3"/>
              <p:cNvSpPr/>
              <p:nvPr/>
            </p:nvSpPr>
            <p:spPr>
              <a:xfrm>
                <a:off x="81158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7" name="Google Shape;126;p3"/>
              <p:cNvSpPr/>
              <p:nvPr/>
            </p:nvSpPr>
            <p:spPr>
              <a:xfrm>
                <a:off x="81158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8" name="Google Shape;127;p3"/>
              <p:cNvSpPr/>
              <p:nvPr/>
            </p:nvSpPr>
            <p:spPr>
              <a:xfrm>
                <a:off x="8115840" y="645372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89" name="Google Shape;128;p3"/>
              <p:cNvPicPr/>
              <p:nvPr/>
            </p:nvPicPr>
            <p:blipFill>
              <a:blip r:embed="rId11"/>
              <a:stretch/>
            </p:blipFill>
            <p:spPr>
              <a:xfrm>
                <a:off x="8115840" y="645372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290" name="Google Shape;129;p3"/>
              <p:cNvSpPr/>
              <p:nvPr/>
            </p:nvSpPr>
            <p:spPr>
              <a:xfrm>
                <a:off x="841680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Google Shape;130;p3"/>
              <p:cNvSpPr/>
              <p:nvPr/>
            </p:nvSpPr>
            <p:spPr>
              <a:xfrm>
                <a:off x="841680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92" name="Google Shape;131;p3"/>
            <p:cNvGrpSpPr/>
            <p:nvPr/>
          </p:nvGrpSpPr>
          <p:grpSpPr>
            <a:xfrm>
              <a:off x="6560280" y="6344640"/>
              <a:ext cx="300240" cy="300240"/>
              <a:chOff x="6560280" y="6344640"/>
              <a:chExt cx="300240" cy="300240"/>
            </a:xfrm>
          </p:grpSpPr>
          <p:sp>
            <p:nvSpPr>
              <p:cNvPr id="293" name="Google Shape;132;p3"/>
              <p:cNvSpPr/>
              <p:nvPr/>
            </p:nvSpPr>
            <p:spPr>
              <a:xfrm>
                <a:off x="6560280" y="634464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Google Shape;133;p3"/>
              <p:cNvSpPr/>
              <p:nvPr/>
            </p:nvSpPr>
            <p:spPr>
              <a:xfrm>
                <a:off x="6601320" y="638568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5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95" name="Google Shape;134;p3"/>
              <p:cNvPicPr/>
              <p:nvPr/>
            </p:nvPicPr>
            <p:blipFill>
              <a:blip r:embed="rId12"/>
              <a:stretch/>
            </p:blipFill>
            <p:spPr>
              <a:xfrm>
                <a:off x="6680520" y="645084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296" name="PlaceHolder 10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10;p1"/>
          <p:cNvPicPr/>
          <p:nvPr/>
        </p:nvPicPr>
        <p:blipFill>
          <a:blip r:embed="rId2"/>
          <a:stretch/>
        </p:blipFill>
        <p:spPr>
          <a:xfrm>
            <a:off x="9929160" y="295200"/>
            <a:ext cx="1971360" cy="5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Google Shape;11;p1"/>
          <p:cNvSpPr/>
          <p:nvPr/>
        </p:nvSpPr>
        <p:spPr>
          <a:xfrm>
            <a:off x="7142760" y="6258960"/>
            <a:ext cx="4861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sng" strike="noStrike">
                <a:solidFill>
                  <a:srgbClr val="467886"/>
                </a:solidFill>
                <a:effectLst/>
                <a:uFillTx/>
                <a:latin typeface="Poppins Light"/>
                <a:ea typeface="Poppins Light"/>
                <a:hlinkClick r:id="rId3"/>
              </a:rPr>
              <a:t>Interledger.org</a:t>
            </a: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#OpenPayments #ILPHacks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body"/>
          </p:nvPr>
        </p:nvSpPr>
        <p:spPr>
          <a:xfrm>
            <a:off x="271080" y="83304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271080" y="55872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body"/>
          </p:nvPr>
        </p:nvSpPr>
        <p:spPr>
          <a:xfrm>
            <a:off x="813600" y="2248920"/>
            <a:ext cx="3310920" cy="271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4824000" y="2248920"/>
            <a:ext cx="6090480" cy="271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7142760" y="6566760"/>
            <a:ext cx="4861440" cy="2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4" name="Google Shape;141;p4"/>
          <p:cNvGrpSpPr/>
          <p:nvPr/>
        </p:nvGrpSpPr>
        <p:grpSpPr>
          <a:xfrm>
            <a:off x="0" y="6344640"/>
            <a:ext cx="9068400" cy="301680"/>
            <a:chOff x="0" y="6344640"/>
            <a:chExt cx="9068400" cy="301680"/>
          </a:xfrm>
        </p:grpSpPr>
        <p:grpSp>
          <p:nvGrpSpPr>
            <p:cNvPr id="305" name="Google Shape;142;p4"/>
            <p:cNvGrpSpPr/>
            <p:nvPr/>
          </p:nvGrpSpPr>
          <p:grpSpPr>
            <a:xfrm>
              <a:off x="0" y="6345000"/>
              <a:ext cx="593640" cy="300600"/>
              <a:chOff x="0" y="6345000"/>
              <a:chExt cx="593640" cy="300600"/>
            </a:xfrm>
          </p:grpSpPr>
          <p:sp>
            <p:nvSpPr>
              <p:cNvPr id="306" name="Google Shape;143;p4"/>
              <p:cNvSpPr/>
              <p:nvPr/>
            </p:nvSpPr>
            <p:spPr>
              <a:xfrm>
                <a:off x="0" y="6345360"/>
                <a:ext cx="292320" cy="292320"/>
              </a:xfrm>
              <a:custGeom>
                <a:avLst/>
                <a:gdLst>
                  <a:gd name="textAreaLeft" fmla="*/ 0 w 292320"/>
                  <a:gd name="textAreaRight" fmla="*/ 293400 w 292320"/>
                  <a:gd name="textAreaTop" fmla="*/ 0 h 292320"/>
                  <a:gd name="textAreaBottom" fmla="*/ 293400 h 292320"/>
                </a:gdLst>
                <a:ahLst/>
                <a:cxnLst/>
                <a:rect l="textAreaLeft" t="textAreaTop" r="textAreaRight" b="textAreaBottom"/>
                <a:pathLst>
                  <a:path w="423545" h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w="423545" h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w="423545" h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w="423545" h="423545">
                    <a:moveTo>
                      <a:pt x="423379" y="38"/>
                    </a:moveTo>
                  </a:path>
                  <a:path w="423545" h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Google Shape;144;p4"/>
              <p:cNvSpPr/>
              <p:nvPr/>
            </p:nvSpPr>
            <p:spPr>
              <a:xfrm>
                <a:off x="2934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Google Shape;145;p4"/>
              <p:cNvSpPr/>
              <p:nvPr/>
            </p:nvSpPr>
            <p:spPr>
              <a:xfrm>
                <a:off x="2934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Google Shape;146;p4"/>
              <p:cNvSpPr/>
              <p:nvPr/>
            </p:nvSpPr>
            <p:spPr>
              <a:xfrm>
                <a:off x="293400" y="645300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10" name="Google Shape;147;p4"/>
              <p:cNvPicPr/>
              <p:nvPr/>
            </p:nvPicPr>
            <p:blipFill>
              <a:blip r:embed="rId4"/>
              <a:stretch/>
            </p:blipFill>
            <p:spPr>
              <a:xfrm>
                <a:off x="293400" y="645300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311" name="Google Shape;148;p4"/>
            <p:cNvGrpSpPr/>
            <p:nvPr/>
          </p:nvGrpSpPr>
          <p:grpSpPr>
            <a:xfrm>
              <a:off x="594720" y="6345000"/>
              <a:ext cx="951840" cy="300240"/>
              <a:chOff x="594720" y="6345000"/>
              <a:chExt cx="951840" cy="300240"/>
            </a:xfrm>
          </p:grpSpPr>
          <p:sp>
            <p:nvSpPr>
              <p:cNvPr id="312" name="Google Shape;149;p4"/>
              <p:cNvSpPr/>
              <p:nvPr/>
            </p:nvSpPr>
            <p:spPr>
              <a:xfrm>
                <a:off x="94536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Google Shape;150;p4"/>
              <p:cNvSpPr/>
              <p:nvPr/>
            </p:nvSpPr>
            <p:spPr>
              <a:xfrm>
                <a:off x="945360" y="6366600"/>
                <a:ext cx="300240" cy="25776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257760"/>
                  <a:gd name="textAreaBottom" fmla="*/ 258840 h 257760"/>
                </a:gdLst>
                <a:ahLst/>
                <a:cxnLst/>
                <a:rect l="textAreaLeft" t="textAreaTop" r="textAreaRight" b="textAreaBottom"/>
                <a:pathLst>
                  <a:path w="434975" h="373379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w="434975" h="373379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w="434975" h="373379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w="434975" h="373379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w="434975" h="373379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w="434975" h="373379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w="434975" h="373379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w="434975" h="373379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w="434975" h="373379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w="434975" h="373379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w="434975" h="373379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w="434975" h="373379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w="434975" h="373379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w="434975" h="373379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w="434975" h="373379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w="434975" h="373379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Google Shape;151;p4"/>
              <p:cNvSpPr/>
              <p:nvPr/>
            </p:nvSpPr>
            <p:spPr>
              <a:xfrm>
                <a:off x="124632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Google Shape;152;p4"/>
              <p:cNvSpPr/>
              <p:nvPr/>
            </p:nvSpPr>
            <p:spPr>
              <a:xfrm>
                <a:off x="1287360" y="638604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4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16" name="Google Shape;153;p4"/>
              <p:cNvPicPr/>
              <p:nvPr/>
            </p:nvPicPr>
            <p:blipFill>
              <a:blip r:embed="rId5"/>
              <a:stretch/>
            </p:blipFill>
            <p:spPr>
              <a:xfrm>
                <a:off x="1366560" y="645120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317" name="Google Shape;154;p4"/>
              <p:cNvSpPr/>
              <p:nvPr/>
            </p:nvSpPr>
            <p:spPr>
              <a:xfrm>
                <a:off x="59472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8" name="Google Shape;155;p4"/>
              <p:cNvSpPr/>
              <p:nvPr/>
            </p:nvSpPr>
            <p:spPr>
              <a:xfrm>
                <a:off x="59472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30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30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19" name="Google Shape;156;p4"/>
            <p:cNvGrpSpPr/>
            <p:nvPr/>
          </p:nvGrpSpPr>
          <p:grpSpPr>
            <a:xfrm>
              <a:off x="1898280" y="6345720"/>
              <a:ext cx="601560" cy="300240"/>
              <a:chOff x="1898280" y="6345720"/>
              <a:chExt cx="601560" cy="300240"/>
            </a:xfrm>
          </p:grpSpPr>
          <p:sp>
            <p:nvSpPr>
              <p:cNvPr id="320" name="Google Shape;157;p4"/>
              <p:cNvSpPr/>
              <p:nvPr/>
            </p:nvSpPr>
            <p:spPr>
              <a:xfrm>
                <a:off x="219960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Google Shape;158;p4"/>
              <p:cNvSpPr/>
              <p:nvPr/>
            </p:nvSpPr>
            <p:spPr>
              <a:xfrm>
                <a:off x="219960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w="434975" h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Google Shape;159;p4"/>
              <p:cNvSpPr/>
              <p:nvPr/>
            </p:nvSpPr>
            <p:spPr>
              <a:xfrm>
                <a:off x="18982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Google Shape;160;p4"/>
              <p:cNvSpPr/>
              <p:nvPr/>
            </p:nvSpPr>
            <p:spPr>
              <a:xfrm>
                <a:off x="1954080" y="640116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19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4" name="Google Shape;161;p4"/>
              <p:cNvSpPr/>
              <p:nvPr/>
            </p:nvSpPr>
            <p:spPr>
              <a:xfrm>
                <a:off x="2012400" y="644040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89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25" name="Google Shape;162;p4"/>
            <p:cNvGrpSpPr/>
            <p:nvPr/>
          </p:nvGrpSpPr>
          <p:grpSpPr>
            <a:xfrm>
              <a:off x="1547640" y="6344640"/>
              <a:ext cx="349920" cy="300240"/>
              <a:chOff x="1547640" y="6344640"/>
              <a:chExt cx="349920" cy="300240"/>
            </a:xfrm>
          </p:grpSpPr>
          <p:sp>
            <p:nvSpPr>
              <p:cNvPr id="326" name="Google Shape;163;p4"/>
              <p:cNvSpPr/>
              <p:nvPr/>
            </p:nvSpPr>
            <p:spPr>
              <a:xfrm>
                <a:off x="1547640" y="634464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Google Shape;164;p4"/>
              <p:cNvSpPr/>
              <p:nvPr/>
            </p:nvSpPr>
            <p:spPr>
              <a:xfrm>
                <a:off x="1683720" y="643968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4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8" name="Google Shape;165;p4"/>
            <p:cNvSpPr/>
            <p:nvPr/>
          </p:nvSpPr>
          <p:spPr>
            <a:xfrm>
              <a:off x="4708800" y="6346080"/>
              <a:ext cx="301320" cy="300240"/>
            </a:xfrm>
            <a:custGeom>
              <a:avLst/>
              <a:gdLst>
                <a:gd name="textAreaLeft" fmla="*/ 0 w 301320"/>
                <a:gd name="textAreaRight" fmla="*/ 302400 w 301320"/>
                <a:gd name="textAreaTop" fmla="*/ 0 h 300240"/>
                <a:gd name="textAreaBottom" fmla="*/ 301320 h 300240"/>
              </a:gdLst>
              <a:ahLst/>
              <a:cxnLst/>
              <a:rect l="textAreaLeft" t="textAreaTop" r="textAreaRight" b="textAreaBottom"/>
              <a:pathLst>
                <a:path w="436245" h="43497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5" h="43497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5" h="43497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5" h="43497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5" h="43497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5" h="434975">
                  <a:moveTo>
                    <a:pt x="435978" y="101"/>
                  </a:moveTo>
                </a:path>
                <a:path w="436245" h="434975">
                  <a:moveTo>
                    <a:pt x="435978" y="50"/>
                  </a:moveTo>
                </a:path>
                <a:path w="436245" h="43497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5" h="43497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5" h="43497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5" h="43497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9" name="Google Shape;166;p4"/>
            <p:cNvGrpSpPr/>
            <p:nvPr/>
          </p:nvGrpSpPr>
          <p:grpSpPr>
            <a:xfrm>
              <a:off x="3454920" y="6346080"/>
              <a:ext cx="601560" cy="300240"/>
              <a:chOff x="3454920" y="6346080"/>
              <a:chExt cx="601560" cy="300240"/>
            </a:xfrm>
          </p:grpSpPr>
          <p:sp>
            <p:nvSpPr>
              <p:cNvPr id="330" name="Google Shape;167;p4"/>
              <p:cNvSpPr/>
              <p:nvPr/>
            </p:nvSpPr>
            <p:spPr>
              <a:xfrm>
                <a:off x="37562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1" name="Google Shape;168;p4"/>
              <p:cNvSpPr/>
              <p:nvPr/>
            </p:nvSpPr>
            <p:spPr>
              <a:xfrm>
                <a:off x="37562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w="434975" h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w="434975" h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Google Shape;169;p4"/>
              <p:cNvSpPr/>
              <p:nvPr/>
            </p:nvSpPr>
            <p:spPr>
              <a:xfrm>
                <a:off x="34549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Google Shape;170;p4"/>
              <p:cNvSpPr/>
              <p:nvPr/>
            </p:nvSpPr>
            <p:spPr>
              <a:xfrm>
                <a:off x="3510720" y="640188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Google Shape;171;p4"/>
              <p:cNvSpPr/>
              <p:nvPr/>
            </p:nvSpPr>
            <p:spPr>
              <a:xfrm>
                <a:off x="3569040" y="644076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89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35" name="Google Shape;172;p4"/>
            <p:cNvGrpSpPr/>
            <p:nvPr/>
          </p:nvGrpSpPr>
          <p:grpSpPr>
            <a:xfrm>
              <a:off x="2803320" y="6345000"/>
              <a:ext cx="650880" cy="301320"/>
              <a:chOff x="2803320" y="6345000"/>
              <a:chExt cx="650880" cy="301320"/>
            </a:xfrm>
          </p:grpSpPr>
          <p:sp>
            <p:nvSpPr>
              <p:cNvPr id="336" name="Google Shape;173;p4"/>
              <p:cNvSpPr/>
              <p:nvPr/>
            </p:nvSpPr>
            <p:spPr>
              <a:xfrm>
                <a:off x="2803680" y="6346080"/>
                <a:ext cx="299880" cy="300240"/>
              </a:xfrm>
              <a:custGeom>
                <a:avLst/>
                <a:gdLst>
                  <a:gd name="textAreaLeft" fmla="*/ 0 w 299880"/>
                  <a:gd name="textAreaRight" fmla="*/ 300960 w 29988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339" h="434975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7" name="Google Shape;174;p4"/>
              <p:cNvSpPr/>
              <p:nvPr/>
            </p:nvSpPr>
            <p:spPr>
              <a:xfrm>
                <a:off x="2803320" y="6435000"/>
                <a:ext cx="210960" cy="210960"/>
              </a:xfrm>
              <a:custGeom>
                <a:avLst/>
                <a:gdLst>
                  <a:gd name="textAreaLeft" fmla="*/ 0 w 210960"/>
                  <a:gd name="textAreaRight" fmla="*/ 212040 w 210960"/>
                  <a:gd name="textAreaTop" fmla="*/ 0 h 210960"/>
                  <a:gd name="textAreaBottom" fmla="*/ 212040 h 210960"/>
                </a:gdLst>
                <a:ahLst/>
                <a:cxnLst/>
                <a:rect l="textAreaLeft" t="textAreaTop" r="textAreaRight" b="textAreaBottom"/>
                <a:pathLst>
                  <a:path w="306070" h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38" name="Google Shape;175;p4"/>
              <p:cNvPicPr/>
              <p:nvPr/>
            </p:nvPicPr>
            <p:blipFill>
              <a:blip r:embed="rId6"/>
              <a:stretch/>
            </p:blipFill>
            <p:spPr>
              <a:xfrm>
                <a:off x="2803320" y="6435000"/>
                <a:ext cx="210600" cy="210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339" name="Google Shape;176;p4"/>
              <p:cNvSpPr/>
              <p:nvPr/>
            </p:nvSpPr>
            <p:spPr>
              <a:xfrm>
                <a:off x="310428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0" name="Google Shape;177;p4"/>
              <p:cNvSpPr/>
              <p:nvPr/>
            </p:nvSpPr>
            <p:spPr>
              <a:xfrm>
                <a:off x="3240360" y="644040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4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41" name="Google Shape;178;p4"/>
            <p:cNvGrpSpPr/>
            <p:nvPr/>
          </p:nvGrpSpPr>
          <p:grpSpPr>
            <a:xfrm>
              <a:off x="4057560" y="6346080"/>
              <a:ext cx="650880" cy="300240"/>
              <a:chOff x="4057560" y="6346080"/>
              <a:chExt cx="650880" cy="300240"/>
            </a:xfrm>
          </p:grpSpPr>
          <p:sp>
            <p:nvSpPr>
              <p:cNvPr id="342" name="Google Shape;179;p4"/>
              <p:cNvSpPr/>
              <p:nvPr/>
            </p:nvSpPr>
            <p:spPr>
              <a:xfrm>
                <a:off x="405756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3" name="Google Shape;180;p4"/>
              <p:cNvSpPr/>
              <p:nvPr/>
            </p:nvSpPr>
            <p:spPr>
              <a:xfrm>
                <a:off x="405756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" name="Google Shape;181;p4"/>
              <p:cNvSpPr/>
              <p:nvPr/>
            </p:nvSpPr>
            <p:spPr>
              <a:xfrm>
                <a:off x="4057560" y="645372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45" name="Google Shape;182;p4"/>
              <p:cNvPicPr/>
              <p:nvPr/>
            </p:nvPicPr>
            <p:blipFill>
              <a:blip r:embed="rId7"/>
              <a:stretch/>
            </p:blipFill>
            <p:spPr>
              <a:xfrm>
                <a:off x="4057560" y="645372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346" name="Google Shape;183;p4"/>
              <p:cNvSpPr/>
              <p:nvPr/>
            </p:nvSpPr>
            <p:spPr>
              <a:xfrm>
                <a:off x="435852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Google Shape;184;p4"/>
              <p:cNvSpPr/>
              <p:nvPr/>
            </p:nvSpPr>
            <p:spPr>
              <a:xfrm>
                <a:off x="435852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48" name="Google Shape;185;p4"/>
            <p:cNvGrpSpPr/>
            <p:nvPr/>
          </p:nvGrpSpPr>
          <p:grpSpPr>
            <a:xfrm>
              <a:off x="2502000" y="6344640"/>
              <a:ext cx="300240" cy="300240"/>
              <a:chOff x="2502000" y="6344640"/>
              <a:chExt cx="300240" cy="300240"/>
            </a:xfrm>
          </p:grpSpPr>
          <p:sp>
            <p:nvSpPr>
              <p:cNvPr id="349" name="Google Shape;186;p4"/>
              <p:cNvSpPr/>
              <p:nvPr/>
            </p:nvSpPr>
            <p:spPr>
              <a:xfrm>
                <a:off x="2502000" y="634464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0" name="Google Shape;187;p4"/>
              <p:cNvSpPr/>
              <p:nvPr/>
            </p:nvSpPr>
            <p:spPr>
              <a:xfrm>
                <a:off x="2543040" y="638568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4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51" name="Google Shape;188;p4"/>
              <p:cNvPicPr/>
              <p:nvPr/>
            </p:nvPicPr>
            <p:blipFill>
              <a:blip r:embed="rId8"/>
              <a:stretch/>
            </p:blipFill>
            <p:spPr>
              <a:xfrm>
                <a:off x="2622240" y="645084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352" name="Google Shape;189;p4"/>
            <p:cNvGrpSpPr/>
            <p:nvPr/>
          </p:nvGrpSpPr>
          <p:grpSpPr>
            <a:xfrm>
              <a:off x="5007960" y="6345000"/>
              <a:ext cx="596880" cy="300240"/>
              <a:chOff x="5007960" y="6345000"/>
              <a:chExt cx="596880" cy="300240"/>
            </a:xfrm>
          </p:grpSpPr>
          <p:sp>
            <p:nvSpPr>
              <p:cNvPr id="353" name="Google Shape;190;p4"/>
              <p:cNvSpPr/>
              <p:nvPr/>
            </p:nvSpPr>
            <p:spPr>
              <a:xfrm>
                <a:off x="5007960" y="6345000"/>
                <a:ext cx="295920" cy="300240"/>
              </a:xfrm>
              <a:custGeom>
                <a:avLst/>
                <a:gdLst>
                  <a:gd name="textAreaLeft" fmla="*/ 0 w 295920"/>
                  <a:gd name="textAreaRight" fmla="*/ 297000 w 295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28625" h="43497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4" name="Google Shape;191;p4"/>
              <p:cNvSpPr/>
              <p:nvPr/>
            </p:nvSpPr>
            <p:spPr>
              <a:xfrm>
                <a:off x="5007960" y="6366600"/>
                <a:ext cx="295920" cy="257760"/>
              </a:xfrm>
              <a:custGeom>
                <a:avLst/>
                <a:gdLst>
                  <a:gd name="textAreaLeft" fmla="*/ 0 w 295920"/>
                  <a:gd name="textAreaRight" fmla="*/ 297000 w 295920"/>
                  <a:gd name="textAreaTop" fmla="*/ 0 h 257760"/>
                  <a:gd name="textAreaBottom" fmla="*/ 258840 h 257760"/>
                </a:gdLst>
                <a:ahLst/>
                <a:cxnLst/>
                <a:rect l="textAreaLeft" t="textAreaTop" r="textAreaRight" b="textAreaBottom"/>
                <a:pathLst>
                  <a:path w="428625" h="373379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w="428625" h="373379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w="428625" h="373379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w="428625" h="373379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w="428625" h="373379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w="428625" h="373379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w="428625" h="373379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w="428625" h="373379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w="428625" h="373379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w="428625" h="373379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w="428625" h="373379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w="428625" h="373379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w="428625" h="373379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w="428625" h="373379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w="428625" h="373379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w="428625" h="373379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5" name="Google Shape;192;p4"/>
              <p:cNvSpPr/>
              <p:nvPr/>
            </p:nvSpPr>
            <p:spPr>
              <a:xfrm>
                <a:off x="53046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6" name="Google Shape;193;p4"/>
              <p:cNvSpPr/>
              <p:nvPr/>
            </p:nvSpPr>
            <p:spPr>
              <a:xfrm>
                <a:off x="5345640" y="638604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5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57" name="Google Shape;194;p4"/>
              <p:cNvPicPr/>
              <p:nvPr/>
            </p:nvPicPr>
            <p:blipFill>
              <a:blip r:embed="rId9"/>
              <a:stretch/>
            </p:blipFill>
            <p:spPr>
              <a:xfrm>
                <a:off x="5424840" y="645120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358" name="Google Shape;195;p4"/>
            <p:cNvGrpSpPr/>
            <p:nvPr/>
          </p:nvGrpSpPr>
          <p:grpSpPr>
            <a:xfrm>
              <a:off x="5956560" y="6345720"/>
              <a:ext cx="601560" cy="300240"/>
              <a:chOff x="5956560" y="6345720"/>
              <a:chExt cx="601560" cy="300240"/>
            </a:xfrm>
          </p:grpSpPr>
          <p:sp>
            <p:nvSpPr>
              <p:cNvPr id="359" name="Google Shape;196;p4"/>
              <p:cNvSpPr/>
              <p:nvPr/>
            </p:nvSpPr>
            <p:spPr>
              <a:xfrm>
                <a:off x="62578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Google Shape;197;p4"/>
              <p:cNvSpPr/>
              <p:nvPr/>
            </p:nvSpPr>
            <p:spPr>
              <a:xfrm>
                <a:off x="62578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w="434975" h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Google Shape;198;p4"/>
              <p:cNvSpPr/>
              <p:nvPr/>
            </p:nvSpPr>
            <p:spPr>
              <a:xfrm>
                <a:off x="595656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Google Shape;199;p4"/>
              <p:cNvSpPr/>
              <p:nvPr/>
            </p:nvSpPr>
            <p:spPr>
              <a:xfrm>
                <a:off x="6012360" y="640116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Google Shape;200;p4"/>
              <p:cNvSpPr/>
              <p:nvPr/>
            </p:nvSpPr>
            <p:spPr>
              <a:xfrm>
                <a:off x="6070680" y="644040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90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64" name="Google Shape;201;p4"/>
            <p:cNvGrpSpPr/>
            <p:nvPr/>
          </p:nvGrpSpPr>
          <p:grpSpPr>
            <a:xfrm>
              <a:off x="5605920" y="6344640"/>
              <a:ext cx="349920" cy="300240"/>
              <a:chOff x="5605920" y="6344640"/>
              <a:chExt cx="349920" cy="300240"/>
            </a:xfrm>
          </p:grpSpPr>
          <p:sp>
            <p:nvSpPr>
              <p:cNvPr id="365" name="Google Shape;202;p4"/>
              <p:cNvSpPr/>
              <p:nvPr/>
            </p:nvSpPr>
            <p:spPr>
              <a:xfrm>
                <a:off x="5605920" y="634464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Google Shape;203;p4"/>
              <p:cNvSpPr/>
              <p:nvPr/>
            </p:nvSpPr>
            <p:spPr>
              <a:xfrm>
                <a:off x="5742000" y="643968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5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7" name="Google Shape;204;p4"/>
            <p:cNvSpPr/>
            <p:nvPr/>
          </p:nvSpPr>
          <p:spPr>
            <a:xfrm>
              <a:off x="8767080" y="6346080"/>
              <a:ext cx="301320" cy="300240"/>
            </a:xfrm>
            <a:custGeom>
              <a:avLst/>
              <a:gdLst>
                <a:gd name="textAreaLeft" fmla="*/ 0 w 301320"/>
                <a:gd name="textAreaRight" fmla="*/ 302400 w 301320"/>
                <a:gd name="textAreaTop" fmla="*/ 0 h 300240"/>
                <a:gd name="textAreaBottom" fmla="*/ 301320 h 300240"/>
              </a:gdLst>
              <a:ahLst/>
              <a:cxnLst/>
              <a:rect l="textAreaLeft" t="textAreaTop" r="textAreaRight" b="textAreaBottom"/>
              <a:pathLst>
                <a:path w="436244" h="43497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4" h="43497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4" h="43497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4" h="43497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4" h="43497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4" h="434975">
                  <a:moveTo>
                    <a:pt x="435978" y="101"/>
                  </a:moveTo>
                </a:path>
                <a:path w="436244" h="434975">
                  <a:moveTo>
                    <a:pt x="435978" y="50"/>
                  </a:moveTo>
                </a:path>
                <a:path w="436244" h="43497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4" h="43497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4" h="43497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4" h="43497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8" name="Google Shape;205;p4"/>
            <p:cNvGrpSpPr/>
            <p:nvPr/>
          </p:nvGrpSpPr>
          <p:grpSpPr>
            <a:xfrm>
              <a:off x="7513200" y="6346080"/>
              <a:ext cx="601560" cy="300240"/>
              <a:chOff x="7513200" y="6346080"/>
              <a:chExt cx="601560" cy="300240"/>
            </a:xfrm>
          </p:grpSpPr>
          <p:sp>
            <p:nvSpPr>
              <p:cNvPr id="369" name="Google Shape;206;p4"/>
              <p:cNvSpPr/>
              <p:nvPr/>
            </p:nvSpPr>
            <p:spPr>
              <a:xfrm>
                <a:off x="78145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Google Shape;207;p4"/>
              <p:cNvSpPr/>
              <p:nvPr/>
            </p:nvSpPr>
            <p:spPr>
              <a:xfrm>
                <a:off x="78145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w="434975" h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w="434975" h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Google Shape;208;p4"/>
              <p:cNvSpPr/>
              <p:nvPr/>
            </p:nvSpPr>
            <p:spPr>
              <a:xfrm>
                <a:off x="751320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Google Shape;209;p4"/>
              <p:cNvSpPr/>
              <p:nvPr/>
            </p:nvSpPr>
            <p:spPr>
              <a:xfrm>
                <a:off x="7569000" y="640188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Google Shape;210;p4"/>
              <p:cNvSpPr/>
              <p:nvPr/>
            </p:nvSpPr>
            <p:spPr>
              <a:xfrm>
                <a:off x="7627320" y="644076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90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74" name="Google Shape;211;p4"/>
            <p:cNvGrpSpPr/>
            <p:nvPr/>
          </p:nvGrpSpPr>
          <p:grpSpPr>
            <a:xfrm>
              <a:off x="6861600" y="6345000"/>
              <a:ext cx="650880" cy="301320"/>
              <a:chOff x="6861600" y="6345000"/>
              <a:chExt cx="650880" cy="301320"/>
            </a:xfrm>
          </p:grpSpPr>
          <p:sp>
            <p:nvSpPr>
              <p:cNvPr id="375" name="Google Shape;212;p4"/>
              <p:cNvSpPr/>
              <p:nvPr/>
            </p:nvSpPr>
            <p:spPr>
              <a:xfrm>
                <a:off x="6861960" y="6346080"/>
                <a:ext cx="299880" cy="300240"/>
              </a:xfrm>
              <a:custGeom>
                <a:avLst/>
                <a:gdLst>
                  <a:gd name="textAreaLeft" fmla="*/ 0 w 299880"/>
                  <a:gd name="textAreaRight" fmla="*/ 300960 w 29988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340" h="434975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Google Shape;213;p4"/>
              <p:cNvSpPr/>
              <p:nvPr/>
            </p:nvSpPr>
            <p:spPr>
              <a:xfrm>
                <a:off x="6861600" y="6435000"/>
                <a:ext cx="210960" cy="210960"/>
              </a:xfrm>
              <a:custGeom>
                <a:avLst/>
                <a:gdLst>
                  <a:gd name="textAreaLeft" fmla="*/ 0 w 210960"/>
                  <a:gd name="textAreaRight" fmla="*/ 212040 w 210960"/>
                  <a:gd name="textAreaTop" fmla="*/ 0 h 210960"/>
                  <a:gd name="textAreaBottom" fmla="*/ 212040 h 210960"/>
                </a:gdLst>
                <a:ahLst/>
                <a:cxnLst/>
                <a:rect l="textAreaLeft" t="textAreaTop" r="textAreaRight" b="textAreaBottom"/>
                <a:pathLst>
                  <a:path w="306070" h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77" name="Google Shape;214;p4"/>
              <p:cNvPicPr/>
              <p:nvPr/>
            </p:nvPicPr>
            <p:blipFill>
              <a:blip r:embed="rId10"/>
              <a:stretch/>
            </p:blipFill>
            <p:spPr>
              <a:xfrm>
                <a:off x="6861600" y="6435000"/>
                <a:ext cx="210600" cy="210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378" name="Google Shape;215;p4"/>
              <p:cNvSpPr/>
              <p:nvPr/>
            </p:nvSpPr>
            <p:spPr>
              <a:xfrm>
                <a:off x="716256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9" name="Google Shape;216;p4"/>
              <p:cNvSpPr/>
              <p:nvPr/>
            </p:nvSpPr>
            <p:spPr>
              <a:xfrm>
                <a:off x="7298640" y="644040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5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80" name="Google Shape;217;p4"/>
            <p:cNvGrpSpPr/>
            <p:nvPr/>
          </p:nvGrpSpPr>
          <p:grpSpPr>
            <a:xfrm>
              <a:off x="8115840" y="6346080"/>
              <a:ext cx="650880" cy="300240"/>
              <a:chOff x="8115840" y="6346080"/>
              <a:chExt cx="650880" cy="300240"/>
            </a:xfrm>
          </p:grpSpPr>
          <p:sp>
            <p:nvSpPr>
              <p:cNvPr id="381" name="Google Shape;218;p4"/>
              <p:cNvSpPr/>
              <p:nvPr/>
            </p:nvSpPr>
            <p:spPr>
              <a:xfrm>
                <a:off x="81158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Google Shape;219;p4"/>
              <p:cNvSpPr/>
              <p:nvPr/>
            </p:nvSpPr>
            <p:spPr>
              <a:xfrm>
                <a:off x="81158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Google Shape;220;p4"/>
              <p:cNvSpPr/>
              <p:nvPr/>
            </p:nvSpPr>
            <p:spPr>
              <a:xfrm>
                <a:off x="8115840" y="645372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84" name="Google Shape;221;p4"/>
              <p:cNvPicPr/>
              <p:nvPr/>
            </p:nvPicPr>
            <p:blipFill>
              <a:blip r:embed="rId11"/>
              <a:stretch/>
            </p:blipFill>
            <p:spPr>
              <a:xfrm>
                <a:off x="8115840" y="645372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385" name="Google Shape;222;p4"/>
              <p:cNvSpPr/>
              <p:nvPr/>
            </p:nvSpPr>
            <p:spPr>
              <a:xfrm>
                <a:off x="841680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Google Shape;223;p4"/>
              <p:cNvSpPr/>
              <p:nvPr/>
            </p:nvSpPr>
            <p:spPr>
              <a:xfrm>
                <a:off x="841680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87" name="Google Shape;224;p4"/>
            <p:cNvGrpSpPr/>
            <p:nvPr/>
          </p:nvGrpSpPr>
          <p:grpSpPr>
            <a:xfrm>
              <a:off x="6560280" y="6344640"/>
              <a:ext cx="300240" cy="300240"/>
              <a:chOff x="6560280" y="6344640"/>
              <a:chExt cx="300240" cy="300240"/>
            </a:xfrm>
          </p:grpSpPr>
          <p:sp>
            <p:nvSpPr>
              <p:cNvPr id="388" name="Google Shape;225;p4"/>
              <p:cNvSpPr/>
              <p:nvPr/>
            </p:nvSpPr>
            <p:spPr>
              <a:xfrm>
                <a:off x="6560280" y="634464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Google Shape;226;p4"/>
              <p:cNvSpPr/>
              <p:nvPr/>
            </p:nvSpPr>
            <p:spPr>
              <a:xfrm>
                <a:off x="6601320" y="638568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5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90" name="Google Shape;227;p4"/>
              <p:cNvPicPr/>
              <p:nvPr/>
            </p:nvPicPr>
            <p:blipFill>
              <a:blip r:embed="rId12"/>
              <a:stretch/>
            </p:blipFill>
            <p:spPr>
              <a:xfrm>
                <a:off x="6680520" y="645084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10;p1"/>
          <p:cNvPicPr/>
          <p:nvPr/>
        </p:nvPicPr>
        <p:blipFill>
          <a:blip r:embed="rId2"/>
          <a:stretch/>
        </p:blipFill>
        <p:spPr>
          <a:xfrm>
            <a:off x="9929160" y="295200"/>
            <a:ext cx="1971360" cy="5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Google Shape;11;p1"/>
          <p:cNvSpPr/>
          <p:nvPr/>
        </p:nvSpPr>
        <p:spPr>
          <a:xfrm>
            <a:off x="7142760" y="6258960"/>
            <a:ext cx="4861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sng" strike="noStrike">
                <a:solidFill>
                  <a:srgbClr val="467886"/>
                </a:solidFill>
                <a:effectLst/>
                <a:uFillTx/>
                <a:latin typeface="Poppins Light"/>
                <a:ea typeface="Poppins Light"/>
                <a:hlinkClick r:id="rId3"/>
              </a:rPr>
              <a:t>Interledger.org</a:t>
            </a: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#OpenPayments #ILPHacks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1"/>
          <p:cNvSpPr>
            <a:spLocks noGrp="1"/>
          </p:cNvSpPr>
          <p:nvPr>
            <p:ph type="body"/>
          </p:nvPr>
        </p:nvSpPr>
        <p:spPr>
          <a:xfrm>
            <a:off x="271080" y="83304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271080" y="55872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body"/>
          </p:nvPr>
        </p:nvSpPr>
        <p:spPr>
          <a:xfrm>
            <a:off x="4824000" y="2248920"/>
            <a:ext cx="6090480" cy="271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4"/>
          <p:cNvSpPr>
            <a:spLocks noGrp="1"/>
          </p:cNvSpPr>
          <p:nvPr>
            <p:ph type="body"/>
          </p:nvPr>
        </p:nvSpPr>
        <p:spPr>
          <a:xfrm>
            <a:off x="7142760" y="6566760"/>
            <a:ext cx="4861440" cy="2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97" name="Google Shape;233;p5"/>
          <p:cNvGrpSpPr/>
          <p:nvPr/>
        </p:nvGrpSpPr>
        <p:grpSpPr>
          <a:xfrm>
            <a:off x="0" y="6344640"/>
            <a:ext cx="9068400" cy="301680"/>
            <a:chOff x="0" y="6344640"/>
            <a:chExt cx="9068400" cy="301680"/>
          </a:xfrm>
        </p:grpSpPr>
        <p:grpSp>
          <p:nvGrpSpPr>
            <p:cNvPr id="398" name="Google Shape;234;p5"/>
            <p:cNvGrpSpPr/>
            <p:nvPr/>
          </p:nvGrpSpPr>
          <p:grpSpPr>
            <a:xfrm>
              <a:off x="0" y="6345000"/>
              <a:ext cx="593640" cy="300600"/>
              <a:chOff x="0" y="6345000"/>
              <a:chExt cx="593640" cy="300600"/>
            </a:xfrm>
          </p:grpSpPr>
          <p:sp>
            <p:nvSpPr>
              <p:cNvPr id="399" name="Google Shape;235;p5"/>
              <p:cNvSpPr/>
              <p:nvPr/>
            </p:nvSpPr>
            <p:spPr>
              <a:xfrm>
                <a:off x="0" y="6345360"/>
                <a:ext cx="292320" cy="292320"/>
              </a:xfrm>
              <a:custGeom>
                <a:avLst/>
                <a:gdLst>
                  <a:gd name="textAreaLeft" fmla="*/ 0 w 292320"/>
                  <a:gd name="textAreaRight" fmla="*/ 293400 w 292320"/>
                  <a:gd name="textAreaTop" fmla="*/ 0 h 292320"/>
                  <a:gd name="textAreaBottom" fmla="*/ 293400 h 292320"/>
                </a:gdLst>
                <a:ahLst/>
                <a:cxnLst/>
                <a:rect l="textAreaLeft" t="textAreaTop" r="textAreaRight" b="textAreaBottom"/>
                <a:pathLst>
                  <a:path w="423545" h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w="423545" h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w="423545" h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w="423545" h="423545">
                    <a:moveTo>
                      <a:pt x="423379" y="38"/>
                    </a:moveTo>
                  </a:path>
                  <a:path w="423545" h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0" name="Google Shape;236;p5"/>
              <p:cNvSpPr/>
              <p:nvPr/>
            </p:nvSpPr>
            <p:spPr>
              <a:xfrm>
                <a:off x="2934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1" name="Google Shape;237;p5"/>
              <p:cNvSpPr/>
              <p:nvPr/>
            </p:nvSpPr>
            <p:spPr>
              <a:xfrm>
                <a:off x="2934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2" name="Google Shape;238;p5"/>
              <p:cNvSpPr/>
              <p:nvPr/>
            </p:nvSpPr>
            <p:spPr>
              <a:xfrm>
                <a:off x="293400" y="645300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403" name="Google Shape;239;p5"/>
              <p:cNvPicPr/>
              <p:nvPr/>
            </p:nvPicPr>
            <p:blipFill>
              <a:blip r:embed="rId4"/>
              <a:stretch/>
            </p:blipFill>
            <p:spPr>
              <a:xfrm>
                <a:off x="293400" y="645300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404" name="Google Shape;240;p5"/>
            <p:cNvGrpSpPr/>
            <p:nvPr/>
          </p:nvGrpSpPr>
          <p:grpSpPr>
            <a:xfrm>
              <a:off x="594720" y="6345000"/>
              <a:ext cx="951840" cy="300240"/>
              <a:chOff x="594720" y="6345000"/>
              <a:chExt cx="951840" cy="300240"/>
            </a:xfrm>
          </p:grpSpPr>
          <p:sp>
            <p:nvSpPr>
              <p:cNvPr id="405" name="Google Shape;241;p5"/>
              <p:cNvSpPr/>
              <p:nvPr/>
            </p:nvSpPr>
            <p:spPr>
              <a:xfrm>
                <a:off x="94536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6" name="Google Shape;242;p5"/>
              <p:cNvSpPr/>
              <p:nvPr/>
            </p:nvSpPr>
            <p:spPr>
              <a:xfrm>
                <a:off x="945360" y="6366600"/>
                <a:ext cx="300240" cy="25776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257760"/>
                  <a:gd name="textAreaBottom" fmla="*/ 258840 h 257760"/>
                </a:gdLst>
                <a:ahLst/>
                <a:cxnLst/>
                <a:rect l="textAreaLeft" t="textAreaTop" r="textAreaRight" b="textAreaBottom"/>
                <a:pathLst>
                  <a:path w="434975" h="373379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w="434975" h="373379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w="434975" h="373379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w="434975" h="373379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w="434975" h="373379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w="434975" h="373379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w="434975" h="373379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w="434975" h="373379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w="434975" h="373379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w="434975" h="373379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w="434975" h="373379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w="434975" h="373379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w="434975" h="373379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w="434975" h="373379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w="434975" h="373379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w="434975" h="373379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7" name="Google Shape;243;p5"/>
              <p:cNvSpPr/>
              <p:nvPr/>
            </p:nvSpPr>
            <p:spPr>
              <a:xfrm>
                <a:off x="124632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8" name="Google Shape;244;p5"/>
              <p:cNvSpPr/>
              <p:nvPr/>
            </p:nvSpPr>
            <p:spPr>
              <a:xfrm>
                <a:off x="1287360" y="638604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4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409" name="Google Shape;245;p5"/>
              <p:cNvPicPr/>
              <p:nvPr/>
            </p:nvPicPr>
            <p:blipFill>
              <a:blip r:embed="rId5"/>
              <a:stretch/>
            </p:blipFill>
            <p:spPr>
              <a:xfrm>
                <a:off x="1366560" y="645120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10" name="Google Shape;246;p5"/>
              <p:cNvSpPr/>
              <p:nvPr/>
            </p:nvSpPr>
            <p:spPr>
              <a:xfrm>
                <a:off x="59472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1" name="Google Shape;247;p5"/>
              <p:cNvSpPr/>
              <p:nvPr/>
            </p:nvSpPr>
            <p:spPr>
              <a:xfrm>
                <a:off x="59472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30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30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12" name="Google Shape;248;p5"/>
            <p:cNvGrpSpPr/>
            <p:nvPr/>
          </p:nvGrpSpPr>
          <p:grpSpPr>
            <a:xfrm>
              <a:off x="1898280" y="6345720"/>
              <a:ext cx="601560" cy="300240"/>
              <a:chOff x="1898280" y="6345720"/>
              <a:chExt cx="601560" cy="300240"/>
            </a:xfrm>
          </p:grpSpPr>
          <p:sp>
            <p:nvSpPr>
              <p:cNvPr id="413" name="Google Shape;249;p5"/>
              <p:cNvSpPr/>
              <p:nvPr/>
            </p:nvSpPr>
            <p:spPr>
              <a:xfrm>
                <a:off x="219960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4" name="Google Shape;250;p5"/>
              <p:cNvSpPr/>
              <p:nvPr/>
            </p:nvSpPr>
            <p:spPr>
              <a:xfrm>
                <a:off x="219960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w="434975" h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5" name="Google Shape;251;p5"/>
              <p:cNvSpPr/>
              <p:nvPr/>
            </p:nvSpPr>
            <p:spPr>
              <a:xfrm>
                <a:off x="18982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6" name="Google Shape;252;p5"/>
              <p:cNvSpPr/>
              <p:nvPr/>
            </p:nvSpPr>
            <p:spPr>
              <a:xfrm>
                <a:off x="1954080" y="640116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19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7" name="Google Shape;253;p5"/>
              <p:cNvSpPr/>
              <p:nvPr/>
            </p:nvSpPr>
            <p:spPr>
              <a:xfrm>
                <a:off x="2012400" y="644040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89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18" name="Google Shape;254;p5"/>
            <p:cNvGrpSpPr/>
            <p:nvPr/>
          </p:nvGrpSpPr>
          <p:grpSpPr>
            <a:xfrm>
              <a:off x="1547640" y="6344640"/>
              <a:ext cx="349920" cy="300240"/>
              <a:chOff x="1547640" y="6344640"/>
              <a:chExt cx="349920" cy="300240"/>
            </a:xfrm>
          </p:grpSpPr>
          <p:sp>
            <p:nvSpPr>
              <p:cNvPr id="419" name="Google Shape;255;p5"/>
              <p:cNvSpPr/>
              <p:nvPr/>
            </p:nvSpPr>
            <p:spPr>
              <a:xfrm>
                <a:off x="1547640" y="634464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0" name="Google Shape;256;p5"/>
              <p:cNvSpPr/>
              <p:nvPr/>
            </p:nvSpPr>
            <p:spPr>
              <a:xfrm>
                <a:off x="1683720" y="643968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4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1" name="Google Shape;257;p5"/>
            <p:cNvSpPr/>
            <p:nvPr/>
          </p:nvSpPr>
          <p:spPr>
            <a:xfrm>
              <a:off x="4708800" y="6346080"/>
              <a:ext cx="301320" cy="300240"/>
            </a:xfrm>
            <a:custGeom>
              <a:avLst/>
              <a:gdLst>
                <a:gd name="textAreaLeft" fmla="*/ 0 w 301320"/>
                <a:gd name="textAreaRight" fmla="*/ 302400 w 301320"/>
                <a:gd name="textAreaTop" fmla="*/ 0 h 300240"/>
                <a:gd name="textAreaBottom" fmla="*/ 301320 h 300240"/>
              </a:gdLst>
              <a:ahLst/>
              <a:cxnLst/>
              <a:rect l="textAreaLeft" t="textAreaTop" r="textAreaRight" b="textAreaBottom"/>
              <a:pathLst>
                <a:path w="436245" h="43497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5" h="43497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5" h="43497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5" h="43497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5" h="43497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5" h="434975">
                  <a:moveTo>
                    <a:pt x="435978" y="101"/>
                  </a:moveTo>
                </a:path>
                <a:path w="436245" h="434975">
                  <a:moveTo>
                    <a:pt x="435978" y="50"/>
                  </a:moveTo>
                </a:path>
                <a:path w="436245" h="43497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5" h="43497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5" h="43497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5" h="43497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2" name="Google Shape;258;p5"/>
            <p:cNvGrpSpPr/>
            <p:nvPr/>
          </p:nvGrpSpPr>
          <p:grpSpPr>
            <a:xfrm>
              <a:off x="3454920" y="6346080"/>
              <a:ext cx="601560" cy="300240"/>
              <a:chOff x="3454920" y="6346080"/>
              <a:chExt cx="601560" cy="300240"/>
            </a:xfrm>
          </p:grpSpPr>
          <p:sp>
            <p:nvSpPr>
              <p:cNvPr id="423" name="Google Shape;259;p5"/>
              <p:cNvSpPr/>
              <p:nvPr/>
            </p:nvSpPr>
            <p:spPr>
              <a:xfrm>
                <a:off x="37562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4" name="Google Shape;260;p5"/>
              <p:cNvSpPr/>
              <p:nvPr/>
            </p:nvSpPr>
            <p:spPr>
              <a:xfrm>
                <a:off x="37562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w="434975" h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w="434975" h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Google Shape;261;p5"/>
              <p:cNvSpPr/>
              <p:nvPr/>
            </p:nvSpPr>
            <p:spPr>
              <a:xfrm>
                <a:off x="34549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Google Shape;262;p5"/>
              <p:cNvSpPr/>
              <p:nvPr/>
            </p:nvSpPr>
            <p:spPr>
              <a:xfrm>
                <a:off x="3510720" y="640188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Google Shape;263;p5"/>
              <p:cNvSpPr/>
              <p:nvPr/>
            </p:nvSpPr>
            <p:spPr>
              <a:xfrm>
                <a:off x="3569040" y="644076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89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28" name="Google Shape;264;p5"/>
            <p:cNvGrpSpPr/>
            <p:nvPr/>
          </p:nvGrpSpPr>
          <p:grpSpPr>
            <a:xfrm>
              <a:off x="2803320" y="6345000"/>
              <a:ext cx="650880" cy="301320"/>
              <a:chOff x="2803320" y="6345000"/>
              <a:chExt cx="650880" cy="301320"/>
            </a:xfrm>
          </p:grpSpPr>
          <p:sp>
            <p:nvSpPr>
              <p:cNvPr id="429" name="Google Shape;265;p5"/>
              <p:cNvSpPr/>
              <p:nvPr/>
            </p:nvSpPr>
            <p:spPr>
              <a:xfrm>
                <a:off x="2803680" y="6346080"/>
                <a:ext cx="299880" cy="300240"/>
              </a:xfrm>
              <a:custGeom>
                <a:avLst/>
                <a:gdLst>
                  <a:gd name="textAreaLeft" fmla="*/ 0 w 299880"/>
                  <a:gd name="textAreaRight" fmla="*/ 300960 w 29988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339" h="434975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Google Shape;266;p5"/>
              <p:cNvSpPr/>
              <p:nvPr/>
            </p:nvSpPr>
            <p:spPr>
              <a:xfrm>
                <a:off x="2803320" y="6435000"/>
                <a:ext cx="210960" cy="210960"/>
              </a:xfrm>
              <a:custGeom>
                <a:avLst/>
                <a:gdLst>
                  <a:gd name="textAreaLeft" fmla="*/ 0 w 210960"/>
                  <a:gd name="textAreaRight" fmla="*/ 212040 w 210960"/>
                  <a:gd name="textAreaTop" fmla="*/ 0 h 210960"/>
                  <a:gd name="textAreaBottom" fmla="*/ 212040 h 210960"/>
                </a:gdLst>
                <a:ahLst/>
                <a:cxnLst/>
                <a:rect l="textAreaLeft" t="textAreaTop" r="textAreaRight" b="textAreaBottom"/>
                <a:pathLst>
                  <a:path w="306070" h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431" name="Google Shape;267;p5"/>
              <p:cNvPicPr/>
              <p:nvPr/>
            </p:nvPicPr>
            <p:blipFill>
              <a:blip r:embed="rId6"/>
              <a:stretch/>
            </p:blipFill>
            <p:spPr>
              <a:xfrm>
                <a:off x="2803320" y="6435000"/>
                <a:ext cx="210600" cy="210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32" name="Google Shape;268;p5"/>
              <p:cNvSpPr/>
              <p:nvPr/>
            </p:nvSpPr>
            <p:spPr>
              <a:xfrm>
                <a:off x="310428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Google Shape;269;p5"/>
              <p:cNvSpPr/>
              <p:nvPr/>
            </p:nvSpPr>
            <p:spPr>
              <a:xfrm>
                <a:off x="3240360" y="644040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4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34" name="Google Shape;270;p5"/>
            <p:cNvGrpSpPr/>
            <p:nvPr/>
          </p:nvGrpSpPr>
          <p:grpSpPr>
            <a:xfrm>
              <a:off x="4057560" y="6346080"/>
              <a:ext cx="650880" cy="300240"/>
              <a:chOff x="4057560" y="6346080"/>
              <a:chExt cx="650880" cy="300240"/>
            </a:xfrm>
          </p:grpSpPr>
          <p:sp>
            <p:nvSpPr>
              <p:cNvPr id="435" name="Google Shape;271;p5"/>
              <p:cNvSpPr/>
              <p:nvPr/>
            </p:nvSpPr>
            <p:spPr>
              <a:xfrm>
                <a:off x="405756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6" name="Google Shape;272;p5"/>
              <p:cNvSpPr/>
              <p:nvPr/>
            </p:nvSpPr>
            <p:spPr>
              <a:xfrm>
                <a:off x="405756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Google Shape;273;p5"/>
              <p:cNvSpPr/>
              <p:nvPr/>
            </p:nvSpPr>
            <p:spPr>
              <a:xfrm>
                <a:off x="4057560" y="645372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438" name="Google Shape;274;p5"/>
              <p:cNvPicPr/>
              <p:nvPr/>
            </p:nvPicPr>
            <p:blipFill>
              <a:blip r:embed="rId7"/>
              <a:stretch/>
            </p:blipFill>
            <p:spPr>
              <a:xfrm>
                <a:off x="4057560" y="645372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39" name="Google Shape;275;p5"/>
              <p:cNvSpPr/>
              <p:nvPr/>
            </p:nvSpPr>
            <p:spPr>
              <a:xfrm>
                <a:off x="435852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0" name="Google Shape;276;p5"/>
              <p:cNvSpPr/>
              <p:nvPr/>
            </p:nvSpPr>
            <p:spPr>
              <a:xfrm>
                <a:off x="435852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41" name="Google Shape;277;p5"/>
            <p:cNvGrpSpPr/>
            <p:nvPr/>
          </p:nvGrpSpPr>
          <p:grpSpPr>
            <a:xfrm>
              <a:off x="2502000" y="6344640"/>
              <a:ext cx="300240" cy="300240"/>
              <a:chOff x="2502000" y="6344640"/>
              <a:chExt cx="300240" cy="300240"/>
            </a:xfrm>
          </p:grpSpPr>
          <p:sp>
            <p:nvSpPr>
              <p:cNvPr id="442" name="Google Shape;278;p5"/>
              <p:cNvSpPr/>
              <p:nvPr/>
            </p:nvSpPr>
            <p:spPr>
              <a:xfrm>
                <a:off x="2502000" y="634464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3" name="Google Shape;279;p5"/>
              <p:cNvSpPr/>
              <p:nvPr/>
            </p:nvSpPr>
            <p:spPr>
              <a:xfrm>
                <a:off x="2543040" y="638568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4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444" name="Google Shape;280;p5"/>
              <p:cNvPicPr/>
              <p:nvPr/>
            </p:nvPicPr>
            <p:blipFill>
              <a:blip r:embed="rId8"/>
              <a:stretch/>
            </p:blipFill>
            <p:spPr>
              <a:xfrm>
                <a:off x="2622240" y="645084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445" name="Google Shape;281;p5"/>
            <p:cNvGrpSpPr/>
            <p:nvPr/>
          </p:nvGrpSpPr>
          <p:grpSpPr>
            <a:xfrm>
              <a:off x="5007960" y="6345000"/>
              <a:ext cx="596880" cy="300240"/>
              <a:chOff x="5007960" y="6345000"/>
              <a:chExt cx="596880" cy="300240"/>
            </a:xfrm>
          </p:grpSpPr>
          <p:sp>
            <p:nvSpPr>
              <p:cNvPr id="446" name="Google Shape;282;p5"/>
              <p:cNvSpPr/>
              <p:nvPr/>
            </p:nvSpPr>
            <p:spPr>
              <a:xfrm>
                <a:off x="5007960" y="6345000"/>
                <a:ext cx="295920" cy="300240"/>
              </a:xfrm>
              <a:custGeom>
                <a:avLst/>
                <a:gdLst>
                  <a:gd name="textAreaLeft" fmla="*/ 0 w 295920"/>
                  <a:gd name="textAreaRight" fmla="*/ 297000 w 295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28625" h="43497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7" name="Google Shape;283;p5"/>
              <p:cNvSpPr/>
              <p:nvPr/>
            </p:nvSpPr>
            <p:spPr>
              <a:xfrm>
                <a:off x="5007960" y="6366600"/>
                <a:ext cx="295920" cy="257760"/>
              </a:xfrm>
              <a:custGeom>
                <a:avLst/>
                <a:gdLst>
                  <a:gd name="textAreaLeft" fmla="*/ 0 w 295920"/>
                  <a:gd name="textAreaRight" fmla="*/ 297000 w 295920"/>
                  <a:gd name="textAreaTop" fmla="*/ 0 h 257760"/>
                  <a:gd name="textAreaBottom" fmla="*/ 258840 h 257760"/>
                </a:gdLst>
                <a:ahLst/>
                <a:cxnLst/>
                <a:rect l="textAreaLeft" t="textAreaTop" r="textAreaRight" b="textAreaBottom"/>
                <a:pathLst>
                  <a:path w="428625" h="373379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w="428625" h="373379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w="428625" h="373379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w="428625" h="373379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w="428625" h="373379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w="428625" h="373379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w="428625" h="373379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w="428625" h="373379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w="428625" h="373379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w="428625" h="373379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w="428625" h="373379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w="428625" h="373379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w="428625" h="373379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w="428625" h="373379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w="428625" h="373379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w="428625" h="373379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8" name="Google Shape;284;p5"/>
              <p:cNvSpPr/>
              <p:nvPr/>
            </p:nvSpPr>
            <p:spPr>
              <a:xfrm>
                <a:off x="53046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9" name="Google Shape;285;p5"/>
              <p:cNvSpPr/>
              <p:nvPr/>
            </p:nvSpPr>
            <p:spPr>
              <a:xfrm>
                <a:off x="5345640" y="638604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5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450" name="Google Shape;286;p5"/>
              <p:cNvPicPr/>
              <p:nvPr/>
            </p:nvPicPr>
            <p:blipFill>
              <a:blip r:embed="rId9"/>
              <a:stretch/>
            </p:blipFill>
            <p:spPr>
              <a:xfrm>
                <a:off x="5424840" y="645120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451" name="Google Shape;287;p5"/>
            <p:cNvGrpSpPr/>
            <p:nvPr/>
          </p:nvGrpSpPr>
          <p:grpSpPr>
            <a:xfrm>
              <a:off x="5956560" y="6345720"/>
              <a:ext cx="601560" cy="300240"/>
              <a:chOff x="5956560" y="6345720"/>
              <a:chExt cx="601560" cy="300240"/>
            </a:xfrm>
          </p:grpSpPr>
          <p:sp>
            <p:nvSpPr>
              <p:cNvPr id="452" name="Google Shape;288;p5"/>
              <p:cNvSpPr/>
              <p:nvPr/>
            </p:nvSpPr>
            <p:spPr>
              <a:xfrm>
                <a:off x="62578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3" name="Google Shape;289;p5"/>
              <p:cNvSpPr/>
              <p:nvPr/>
            </p:nvSpPr>
            <p:spPr>
              <a:xfrm>
                <a:off x="62578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w="434975" h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4" name="Google Shape;290;p5"/>
              <p:cNvSpPr/>
              <p:nvPr/>
            </p:nvSpPr>
            <p:spPr>
              <a:xfrm>
                <a:off x="595656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Google Shape;291;p5"/>
              <p:cNvSpPr/>
              <p:nvPr/>
            </p:nvSpPr>
            <p:spPr>
              <a:xfrm>
                <a:off x="6012360" y="640116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Google Shape;292;p5"/>
              <p:cNvSpPr/>
              <p:nvPr/>
            </p:nvSpPr>
            <p:spPr>
              <a:xfrm>
                <a:off x="6070680" y="644040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90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57" name="Google Shape;293;p5"/>
            <p:cNvGrpSpPr/>
            <p:nvPr/>
          </p:nvGrpSpPr>
          <p:grpSpPr>
            <a:xfrm>
              <a:off x="5605920" y="6344640"/>
              <a:ext cx="349920" cy="300240"/>
              <a:chOff x="5605920" y="6344640"/>
              <a:chExt cx="349920" cy="300240"/>
            </a:xfrm>
          </p:grpSpPr>
          <p:sp>
            <p:nvSpPr>
              <p:cNvPr id="458" name="Google Shape;294;p5"/>
              <p:cNvSpPr/>
              <p:nvPr/>
            </p:nvSpPr>
            <p:spPr>
              <a:xfrm>
                <a:off x="5605920" y="634464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Google Shape;295;p5"/>
              <p:cNvSpPr/>
              <p:nvPr/>
            </p:nvSpPr>
            <p:spPr>
              <a:xfrm>
                <a:off x="5742000" y="643968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5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0" name="Google Shape;296;p5"/>
            <p:cNvSpPr/>
            <p:nvPr/>
          </p:nvSpPr>
          <p:spPr>
            <a:xfrm>
              <a:off x="8767080" y="6346080"/>
              <a:ext cx="301320" cy="300240"/>
            </a:xfrm>
            <a:custGeom>
              <a:avLst/>
              <a:gdLst>
                <a:gd name="textAreaLeft" fmla="*/ 0 w 301320"/>
                <a:gd name="textAreaRight" fmla="*/ 302400 w 301320"/>
                <a:gd name="textAreaTop" fmla="*/ 0 h 300240"/>
                <a:gd name="textAreaBottom" fmla="*/ 301320 h 300240"/>
              </a:gdLst>
              <a:ahLst/>
              <a:cxnLst/>
              <a:rect l="textAreaLeft" t="textAreaTop" r="textAreaRight" b="textAreaBottom"/>
              <a:pathLst>
                <a:path w="436244" h="43497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4" h="43497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4" h="43497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4" h="43497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4" h="43497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4" h="434975">
                  <a:moveTo>
                    <a:pt x="435978" y="101"/>
                  </a:moveTo>
                </a:path>
                <a:path w="436244" h="434975">
                  <a:moveTo>
                    <a:pt x="435978" y="50"/>
                  </a:moveTo>
                </a:path>
                <a:path w="436244" h="43497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4" h="43497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4" h="43497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4" h="43497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1" name="Google Shape;297;p5"/>
            <p:cNvGrpSpPr/>
            <p:nvPr/>
          </p:nvGrpSpPr>
          <p:grpSpPr>
            <a:xfrm>
              <a:off x="7513200" y="6346080"/>
              <a:ext cx="601560" cy="300240"/>
              <a:chOff x="7513200" y="6346080"/>
              <a:chExt cx="601560" cy="300240"/>
            </a:xfrm>
          </p:grpSpPr>
          <p:sp>
            <p:nvSpPr>
              <p:cNvPr id="462" name="Google Shape;298;p5"/>
              <p:cNvSpPr/>
              <p:nvPr/>
            </p:nvSpPr>
            <p:spPr>
              <a:xfrm>
                <a:off x="78145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3" name="Google Shape;299;p5"/>
              <p:cNvSpPr/>
              <p:nvPr/>
            </p:nvSpPr>
            <p:spPr>
              <a:xfrm>
                <a:off x="78145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w="434975" h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w="434975" h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4" name="Google Shape;300;p5"/>
              <p:cNvSpPr/>
              <p:nvPr/>
            </p:nvSpPr>
            <p:spPr>
              <a:xfrm>
                <a:off x="751320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Google Shape;301;p5"/>
              <p:cNvSpPr/>
              <p:nvPr/>
            </p:nvSpPr>
            <p:spPr>
              <a:xfrm>
                <a:off x="7569000" y="640188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Google Shape;302;p5"/>
              <p:cNvSpPr/>
              <p:nvPr/>
            </p:nvSpPr>
            <p:spPr>
              <a:xfrm>
                <a:off x="7627320" y="644076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90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67" name="Google Shape;303;p5"/>
            <p:cNvGrpSpPr/>
            <p:nvPr/>
          </p:nvGrpSpPr>
          <p:grpSpPr>
            <a:xfrm>
              <a:off x="6861600" y="6345000"/>
              <a:ext cx="650880" cy="301320"/>
              <a:chOff x="6861600" y="6345000"/>
              <a:chExt cx="650880" cy="301320"/>
            </a:xfrm>
          </p:grpSpPr>
          <p:sp>
            <p:nvSpPr>
              <p:cNvPr id="468" name="Google Shape;304;p5"/>
              <p:cNvSpPr/>
              <p:nvPr/>
            </p:nvSpPr>
            <p:spPr>
              <a:xfrm>
                <a:off x="6861960" y="6346080"/>
                <a:ext cx="299880" cy="300240"/>
              </a:xfrm>
              <a:custGeom>
                <a:avLst/>
                <a:gdLst>
                  <a:gd name="textAreaLeft" fmla="*/ 0 w 299880"/>
                  <a:gd name="textAreaRight" fmla="*/ 300960 w 29988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340" h="434975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Google Shape;305;p5"/>
              <p:cNvSpPr/>
              <p:nvPr/>
            </p:nvSpPr>
            <p:spPr>
              <a:xfrm>
                <a:off x="6861600" y="6435000"/>
                <a:ext cx="210960" cy="210960"/>
              </a:xfrm>
              <a:custGeom>
                <a:avLst/>
                <a:gdLst>
                  <a:gd name="textAreaLeft" fmla="*/ 0 w 210960"/>
                  <a:gd name="textAreaRight" fmla="*/ 212040 w 210960"/>
                  <a:gd name="textAreaTop" fmla="*/ 0 h 210960"/>
                  <a:gd name="textAreaBottom" fmla="*/ 212040 h 210960"/>
                </a:gdLst>
                <a:ahLst/>
                <a:cxnLst/>
                <a:rect l="textAreaLeft" t="textAreaTop" r="textAreaRight" b="textAreaBottom"/>
                <a:pathLst>
                  <a:path w="306070" h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470" name="Google Shape;306;p5"/>
              <p:cNvPicPr/>
              <p:nvPr/>
            </p:nvPicPr>
            <p:blipFill>
              <a:blip r:embed="rId10"/>
              <a:stretch/>
            </p:blipFill>
            <p:spPr>
              <a:xfrm>
                <a:off x="6861600" y="6435000"/>
                <a:ext cx="210600" cy="210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71" name="Google Shape;307;p5"/>
              <p:cNvSpPr/>
              <p:nvPr/>
            </p:nvSpPr>
            <p:spPr>
              <a:xfrm>
                <a:off x="716256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2" name="Google Shape;308;p5"/>
              <p:cNvSpPr/>
              <p:nvPr/>
            </p:nvSpPr>
            <p:spPr>
              <a:xfrm>
                <a:off x="7298640" y="644040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5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73" name="Google Shape;309;p5"/>
            <p:cNvGrpSpPr/>
            <p:nvPr/>
          </p:nvGrpSpPr>
          <p:grpSpPr>
            <a:xfrm>
              <a:off x="8115840" y="6346080"/>
              <a:ext cx="650880" cy="300240"/>
              <a:chOff x="8115840" y="6346080"/>
              <a:chExt cx="650880" cy="300240"/>
            </a:xfrm>
          </p:grpSpPr>
          <p:sp>
            <p:nvSpPr>
              <p:cNvPr id="474" name="Google Shape;310;p5"/>
              <p:cNvSpPr/>
              <p:nvPr/>
            </p:nvSpPr>
            <p:spPr>
              <a:xfrm>
                <a:off x="81158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5" name="Google Shape;311;p5"/>
              <p:cNvSpPr/>
              <p:nvPr/>
            </p:nvSpPr>
            <p:spPr>
              <a:xfrm>
                <a:off x="81158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6" name="Google Shape;312;p5"/>
              <p:cNvSpPr/>
              <p:nvPr/>
            </p:nvSpPr>
            <p:spPr>
              <a:xfrm>
                <a:off x="8115840" y="645372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477" name="Google Shape;313;p5"/>
              <p:cNvPicPr/>
              <p:nvPr/>
            </p:nvPicPr>
            <p:blipFill>
              <a:blip r:embed="rId11"/>
              <a:stretch/>
            </p:blipFill>
            <p:spPr>
              <a:xfrm>
                <a:off x="8115840" y="645372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78" name="Google Shape;314;p5"/>
              <p:cNvSpPr/>
              <p:nvPr/>
            </p:nvSpPr>
            <p:spPr>
              <a:xfrm>
                <a:off x="841680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Google Shape;315;p5"/>
              <p:cNvSpPr/>
              <p:nvPr/>
            </p:nvSpPr>
            <p:spPr>
              <a:xfrm>
                <a:off x="841680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80" name="Google Shape;316;p5"/>
            <p:cNvGrpSpPr/>
            <p:nvPr/>
          </p:nvGrpSpPr>
          <p:grpSpPr>
            <a:xfrm>
              <a:off x="6560280" y="6344640"/>
              <a:ext cx="300240" cy="300240"/>
              <a:chOff x="6560280" y="6344640"/>
              <a:chExt cx="300240" cy="300240"/>
            </a:xfrm>
          </p:grpSpPr>
          <p:sp>
            <p:nvSpPr>
              <p:cNvPr id="481" name="Google Shape;317;p5"/>
              <p:cNvSpPr/>
              <p:nvPr/>
            </p:nvSpPr>
            <p:spPr>
              <a:xfrm>
                <a:off x="6560280" y="634464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2" name="Google Shape;318;p5"/>
              <p:cNvSpPr/>
              <p:nvPr/>
            </p:nvSpPr>
            <p:spPr>
              <a:xfrm>
                <a:off x="6601320" y="638568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5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483" name="Google Shape;319;p5"/>
              <p:cNvPicPr/>
              <p:nvPr/>
            </p:nvPicPr>
            <p:blipFill>
              <a:blip r:embed="rId12"/>
              <a:stretch/>
            </p:blipFill>
            <p:spPr>
              <a:xfrm>
                <a:off x="6680520" y="645084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484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Title Slide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10;p1"/>
          <p:cNvPicPr/>
          <p:nvPr/>
        </p:nvPicPr>
        <p:blipFill>
          <a:blip r:embed="rId2"/>
          <a:stretch/>
        </p:blipFill>
        <p:spPr>
          <a:xfrm>
            <a:off x="9929160" y="295200"/>
            <a:ext cx="1971360" cy="5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6" name="Google Shape;11;p1"/>
          <p:cNvSpPr/>
          <p:nvPr/>
        </p:nvSpPr>
        <p:spPr>
          <a:xfrm>
            <a:off x="7142760" y="6258960"/>
            <a:ext cx="4861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sng" strike="noStrike">
                <a:solidFill>
                  <a:srgbClr val="467886"/>
                </a:solidFill>
                <a:effectLst/>
                <a:uFillTx/>
                <a:latin typeface="Poppins Light"/>
                <a:ea typeface="Poppins Light"/>
                <a:hlinkClick r:id="rId3"/>
              </a:rPr>
              <a:t>Interledger.org</a:t>
            </a: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#OpenPayments #ILPHacks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1"/>
          <p:cNvSpPr>
            <a:spLocks noGrp="1"/>
          </p:cNvSpPr>
          <p:nvPr>
            <p:ph type="body"/>
          </p:nvPr>
        </p:nvSpPr>
        <p:spPr>
          <a:xfrm>
            <a:off x="271080" y="83304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271080" y="55872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body"/>
          </p:nvPr>
        </p:nvSpPr>
        <p:spPr>
          <a:xfrm>
            <a:off x="4824000" y="2248920"/>
            <a:ext cx="6090480" cy="271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4"/>
          <p:cNvSpPr>
            <a:spLocks noGrp="1"/>
          </p:cNvSpPr>
          <p:nvPr>
            <p:ph type="body"/>
          </p:nvPr>
        </p:nvSpPr>
        <p:spPr>
          <a:xfrm>
            <a:off x="7142760" y="6566760"/>
            <a:ext cx="4861800" cy="2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91" name="Google Shape;325;p6"/>
          <p:cNvGrpSpPr/>
          <p:nvPr/>
        </p:nvGrpSpPr>
        <p:grpSpPr>
          <a:xfrm>
            <a:off x="0" y="6344640"/>
            <a:ext cx="9068400" cy="301680"/>
            <a:chOff x="0" y="6344640"/>
            <a:chExt cx="9068400" cy="301680"/>
          </a:xfrm>
        </p:grpSpPr>
        <p:grpSp>
          <p:nvGrpSpPr>
            <p:cNvPr id="492" name="Google Shape;326;p6"/>
            <p:cNvGrpSpPr/>
            <p:nvPr/>
          </p:nvGrpSpPr>
          <p:grpSpPr>
            <a:xfrm>
              <a:off x="0" y="6345000"/>
              <a:ext cx="593640" cy="300600"/>
              <a:chOff x="0" y="6345000"/>
              <a:chExt cx="593640" cy="300600"/>
            </a:xfrm>
          </p:grpSpPr>
          <p:sp>
            <p:nvSpPr>
              <p:cNvPr id="493" name="Google Shape;327;p6"/>
              <p:cNvSpPr/>
              <p:nvPr/>
            </p:nvSpPr>
            <p:spPr>
              <a:xfrm>
                <a:off x="0" y="6345360"/>
                <a:ext cx="292320" cy="292320"/>
              </a:xfrm>
              <a:custGeom>
                <a:avLst/>
                <a:gdLst>
                  <a:gd name="textAreaLeft" fmla="*/ 0 w 292320"/>
                  <a:gd name="textAreaRight" fmla="*/ 293400 w 292320"/>
                  <a:gd name="textAreaTop" fmla="*/ 0 h 292320"/>
                  <a:gd name="textAreaBottom" fmla="*/ 293400 h 292320"/>
                </a:gdLst>
                <a:ahLst/>
                <a:cxnLst/>
                <a:rect l="textAreaLeft" t="textAreaTop" r="textAreaRight" b="textAreaBottom"/>
                <a:pathLst>
                  <a:path w="423545" h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w="423545" h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w="423545" h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w="423545" h="423545">
                    <a:moveTo>
                      <a:pt x="423379" y="38"/>
                    </a:moveTo>
                  </a:path>
                  <a:path w="423545" h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w="423545" h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Google Shape;328;p6"/>
              <p:cNvSpPr/>
              <p:nvPr/>
            </p:nvSpPr>
            <p:spPr>
              <a:xfrm>
                <a:off x="2934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5" name="Google Shape;329;p6"/>
              <p:cNvSpPr/>
              <p:nvPr/>
            </p:nvSpPr>
            <p:spPr>
              <a:xfrm>
                <a:off x="2934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6" name="Google Shape;330;p6"/>
              <p:cNvSpPr/>
              <p:nvPr/>
            </p:nvSpPr>
            <p:spPr>
              <a:xfrm>
                <a:off x="293400" y="645300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497" name="Google Shape;331;p6"/>
              <p:cNvPicPr/>
              <p:nvPr/>
            </p:nvPicPr>
            <p:blipFill>
              <a:blip r:embed="rId4"/>
              <a:stretch/>
            </p:blipFill>
            <p:spPr>
              <a:xfrm>
                <a:off x="293400" y="645300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498" name="Google Shape;332;p6"/>
            <p:cNvGrpSpPr/>
            <p:nvPr/>
          </p:nvGrpSpPr>
          <p:grpSpPr>
            <a:xfrm>
              <a:off x="594720" y="6345000"/>
              <a:ext cx="951840" cy="300240"/>
              <a:chOff x="594720" y="6345000"/>
              <a:chExt cx="951840" cy="300240"/>
            </a:xfrm>
          </p:grpSpPr>
          <p:sp>
            <p:nvSpPr>
              <p:cNvPr id="499" name="Google Shape;333;p6"/>
              <p:cNvSpPr/>
              <p:nvPr/>
            </p:nvSpPr>
            <p:spPr>
              <a:xfrm>
                <a:off x="94536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0" name="Google Shape;334;p6"/>
              <p:cNvSpPr/>
              <p:nvPr/>
            </p:nvSpPr>
            <p:spPr>
              <a:xfrm>
                <a:off x="945360" y="6366600"/>
                <a:ext cx="300240" cy="25776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257760"/>
                  <a:gd name="textAreaBottom" fmla="*/ 258840 h 257760"/>
                </a:gdLst>
                <a:ahLst/>
                <a:cxnLst/>
                <a:rect l="textAreaLeft" t="textAreaTop" r="textAreaRight" b="textAreaBottom"/>
                <a:pathLst>
                  <a:path w="434975" h="373379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w="434975" h="373379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w="434975" h="373379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w="434975" h="373379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w="434975" h="373379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w="434975" h="373379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w="434975" h="373379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w="434975" h="373379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w="434975" h="373379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w="434975" h="373379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w="434975" h="373379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w="434975" h="373379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w="434975" h="373379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w="434975" h="373379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w="434975" h="373379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w="434975" h="373379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1" name="Google Shape;335;p6"/>
              <p:cNvSpPr/>
              <p:nvPr/>
            </p:nvSpPr>
            <p:spPr>
              <a:xfrm>
                <a:off x="124632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2" name="Google Shape;336;p6"/>
              <p:cNvSpPr/>
              <p:nvPr/>
            </p:nvSpPr>
            <p:spPr>
              <a:xfrm>
                <a:off x="1287360" y="638604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4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503" name="Google Shape;337;p6"/>
              <p:cNvPicPr/>
              <p:nvPr/>
            </p:nvPicPr>
            <p:blipFill>
              <a:blip r:embed="rId5"/>
              <a:stretch/>
            </p:blipFill>
            <p:spPr>
              <a:xfrm>
                <a:off x="1366560" y="645120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504" name="Google Shape;338;p6"/>
              <p:cNvSpPr/>
              <p:nvPr/>
            </p:nvSpPr>
            <p:spPr>
              <a:xfrm>
                <a:off x="59472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5" name="Google Shape;339;p6"/>
              <p:cNvSpPr/>
              <p:nvPr/>
            </p:nvSpPr>
            <p:spPr>
              <a:xfrm>
                <a:off x="59472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30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30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06" name="Google Shape;340;p6"/>
            <p:cNvGrpSpPr/>
            <p:nvPr/>
          </p:nvGrpSpPr>
          <p:grpSpPr>
            <a:xfrm>
              <a:off x="1898280" y="6345720"/>
              <a:ext cx="601560" cy="300240"/>
              <a:chOff x="1898280" y="6345720"/>
              <a:chExt cx="601560" cy="300240"/>
            </a:xfrm>
          </p:grpSpPr>
          <p:sp>
            <p:nvSpPr>
              <p:cNvPr id="507" name="Google Shape;341;p6"/>
              <p:cNvSpPr/>
              <p:nvPr/>
            </p:nvSpPr>
            <p:spPr>
              <a:xfrm>
                <a:off x="219960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8" name="Google Shape;342;p6"/>
              <p:cNvSpPr/>
              <p:nvPr/>
            </p:nvSpPr>
            <p:spPr>
              <a:xfrm>
                <a:off x="219960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w="434975" h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9" name="Google Shape;343;p6"/>
              <p:cNvSpPr/>
              <p:nvPr/>
            </p:nvSpPr>
            <p:spPr>
              <a:xfrm>
                <a:off x="18982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Google Shape;344;p6"/>
              <p:cNvSpPr/>
              <p:nvPr/>
            </p:nvSpPr>
            <p:spPr>
              <a:xfrm>
                <a:off x="1954080" y="640116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19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Google Shape;345;p6"/>
              <p:cNvSpPr/>
              <p:nvPr/>
            </p:nvSpPr>
            <p:spPr>
              <a:xfrm>
                <a:off x="2012400" y="644040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89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12" name="Google Shape;346;p6"/>
            <p:cNvGrpSpPr/>
            <p:nvPr/>
          </p:nvGrpSpPr>
          <p:grpSpPr>
            <a:xfrm>
              <a:off x="1547640" y="6344640"/>
              <a:ext cx="349920" cy="300240"/>
              <a:chOff x="1547640" y="6344640"/>
              <a:chExt cx="349920" cy="300240"/>
            </a:xfrm>
          </p:grpSpPr>
          <p:sp>
            <p:nvSpPr>
              <p:cNvPr id="513" name="Google Shape;347;p6"/>
              <p:cNvSpPr/>
              <p:nvPr/>
            </p:nvSpPr>
            <p:spPr>
              <a:xfrm>
                <a:off x="1547640" y="634464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30" h="434975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4" name="Google Shape;348;p6"/>
              <p:cNvSpPr/>
              <p:nvPr/>
            </p:nvSpPr>
            <p:spPr>
              <a:xfrm>
                <a:off x="1683720" y="643968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4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15" name="Google Shape;349;p6"/>
            <p:cNvSpPr/>
            <p:nvPr/>
          </p:nvSpPr>
          <p:spPr>
            <a:xfrm>
              <a:off x="4708800" y="6346080"/>
              <a:ext cx="301320" cy="300240"/>
            </a:xfrm>
            <a:custGeom>
              <a:avLst/>
              <a:gdLst>
                <a:gd name="textAreaLeft" fmla="*/ 0 w 301320"/>
                <a:gd name="textAreaRight" fmla="*/ 302400 w 301320"/>
                <a:gd name="textAreaTop" fmla="*/ 0 h 300240"/>
                <a:gd name="textAreaBottom" fmla="*/ 301320 h 300240"/>
              </a:gdLst>
              <a:ahLst/>
              <a:cxnLst/>
              <a:rect l="textAreaLeft" t="textAreaTop" r="textAreaRight" b="textAreaBottom"/>
              <a:pathLst>
                <a:path w="436245" h="43497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5" h="43497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5" h="43497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5" h="43497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5" h="43497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5" h="43497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5" h="434975">
                  <a:moveTo>
                    <a:pt x="435978" y="101"/>
                  </a:moveTo>
                </a:path>
                <a:path w="436245" h="434975">
                  <a:moveTo>
                    <a:pt x="435978" y="50"/>
                  </a:moveTo>
                </a:path>
                <a:path w="436245" h="43497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5" h="43497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5" h="43497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5" h="43497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6" name="Google Shape;350;p6"/>
            <p:cNvGrpSpPr/>
            <p:nvPr/>
          </p:nvGrpSpPr>
          <p:grpSpPr>
            <a:xfrm>
              <a:off x="3454920" y="6346080"/>
              <a:ext cx="601560" cy="300240"/>
              <a:chOff x="3454920" y="6346080"/>
              <a:chExt cx="601560" cy="300240"/>
            </a:xfrm>
          </p:grpSpPr>
          <p:sp>
            <p:nvSpPr>
              <p:cNvPr id="517" name="Google Shape;351;p6"/>
              <p:cNvSpPr/>
              <p:nvPr/>
            </p:nvSpPr>
            <p:spPr>
              <a:xfrm>
                <a:off x="37562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8" name="Google Shape;352;p6"/>
              <p:cNvSpPr/>
              <p:nvPr/>
            </p:nvSpPr>
            <p:spPr>
              <a:xfrm>
                <a:off x="37562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w="434975" h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w="434975" h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9" name="Google Shape;353;p6"/>
              <p:cNvSpPr/>
              <p:nvPr/>
            </p:nvSpPr>
            <p:spPr>
              <a:xfrm>
                <a:off x="34549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0" name="Google Shape;354;p6"/>
              <p:cNvSpPr/>
              <p:nvPr/>
            </p:nvSpPr>
            <p:spPr>
              <a:xfrm>
                <a:off x="3510720" y="640188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1" name="Google Shape;355;p6"/>
              <p:cNvSpPr/>
              <p:nvPr/>
            </p:nvSpPr>
            <p:spPr>
              <a:xfrm>
                <a:off x="3569040" y="644076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89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22" name="Google Shape;356;p6"/>
            <p:cNvGrpSpPr/>
            <p:nvPr/>
          </p:nvGrpSpPr>
          <p:grpSpPr>
            <a:xfrm>
              <a:off x="2803320" y="6345000"/>
              <a:ext cx="650880" cy="301320"/>
              <a:chOff x="2803320" y="6345000"/>
              <a:chExt cx="650880" cy="301320"/>
            </a:xfrm>
          </p:grpSpPr>
          <p:sp>
            <p:nvSpPr>
              <p:cNvPr id="523" name="Google Shape;357;p6"/>
              <p:cNvSpPr/>
              <p:nvPr/>
            </p:nvSpPr>
            <p:spPr>
              <a:xfrm>
                <a:off x="2803680" y="6346080"/>
                <a:ext cx="299880" cy="300240"/>
              </a:xfrm>
              <a:custGeom>
                <a:avLst/>
                <a:gdLst>
                  <a:gd name="textAreaLeft" fmla="*/ 0 w 299880"/>
                  <a:gd name="textAreaRight" fmla="*/ 300960 w 29988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339" h="434975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4" name="Google Shape;358;p6"/>
              <p:cNvSpPr/>
              <p:nvPr/>
            </p:nvSpPr>
            <p:spPr>
              <a:xfrm>
                <a:off x="2803320" y="6435000"/>
                <a:ext cx="210960" cy="210960"/>
              </a:xfrm>
              <a:custGeom>
                <a:avLst/>
                <a:gdLst>
                  <a:gd name="textAreaLeft" fmla="*/ 0 w 210960"/>
                  <a:gd name="textAreaRight" fmla="*/ 212040 w 210960"/>
                  <a:gd name="textAreaTop" fmla="*/ 0 h 210960"/>
                  <a:gd name="textAreaBottom" fmla="*/ 212040 h 210960"/>
                </a:gdLst>
                <a:ahLst/>
                <a:cxnLst/>
                <a:rect l="textAreaLeft" t="textAreaTop" r="textAreaRight" b="textAreaBottom"/>
                <a:pathLst>
                  <a:path w="306070" h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525" name="Google Shape;359;p6"/>
              <p:cNvPicPr/>
              <p:nvPr/>
            </p:nvPicPr>
            <p:blipFill>
              <a:blip r:embed="rId6"/>
              <a:stretch/>
            </p:blipFill>
            <p:spPr>
              <a:xfrm>
                <a:off x="2803320" y="6435000"/>
                <a:ext cx="210600" cy="210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526" name="Google Shape;360;p6"/>
              <p:cNvSpPr/>
              <p:nvPr/>
            </p:nvSpPr>
            <p:spPr>
              <a:xfrm>
                <a:off x="310428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7" name="Google Shape;361;p6"/>
              <p:cNvSpPr/>
              <p:nvPr/>
            </p:nvSpPr>
            <p:spPr>
              <a:xfrm>
                <a:off x="3240360" y="644040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4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28" name="Google Shape;362;p6"/>
            <p:cNvGrpSpPr/>
            <p:nvPr/>
          </p:nvGrpSpPr>
          <p:grpSpPr>
            <a:xfrm>
              <a:off x="4057560" y="6346080"/>
              <a:ext cx="650880" cy="300240"/>
              <a:chOff x="4057560" y="6346080"/>
              <a:chExt cx="650880" cy="300240"/>
            </a:xfrm>
          </p:grpSpPr>
          <p:sp>
            <p:nvSpPr>
              <p:cNvPr id="529" name="Google Shape;363;p6"/>
              <p:cNvSpPr/>
              <p:nvPr/>
            </p:nvSpPr>
            <p:spPr>
              <a:xfrm>
                <a:off x="405756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Google Shape;364;p6"/>
              <p:cNvSpPr/>
              <p:nvPr/>
            </p:nvSpPr>
            <p:spPr>
              <a:xfrm>
                <a:off x="405756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Google Shape;365;p6"/>
              <p:cNvSpPr/>
              <p:nvPr/>
            </p:nvSpPr>
            <p:spPr>
              <a:xfrm>
                <a:off x="4057560" y="645372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532" name="Google Shape;366;p6"/>
              <p:cNvPicPr/>
              <p:nvPr/>
            </p:nvPicPr>
            <p:blipFill>
              <a:blip r:embed="rId7"/>
              <a:stretch/>
            </p:blipFill>
            <p:spPr>
              <a:xfrm>
                <a:off x="4057560" y="645372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533" name="Google Shape;367;p6"/>
              <p:cNvSpPr/>
              <p:nvPr/>
            </p:nvSpPr>
            <p:spPr>
              <a:xfrm>
                <a:off x="435852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4" name="Google Shape;368;p6"/>
              <p:cNvSpPr/>
              <p:nvPr/>
            </p:nvSpPr>
            <p:spPr>
              <a:xfrm>
                <a:off x="435852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35" name="Google Shape;369;p6"/>
            <p:cNvGrpSpPr/>
            <p:nvPr/>
          </p:nvGrpSpPr>
          <p:grpSpPr>
            <a:xfrm>
              <a:off x="2502000" y="6344640"/>
              <a:ext cx="300240" cy="300240"/>
              <a:chOff x="2502000" y="6344640"/>
              <a:chExt cx="300240" cy="300240"/>
            </a:xfrm>
          </p:grpSpPr>
          <p:sp>
            <p:nvSpPr>
              <p:cNvPr id="536" name="Google Shape;370;p6"/>
              <p:cNvSpPr/>
              <p:nvPr/>
            </p:nvSpPr>
            <p:spPr>
              <a:xfrm>
                <a:off x="2502000" y="634464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7" name="Google Shape;371;p6"/>
              <p:cNvSpPr/>
              <p:nvPr/>
            </p:nvSpPr>
            <p:spPr>
              <a:xfrm>
                <a:off x="2543040" y="638568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4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538" name="Google Shape;372;p6"/>
              <p:cNvPicPr/>
              <p:nvPr/>
            </p:nvPicPr>
            <p:blipFill>
              <a:blip r:embed="rId8"/>
              <a:stretch/>
            </p:blipFill>
            <p:spPr>
              <a:xfrm>
                <a:off x="2622240" y="645084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539" name="Google Shape;373;p6"/>
            <p:cNvGrpSpPr/>
            <p:nvPr/>
          </p:nvGrpSpPr>
          <p:grpSpPr>
            <a:xfrm>
              <a:off x="5007960" y="6345000"/>
              <a:ext cx="596880" cy="300240"/>
              <a:chOff x="5007960" y="6345000"/>
              <a:chExt cx="596880" cy="300240"/>
            </a:xfrm>
          </p:grpSpPr>
          <p:sp>
            <p:nvSpPr>
              <p:cNvPr id="540" name="Google Shape;374;p6"/>
              <p:cNvSpPr/>
              <p:nvPr/>
            </p:nvSpPr>
            <p:spPr>
              <a:xfrm>
                <a:off x="5007960" y="6345000"/>
                <a:ext cx="295920" cy="300240"/>
              </a:xfrm>
              <a:custGeom>
                <a:avLst/>
                <a:gdLst>
                  <a:gd name="textAreaLeft" fmla="*/ 0 w 295920"/>
                  <a:gd name="textAreaRight" fmla="*/ 297000 w 295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28625" h="43497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1" name="Google Shape;375;p6"/>
              <p:cNvSpPr/>
              <p:nvPr/>
            </p:nvSpPr>
            <p:spPr>
              <a:xfrm>
                <a:off x="5007960" y="6366600"/>
                <a:ext cx="295920" cy="257760"/>
              </a:xfrm>
              <a:custGeom>
                <a:avLst/>
                <a:gdLst>
                  <a:gd name="textAreaLeft" fmla="*/ 0 w 295920"/>
                  <a:gd name="textAreaRight" fmla="*/ 297000 w 295920"/>
                  <a:gd name="textAreaTop" fmla="*/ 0 h 257760"/>
                  <a:gd name="textAreaBottom" fmla="*/ 258840 h 257760"/>
                </a:gdLst>
                <a:ahLst/>
                <a:cxnLst/>
                <a:rect l="textAreaLeft" t="textAreaTop" r="textAreaRight" b="textAreaBottom"/>
                <a:pathLst>
                  <a:path w="428625" h="373379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w="428625" h="373379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w="428625" h="373379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w="428625" h="373379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w="428625" h="373379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w="428625" h="373379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w="428625" h="373379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w="428625" h="373379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w="428625" h="373379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w="428625" h="373379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w="428625" h="373379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w="428625" h="373379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w="428625" h="373379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w="428625" h="373379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w="428625" h="373379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w="428625" h="373379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2" name="Google Shape;376;p6"/>
              <p:cNvSpPr/>
              <p:nvPr/>
            </p:nvSpPr>
            <p:spPr>
              <a:xfrm>
                <a:off x="5304600" y="634500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Google Shape;377;p6"/>
              <p:cNvSpPr/>
              <p:nvPr/>
            </p:nvSpPr>
            <p:spPr>
              <a:xfrm>
                <a:off x="5345640" y="638604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5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544" name="Google Shape;378;p6"/>
              <p:cNvPicPr/>
              <p:nvPr/>
            </p:nvPicPr>
            <p:blipFill>
              <a:blip r:embed="rId9"/>
              <a:stretch/>
            </p:blipFill>
            <p:spPr>
              <a:xfrm>
                <a:off x="5424840" y="645120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545" name="Google Shape;379;p6"/>
            <p:cNvGrpSpPr/>
            <p:nvPr/>
          </p:nvGrpSpPr>
          <p:grpSpPr>
            <a:xfrm>
              <a:off x="5956560" y="6345720"/>
              <a:ext cx="601560" cy="300240"/>
              <a:chOff x="5956560" y="6345720"/>
              <a:chExt cx="601560" cy="300240"/>
            </a:xfrm>
          </p:grpSpPr>
          <p:sp>
            <p:nvSpPr>
              <p:cNvPr id="546" name="Google Shape;380;p6"/>
              <p:cNvSpPr/>
              <p:nvPr/>
            </p:nvSpPr>
            <p:spPr>
              <a:xfrm>
                <a:off x="62578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7" name="Google Shape;381;p6"/>
              <p:cNvSpPr/>
              <p:nvPr/>
            </p:nvSpPr>
            <p:spPr>
              <a:xfrm>
                <a:off x="625788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w="434975" h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w="434975" h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Google Shape;382;p6"/>
              <p:cNvSpPr/>
              <p:nvPr/>
            </p:nvSpPr>
            <p:spPr>
              <a:xfrm>
                <a:off x="5956560" y="634572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Google Shape;383;p6"/>
              <p:cNvSpPr/>
              <p:nvPr/>
            </p:nvSpPr>
            <p:spPr>
              <a:xfrm>
                <a:off x="6012360" y="640116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Google Shape;384;p6"/>
              <p:cNvSpPr/>
              <p:nvPr/>
            </p:nvSpPr>
            <p:spPr>
              <a:xfrm>
                <a:off x="6070680" y="644040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90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51" name="Google Shape;385;p6"/>
            <p:cNvGrpSpPr/>
            <p:nvPr/>
          </p:nvGrpSpPr>
          <p:grpSpPr>
            <a:xfrm>
              <a:off x="5605920" y="6344640"/>
              <a:ext cx="349920" cy="300240"/>
              <a:chOff x="5605920" y="6344640"/>
              <a:chExt cx="349920" cy="300240"/>
            </a:xfrm>
          </p:grpSpPr>
          <p:sp>
            <p:nvSpPr>
              <p:cNvPr id="552" name="Google Shape;386;p6"/>
              <p:cNvSpPr/>
              <p:nvPr/>
            </p:nvSpPr>
            <p:spPr>
              <a:xfrm>
                <a:off x="5605920" y="634464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3" name="Google Shape;387;p6"/>
              <p:cNvSpPr/>
              <p:nvPr/>
            </p:nvSpPr>
            <p:spPr>
              <a:xfrm>
                <a:off x="5742000" y="643968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5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4" name="Google Shape;388;p6"/>
            <p:cNvSpPr/>
            <p:nvPr/>
          </p:nvSpPr>
          <p:spPr>
            <a:xfrm>
              <a:off x="8767080" y="6346080"/>
              <a:ext cx="301320" cy="300240"/>
            </a:xfrm>
            <a:custGeom>
              <a:avLst/>
              <a:gdLst>
                <a:gd name="textAreaLeft" fmla="*/ 0 w 301320"/>
                <a:gd name="textAreaRight" fmla="*/ 302400 w 301320"/>
                <a:gd name="textAreaTop" fmla="*/ 0 h 300240"/>
                <a:gd name="textAreaBottom" fmla="*/ 301320 h 300240"/>
              </a:gdLst>
              <a:ahLst/>
              <a:cxnLst/>
              <a:rect l="textAreaLeft" t="textAreaTop" r="textAreaRight" b="textAreaBottom"/>
              <a:pathLst>
                <a:path w="436244" h="43497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w="436244" h="43497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w="436244" h="43497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w="436244" h="43497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w="436244" h="43497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w="436244" h="43497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w="436244" h="434975">
                  <a:moveTo>
                    <a:pt x="435978" y="101"/>
                  </a:moveTo>
                </a:path>
                <a:path w="436244" h="434975">
                  <a:moveTo>
                    <a:pt x="435978" y="50"/>
                  </a:moveTo>
                </a:path>
                <a:path w="436244" h="43497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w="436244" h="43497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w="436244" h="43497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w="436244" h="43497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5" name="Google Shape;389;p6"/>
            <p:cNvGrpSpPr/>
            <p:nvPr/>
          </p:nvGrpSpPr>
          <p:grpSpPr>
            <a:xfrm>
              <a:off x="7513200" y="6346080"/>
              <a:ext cx="601560" cy="300240"/>
              <a:chOff x="7513200" y="6346080"/>
              <a:chExt cx="601560" cy="300240"/>
            </a:xfrm>
          </p:grpSpPr>
          <p:sp>
            <p:nvSpPr>
              <p:cNvPr id="556" name="Google Shape;390;p6"/>
              <p:cNvSpPr/>
              <p:nvPr/>
            </p:nvSpPr>
            <p:spPr>
              <a:xfrm>
                <a:off x="78145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Google Shape;391;p6"/>
              <p:cNvSpPr/>
              <p:nvPr/>
            </p:nvSpPr>
            <p:spPr>
              <a:xfrm>
                <a:off x="781452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w="434975" h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w="434975" h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Google Shape;392;p6"/>
              <p:cNvSpPr/>
              <p:nvPr/>
            </p:nvSpPr>
            <p:spPr>
              <a:xfrm>
                <a:off x="751320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Google Shape;393;p6"/>
              <p:cNvSpPr/>
              <p:nvPr/>
            </p:nvSpPr>
            <p:spPr>
              <a:xfrm>
                <a:off x="7569000" y="6401880"/>
                <a:ext cx="189000" cy="189000"/>
              </a:xfrm>
              <a:custGeom>
                <a:avLst/>
                <a:gdLst>
                  <a:gd name="textAreaLeft" fmla="*/ 0 w 189000"/>
                  <a:gd name="textAreaRight" fmla="*/ 190080 w 189000"/>
                  <a:gd name="textAreaTop" fmla="*/ 0 h 189000"/>
                  <a:gd name="textAreaBottom" fmla="*/ 190080 h 189000"/>
                </a:gdLst>
                <a:ahLst/>
                <a:cxnLst/>
                <a:rect l="textAreaLeft" t="textAreaTop" r="textAreaRight" b="textAreaBottom"/>
                <a:pathLst>
                  <a:path w="274320" h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Google Shape;394;p6"/>
              <p:cNvSpPr/>
              <p:nvPr/>
            </p:nvSpPr>
            <p:spPr>
              <a:xfrm>
                <a:off x="7627320" y="6440760"/>
                <a:ext cx="93240" cy="108000"/>
              </a:xfrm>
              <a:custGeom>
                <a:avLst/>
                <a:gdLst>
                  <a:gd name="textAreaLeft" fmla="*/ 0 w 93240"/>
                  <a:gd name="textAreaRight" fmla="*/ 94320 w 93240"/>
                  <a:gd name="textAreaTop" fmla="*/ 0 h 108000"/>
                  <a:gd name="textAreaBottom" fmla="*/ 109080 h 108000"/>
                </a:gdLst>
                <a:ahLst/>
                <a:cxnLst/>
                <a:rect l="textAreaLeft" t="textAreaTop" r="textAreaRight" b="textAreaBottom"/>
                <a:pathLst>
                  <a:path w="135890" h="15747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61" name="Google Shape;395;p6"/>
            <p:cNvGrpSpPr/>
            <p:nvPr/>
          </p:nvGrpSpPr>
          <p:grpSpPr>
            <a:xfrm>
              <a:off x="6861600" y="6345000"/>
              <a:ext cx="650880" cy="301320"/>
              <a:chOff x="6861600" y="6345000"/>
              <a:chExt cx="650880" cy="301320"/>
            </a:xfrm>
          </p:grpSpPr>
          <p:sp>
            <p:nvSpPr>
              <p:cNvPr id="562" name="Google Shape;396;p6"/>
              <p:cNvSpPr/>
              <p:nvPr/>
            </p:nvSpPr>
            <p:spPr>
              <a:xfrm>
                <a:off x="6861960" y="6346080"/>
                <a:ext cx="299880" cy="300240"/>
              </a:xfrm>
              <a:custGeom>
                <a:avLst/>
                <a:gdLst>
                  <a:gd name="textAreaLeft" fmla="*/ 0 w 299880"/>
                  <a:gd name="textAreaRight" fmla="*/ 300960 w 29988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340" h="434975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3" name="Google Shape;397;p6"/>
              <p:cNvSpPr/>
              <p:nvPr/>
            </p:nvSpPr>
            <p:spPr>
              <a:xfrm>
                <a:off x="6861600" y="6435000"/>
                <a:ext cx="210960" cy="210960"/>
              </a:xfrm>
              <a:custGeom>
                <a:avLst/>
                <a:gdLst>
                  <a:gd name="textAreaLeft" fmla="*/ 0 w 210960"/>
                  <a:gd name="textAreaRight" fmla="*/ 212040 w 210960"/>
                  <a:gd name="textAreaTop" fmla="*/ 0 h 210960"/>
                  <a:gd name="textAreaBottom" fmla="*/ 212040 h 210960"/>
                </a:gdLst>
                <a:ahLst/>
                <a:cxnLst/>
                <a:rect l="textAreaLeft" t="textAreaTop" r="textAreaRight" b="textAreaBottom"/>
                <a:pathLst>
                  <a:path w="306070" h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564" name="Google Shape;398;p6"/>
              <p:cNvPicPr/>
              <p:nvPr/>
            </p:nvPicPr>
            <p:blipFill>
              <a:blip r:embed="rId10"/>
              <a:stretch/>
            </p:blipFill>
            <p:spPr>
              <a:xfrm>
                <a:off x="6861600" y="6435000"/>
                <a:ext cx="210600" cy="210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565" name="Google Shape;399;p6"/>
              <p:cNvSpPr/>
              <p:nvPr/>
            </p:nvSpPr>
            <p:spPr>
              <a:xfrm>
                <a:off x="7162560" y="634500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6" name="Google Shape;400;p6"/>
              <p:cNvSpPr/>
              <p:nvPr/>
            </p:nvSpPr>
            <p:spPr>
              <a:xfrm>
                <a:off x="7298640" y="6440400"/>
                <a:ext cx="77760" cy="109440"/>
              </a:xfrm>
              <a:custGeom>
                <a:avLst/>
                <a:gdLst>
                  <a:gd name="textAreaLeft" fmla="*/ 0 w 77760"/>
                  <a:gd name="textAreaRight" fmla="*/ 78840 w 77760"/>
                  <a:gd name="textAreaTop" fmla="*/ 0 h 109440"/>
                  <a:gd name="textAreaBottom" fmla="*/ 110520 h 109440"/>
                </a:gdLst>
                <a:ahLst/>
                <a:cxnLst/>
                <a:rect l="textAreaLeft" t="textAreaTop" r="textAreaRight" b="textAreaBottom"/>
                <a:pathLst>
                  <a:path w="113665" h="15938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67" name="Google Shape;401;p6"/>
            <p:cNvGrpSpPr/>
            <p:nvPr/>
          </p:nvGrpSpPr>
          <p:grpSpPr>
            <a:xfrm>
              <a:off x="8115840" y="6346080"/>
              <a:ext cx="650880" cy="300240"/>
              <a:chOff x="8115840" y="6346080"/>
              <a:chExt cx="650880" cy="300240"/>
            </a:xfrm>
          </p:grpSpPr>
          <p:sp>
            <p:nvSpPr>
              <p:cNvPr id="568" name="Google Shape;402;p6"/>
              <p:cNvSpPr/>
              <p:nvPr/>
            </p:nvSpPr>
            <p:spPr>
              <a:xfrm>
                <a:off x="81158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Google Shape;403;p6"/>
              <p:cNvSpPr/>
              <p:nvPr/>
            </p:nvSpPr>
            <p:spPr>
              <a:xfrm>
                <a:off x="8115840" y="634608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Google Shape;404;p6"/>
              <p:cNvSpPr/>
              <p:nvPr/>
            </p:nvSpPr>
            <p:spPr>
              <a:xfrm>
                <a:off x="8115840" y="6453720"/>
                <a:ext cx="192600" cy="192600"/>
              </a:xfrm>
              <a:custGeom>
                <a:avLst/>
                <a:gdLst>
                  <a:gd name="textAreaLeft" fmla="*/ 0 w 192600"/>
                  <a:gd name="textAreaRight" fmla="*/ 193680 w 192600"/>
                  <a:gd name="textAreaTop" fmla="*/ 0 h 192600"/>
                  <a:gd name="textAreaBottom" fmla="*/ 193680 h 192600"/>
                </a:gdLst>
                <a:ahLst/>
                <a:cxnLst/>
                <a:rect l="textAreaLeft" t="textAreaTop" r="textAreaRight" b="textAreaBottom"/>
                <a:pathLst>
                  <a:path w="279400" h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571" name="Google Shape;405;p6"/>
              <p:cNvPicPr/>
              <p:nvPr/>
            </p:nvPicPr>
            <p:blipFill>
              <a:blip r:embed="rId11"/>
              <a:stretch/>
            </p:blipFill>
            <p:spPr>
              <a:xfrm>
                <a:off x="8115840" y="6453720"/>
                <a:ext cx="192240" cy="192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572" name="Google Shape;406;p6"/>
              <p:cNvSpPr/>
              <p:nvPr/>
            </p:nvSpPr>
            <p:spPr>
              <a:xfrm>
                <a:off x="841680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3" name="Google Shape;407;p6"/>
              <p:cNvSpPr/>
              <p:nvPr/>
            </p:nvSpPr>
            <p:spPr>
              <a:xfrm>
                <a:off x="8416800" y="6346080"/>
                <a:ext cx="349920" cy="300240"/>
              </a:xfrm>
              <a:custGeom>
                <a:avLst/>
                <a:gdLst>
                  <a:gd name="textAreaLeft" fmla="*/ 0 w 349920"/>
                  <a:gd name="textAreaRight" fmla="*/ 351000 w 34992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506729" h="434975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w="506729" h="434975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74" name="Google Shape;408;p6"/>
            <p:cNvGrpSpPr/>
            <p:nvPr/>
          </p:nvGrpSpPr>
          <p:grpSpPr>
            <a:xfrm>
              <a:off x="6560280" y="6344640"/>
              <a:ext cx="300240" cy="300240"/>
              <a:chOff x="6560280" y="6344640"/>
              <a:chExt cx="300240" cy="300240"/>
            </a:xfrm>
          </p:grpSpPr>
          <p:sp>
            <p:nvSpPr>
              <p:cNvPr id="575" name="Google Shape;409;p6"/>
              <p:cNvSpPr/>
              <p:nvPr/>
            </p:nvSpPr>
            <p:spPr>
              <a:xfrm>
                <a:off x="6560280" y="6344640"/>
                <a:ext cx="300240" cy="300240"/>
              </a:xfrm>
              <a:custGeom>
                <a:avLst/>
                <a:gdLst>
                  <a:gd name="textAreaLeft" fmla="*/ 0 w 300240"/>
                  <a:gd name="textAreaRight" fmla="*/ 301320 w 300240"/>
                  <a:gd name="textAreaTop" fmla="*/ 0 h 300240"/>
                  <a:gd name="textAreaBottom" fmla="*/ 301320 h 300240"/>
                </a:gdLst>
                <a:ahLst/>
                <a:cxnLst/>
                <a:rect l="textAreaLeft" t="textAreaTop" r="textAreaRight" b="textAreaBottom"/>
                <a:pathLst>
                  <a:path w="434975" h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6" name="Google Shape;410;p6"/>
              <p:cNvSpPr/>
              <p:nvPr/>
            </p:nvSpPr>
            <p:spPr>
              <a:xfrm>
                <a:off x="6601320" y="6385680"/>
                <a:ext cx="218520" cy="218520"/>
              </a:xfrm>
              <a:custGeom>
                <a:avLst/>
                <a:gdLst>
                  <a:gd name="textAreaLeft" fmla="*/ 0 w 218520"/>
                  <a:gd name="textAreaRight" fmla="*/ 219600 w 218520"/>
                  <a:gd name="textAreaTop" fmla="*/ 0 h 218520"/>
                  <a:gd name="textAreaBottom" fmla="*/ 219600 h 218520"/>
                </a:gdLst>
                <a:ahLst/>
                <a:cxnLst/>
                <a:rect l="textAreaLeft" t="textAreaTop" r="textAreaRight" b="textAreaBottom"/>
                <a:pathLst>
                  <a:path w="316865" h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577" name="Google Shape;411;p6"/>
              <p:cNvPicPr/>
              <p:nvPr/>
            </p:nvPicPr>
            <p:blipFill>
              <a:blip r:embed="rId12"/>
              <a:stretch/>
            </p:blipFill>
            <p:spPr>
              <a:xfrm>
                <a:off x="6680520" y="6450840"/>
                <a:ext cx="73800" cy="738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578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5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10;p1"/>
          <p:cNvPicPr/>
          <p:nvPr/>
        </p:nvPicPr>
        <p:blipFill>
          <a:blip r:embed="rId2"/>
          <a:stretch/>
        </p:blipFill>
        <p:spPr>
          <a:xfrm>
            <a:off x="9929160" y="295200"/>
            <a:ext cx="1971360" cy="5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0" name="Google Shape;11;p1"/>
          <p:cNvSpPr/>
          <p:nvPr/>
        </p:nvSpPr>
        <p:spPr>
          <a:xfrm>
            <a:off x="7142760" y="6258960"/>
            <a:ext cx="4861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sng" strike="noStrike">
                <a:solidFill>
                  <a:srgbClr val="467886"/>
                </a:solidFill>
                <a:effectLst/>
                <a:uFillTx/>
                <a:latin typeface="Poppins Light"/>
                <a:ea typeface="Poppins Light"/>
                <a:hlinkClick r:id="rId3"/>
              </a:rPr>
              <a:t>Interledger.org</a:t>
            </a: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#OpenPayments #ILPHacks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Google Shape;618;p11"/>
          <p:cNvSpPr/>
          <p:nvPr/>
        </p:nvSpPr>
        <p:spPr>
          <a:xfrm>
            <a:off x="0" y="0"/>
            <a:ext cx="12182400" cy="6856920"/>
          </a:xfrm>
          <a:prstGeom prst="rect">
            <a:avLst/>
          </a:prstGeom>
          <a:solidFill>
            <a:srgbClr val="4815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Google Shape;619;p11"/>
          <p:cNvSpPr/>
          <p:nvPr/>
        </p:nvSpPr>
        <p:spPr>
          <a:xfrm>
            <a:off x="4043880" y="2761200"/>
            <a:ext cx="4094640" cy="79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MY" sz="4000" b="1" u="none" strike="noStrike">
                <a:solidFill>
                  <a:srgbClr val="FFA813"/>
                </a:solidFill>
                <a:effectLst/>
                <a:uFillTx/>
                <a:latin typeface="Poppins"/>
                <a:ea typeface="Poppins"/>
              </a:rPr>
              <a:t>GRACIAS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Google Shape;620;p11"/>
          <p:cNvSpPr/>
          <p:nvPr/>
        </p:nvSpPr>
        <p:spPr>
          <a:xfrm>
            <a:off x="6924240" y="5397480"/>
            <a:ext cx="476244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MY" sz="1750" b="1" u="none" strike="noStrike">
                <a:solidFill>
                  <a:srgbClr val="FFA813"/>
                </a:solidFill>
                <a:effectLst/>
                <a:uFillTx/>
                <a:latin typeface="Poppins"/>
                <a:ea typeface="Poppins"/>
              </a:rPr>
              <a:t>https://interledger.org/es/</a:t>
            </a:r>
            <a:r>
              <a:rPr lang="en-MY" sz="1750" b="1" u="none" strike="noStrike">
                <a:solidFill>
                  <a:srgbClr val="00E5C6"/>
                </a:solidFill>
                <a:effectLst/>
                <a:uFillTx/>
                <a:latin typeface="Poppins"/>
                <a:ea typeface="Poppins"/>
              </a:rPr>
              <a:t>Hackathon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MY" sz="1750" b="1" u="none" strike="noStrike">
                <a:solidFill>
                  <a:srgbClr val="00E5C6"/>
                </a:solidFill>
                <a:effectLst/>
                <a:uFillTx/>
                <a:latin typeface="Poppins"/>
                <a:ea typeface="Poppins"/>
              </a:rPr>
              <a:t>#OpenPayments </a:t>
            </a:r>
            <a:r>
              <a:rPr lang="en-MY" sz="1750" b="1" u="none" strike="noStrike">
                <a:solidFill>
                  <a:srgbClr val="FFA915"/>
                </a:solidFill>
                <a:effectLst/>
                <a:uFillTx/>
                <a:latin typeface="Poppins"/>
                <a:ea typeface="Poppins"/>
              </a:rPr>
              <a:t>#ILPHacks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Google Shape;621;p11"/>
          <p:cNvSpPr/>
          <p:nvPr/>
        </p:nvSpPr>
        <p:spPr>
          <a:xfrm>
            <a:off x="8280" y="5397120"/>
            <a:ext cx="5941800" cy="1024920"/>
          </a:xfrm>
          <a:custGeom>
            <a:avLst/>
            <a:gdLst>
              <a:gd name="textAreaLeft" fmla="*/ 0 w 5941800"/>
              <a:gd name="textAreaRight" fmla="*/ 5942880 w 5941800"/>
              <a:gd name="textAreaTop" fmla="*/ 0 h 1024920"/>
              <a:gd name="textAreaBottom" fmla="*/ 1026000 h 1024920"/>
            </a:gdLst>
            <a:ahLst/>
            <a:cxnLst/>
            <a:rect l="textAreaLeft" t="textAreaTop" r="textAreaRight" b="textAreaBottom"/>
            <a:pathLst>
              <a:path w="6930390" h="1196340">
                <a:moveTo>
                  <a:pt x="6930385" y="0"/>
                </a:moveTo>
                <a:lnTo>
                  <a:pt x="0" y="0"/>
                </a:lnTo>
                <a:lnTo>
                  <a:pt x="0" y="1195974"/>
                </a:lnTo>
                <a:lnTo>
                  <a:pt x="6930385" y="1195974"/>
                </a:lnTo>
                <a:lnTo>
                  <a:pt x="6930385" y="0"/>
                </a:lnTo>
                <a:close/>
              </a:path>
            </a:pathLst>
          </a:custGeom>
          <a:solidFill>
            <a:srgbClr val="FFA91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Google Shape;622;p11"/>
          <p:cNvSpPr/>
          <p:nvPr/>
        </p:nvSpPr>
        <p:spPr>
          <a:xfrm>
            <a:off x="284400" y="5639760"/>
            <a:ext cx="5422320" cy="523800"/>
          </a:xfrm>
          <a:custGeom>
            <a:avLst/>
            <a:gdLst>
              <a:gd name="textAreaLeft" fmla="*/ 0 w 5422320"/>
              <a:gd name="textAreaRight" fmla="*/ 5423400 w 5422320"/>
              <a:gd name="textAreaTop" fmla="*/ 0 h 523800"/>
              <a:gd name="textAreaBottom" fmla="*/ 524880 h 523800"/>
            </a:gdLst>
            <a:ahLst/>
            <a:cxnLst/>
            <a:rect l="textAreaLeft" t="textAreaTop" r="textAreaRight" b="textAreaBottom"/>
            <a:pathLst>
              <a:path w="6324600" h="612140">
                <a:moveTo>
                  <a:pt x="394309" y="305930"/>
                </a:moveTo>
                <a:lnTo>
                  <a:pt x="0" y="0"/>
                </a:lnTo>
                <a:lnTo>
                  <a:pt x="0" y="611860"/>
                </a:lnTo>
                <a:lnTo>
                  <a:pt x="394309" y="305930"/>
                </a:lnTo>
                <a:close/>
              </a:path>
              <a:path w="6324600" h="612140">
                <a:moveTo>
                  <a:pt x="933411" y="305930"/>
                </a:moveTo>
                <a:lnTo>
                  <a:pt x="539115" y="0"/>
                </a:lnTo>
                <a:lnTo>
                  <a:pt x="539115" y="611860"/>
                </a:lnTo>
                <a:lnTo>
                  <a:pt x="933411" y="305930"/>
                </a:lnTo>
                <a:close/>
              </a:path>
              <a:path w="6324600" h="612140">
                <a:moveTo>
                  <a:pt x="1472526" y="305930"/>
                </a:moveTo>
                <a:lnTo>
                  <a:pt x="1078217" y="0"/>
                </a:lnTo>
                <a:lnTo>
                  <a:pt x="1078217" y="611860"/>
                </a:lnTo>
                <a:lnTo>
                  <a:pt x="1472526" y="305930"/>
                </a:lnTo>
                <a:close/>
              </a:path>
              <a:path w="6324600" h="612140">
                <a:moveTo>
                  <a:pt x="2011629" y="305930"/>
                </a:moveTo>
                <a:lnTo>
                  <a:pt x="1617332" y="0"/>
                </a:lnTo>
                <a:lnTo>
                  <a:pt x="1617332" y="611860"/>
                </a:lnTo>
                <a:lnTo>
                  <a:pt x="2011629" y="305930"/>
                </a:lnTo>
                <a:close/>
              </a:path>
              <a:path w="6324600" h="612140">
                <a:moveTo>
                  <a:pt x="2550744" y="305930"/>
                </a:moveTo>
                <a:lnTo>
                  <a:pt x="2156434" y="0"/>
                </a:lnTo>
                <a:lnTo>
                  <a:pt x="2156434" y="611860"/>
                </a:lnTo>
                <a:lnTo>
                  <a:pt x="2550744" y="305930"/>
                </a:lnTo>
                <a:close/>
              </a:path>
              <a:path w="6324600" h="612140">
                <a:moveTo>
                  <a:pt x="3089846" y="305930"/>
                </a:moveTo>
                <a:lnTo>
                  <a:pt x="2695549" y="0"/>
                </a:lnTo>
                <a:lnTo>
                  <a:pt x="2695549" y="611860"/>
                </a:lnTo>
                <a:lnTo>
                  <a:pt x="3089846" y="305930"/>
                </a:lnTo>
                <a:close/>
              </a:path>
              <a:path w="6324600" h="612140">
                <a:moveTo>
                  <a:pt x="3628961" y="305930"/>
                </a:moveTo>
                <a:lnTo>
                  <a:pt x="3234664" y="0"/>
                </a:lnTo>
                <a:lnTo>
                  <a:pt x="3234664" y="611860"/>
                </a:lnTo>
                <a:lnTo>
                  <a:pt x="3628961" y="305930"/>
                </a:lnTo>
                <a:close/>
              </a:path>
              <a:path w="6324600" h="612140">
                <a:moveTo>
                  <a:pt x="4168063" y="305930"/>
                </a:moveTo>
                <a:lnTo>
                  <a:pt x="3773767" y="0"/>
                </a:lnTo>
                <a:lnTo>
                  <a:pt x="3773767" y="611860"/>
                </a:lnTo>
                <a:lnTo>
                  <a:pt x="4168063" y="305930"/>
                </a:lnTo>
                <a:close/>
              </a:path>
              <a:path w="6324600" h="612140">
                <a:moveTo>
                  <a:pt x="4707179" y="305930"/>
                </a:moveTo>
                <a:lnTo>
                  <a:pt x="4312882" y="0"/>
                </a:lnTo>
                <a:lnTo>
                  <a:pt x="4312882" y="611860"/>
                </a:lnTo>
                <a:lnTo>
                  <a:pt x="4707179" y="305930"/>
                </a:lnTo>
                <a:close/>
              </a:path>
              <a:path w="6324600" h="612140">
                <a:moveTo>
                  <a:pt x="5246281" y="305930"/>
                </a:moveTo>
                <a:lnTo>
                  <a:pt x="4851984" y="0"/>
                </a:lnTo>
                <a:lnTo>
                  <a:pt x="4851984" y="611860"/>
                </a:lnTo>
                <a:lnTo>
                  <a:pt x="5246281" y="305930"/>
                </a:lnTo>
                <a:close/>
              </a:path>
              <a:path w="6324600" h="612140">
                <a:moveTo>
                  <a:pt x="5785396" y="305930"/>
                </a:moveTo>
                <a:lnTo>
                  <a:pt x="5391099" y="0"/>
                </a:lnTo>
                <a:lnTo>
                  <a:pt x="5391099" y="611860"/>
                </a:lnTo>
                <a:lnTo>
                  <a:pt x="5785396" y="305930"/>
                </a:lnTo>
                <a:close/>
              </a:path>
              <a:path w="6324600" h="612140">
                <a:moveTo>
                  <a:pt x="6324498" y="305930"/>
                </a:moveTo>
                <a:lnTo>
                  <a:pt x="5930201" y="0"/>
                </a:lnTo>
                <a:lnTo>
                  <a:pt x="5930201" y="611860"/>
                </a:lnTo>
                <a:lnTo>
                  <a:pt x="6324498" y="305930"/>
                </a:lnTo>
                <a:close/>
              </a:path>
            </a:pathLst>
          </a:custGeom>
          <a:solidFill>
            <a:srgbClr val="5607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Google Shape;623;p11"/>
          <p:cNvSpPr/>
          <p:nvPr/>
        </p:nvSpPr>
        <p:spPr>
          <a:xfrm>
            <a:off x="8280" y="435960"/>
            <a:ext cx="6967440" cy="5988960"/>
          </a:xfrm>
          <a:custGeom>
            <a:avLst/>
            <a:gdLst>
              <a:gd name="textAreaLeft" fmla="*/ 0 w 6967440"/>
              <a:gd name="textAreaRight" fmla="*/ 6968520 w 6967440"/>
              <a:gd name="textAreaTop" fmla="*/ 0 h 5988960"/>
              <a:gd name="textAreaBottom" fmla="*/ 5990040 h 5988960"/>
            </a:gdLst>
            <a:ahLst/>
            <a:cxnLst/>
            <a:rect l="textAreaLeft" t="textAreaTop" r="textAreaRight" b="textAreaBottom"/>
            <a:pathLst>
              <a:path w="8126730" h="6985634">
                <a:moveTo>
                  <a:pt x="854252" y="0"/>
                </a:moveTo>
                <a:lnTo>
                  <a:pt x="0" y="0"/>
                </a:lnTo>
                <a:lnTo>
                  <a:pt x="0" y="211988"/>
                </a:lnTo>
                <a:lnTo>
                  <a:pt x="854252" y="211988"/>
                </a:lnTo>
                <a:lnTo>
                  <a:pt x="854252" y="0"/>
                </a:lnTo>
                <a:close/>
              </a:path>
              <a:path w="8126730" h="6985634">
                <a:moveTo>
                  <a:pt x="854265" y="5596331"/>
                </a:moveTo>
                <a:lnTo>
                  <a:pt x="12" y="5596331"/>
                </a:lnTo>
                <a:lnTo>
                  <a:pt x="12" y="5792660"/>
                </a:lnTo>
                <a:lnTo>
                  <a:pt x="854265" y="5792660"/>
                </a:lnTo>
                <a:lnTo>
                  <a:pt x="854265" y="5596331"/>
                </a:lnTo>
                <a:close/>
              </a:path>
              <a:path w="8126730" h="6985634">
                <a:moveTo>
                  <a:pt x="854265" y="5165839"/>
                </a:moveTo>
                <a:lnTo>
                  <a:pt x="12" y="5165839"/>
                </a:lnTo>
                <a:lnTo>
                  <a:pt x="12" y="5363375"/>
                </a:lnTo>
                <a:lnTo>
                  <a:pt x="854265" y="5363375"/>
                </a:lnTo>
                <a:lnTo>
                  <a:pt x="854265" y="5165839"/>
                </a:lnTo>
                <a:close/>
              </a:path>
              <a:path w="8126730" h="6985634">
                <a:moveTo>
                  <a:pt x="854265" y="4735360"/>
                </a:moveTo>
                <a:lnTo>
                  <a:pt x="12" y="4735360"/>
                </a:lnTo>
                <a:lnTo>
                  <a:pt x="12" y="4934102"/>
                </a:lnTo>
                <a:lnTo>
                  <a:pt x="854265" y="4934102"/>
                </a:lnTo>
                <a:lnTo>
                  <a:pt x="854265" y="4735360"/>
                </a:lnTo>
                <a:close/>
              </a:path>
              <a:path w="8126730" h="6985634">
                <a:moveTo>
                  <a:pt x="854265" y="4304881"/>
                </a:moveTo>
                <a:lnTo>
                  <a:pt x="12" y="4304881"/>
                </a:lnTo>
                <a:lnTo>
                  <a:pt x="12" y="4504817"/>
                </a:lnTo>
                <a:lnTo>
                  <a:pt x="854265" y="4504817"/>
                </a:lnTo>
                <a:lnTo>
                  <a:pt x="854265" y="4304881"/>
                </a:lnTo>
                <a:close/>
              </a:path>
              <a:path w="8126730" h="6985634">
                <a:moveTo>
                  <a:pt x="854265" y="3874389"/>
                </a:moveTo>
                <a:lnTo>
                  <a:pt x="12" y="3874389"/>
                </a:lnTo>
                <a:lnTo>
                  <a:pt x="12" y="4075531"/>
                </a:lnTo>
                <a:lnTo>
                  <a:pt x="854265" y="4075531"/>
                </a:lnTo>
                <a:lnTo>
                  <a:pt x="854265" y="3874389"/>
                </a:lnTo>
                <a:close/>
              </a:path>
              <a:path w="8126730" h="6985634">
                <a:moveTo>
                  <a:pt x="854265" y="3443897"/>
                </a:moveTo>
                <a:lnTo>
                  <a:pt x="12" y="3443897"/>
                </a:lnTo>
                <a:lnTo>
                  <a:pt x="12" y="3646246"/>
                </a:lnTo>
                <a:lnTo>
                  <a:pt x="854265" y="3646246"/>
                </a:lnTo>
                <a:lnTo>
                  <a:pt x="854265" y="3443897"/>
                </a:lnTo>
                <a:close/>
              </a:path>
              <a:path w="8126730" h="6985634">
                <a:moveTo>
                  <a:pt x="854265" y="3013405"/>
                </a:moveTo>
                <a:lnTo>
                  <a:pt x="12" y="3013405"/>
                </a:lnTo>
                <a:lnTo>
                  <a:pt x="12" y="3216960"/>
                </a:lnTo>
                <a:lnTo>
                  <a:pt x="854265" y="3216960"/>
                </a:lnTo>
                <a:lnTo>
                  <a:pt x="854265" y="3013405"/>
                </a:lnTo>
                <a:close/>
              </a:path>
              <a:path w="8126730" h="6985634">
                <a:moveTo>
                  <a:pt x="854265" y="2582926"/>
                </a:moveTo>
                <a:lnTo>
                  <a:pt x="12" y="2582926"/>
                </a:lnTo>
                <a:lnTo>
                  <a:pt x="12" y="2787688"/>
                </a:lnTo>
                <a:lnTo>
                  <a:pt x="854265" y="2787688"/>
                </a:lnTo>
                <a:lnTo>
                  <a:pt x="854265" y="2582926"/>
                </a:lnTo>
                <a:close/>
              </a:path>
              <a:path w="8126730" h="6985634">
                <a:moveTo>
                  <a:pt x="854265" y="2152434"/>
                </a:moveTo>
                <a:lnTo>
                  <a:pt x="12" y="2152434"/>
                </a:lnTo>
                <a:lnTo>
                  <a:pt x="12" y="2358402"/>
                </a:lnTo>
                <a:lnTo>
                  <a:pt x="854265" y="2358402"/>
                </a:lnTo>
                <a:lnTo>
                  <a:pt x="854265" y="2152434"/>
                </a:lnTo>
                <a:close/>
              </a:path>
              <a:path w="8126730" h="6985634">
                <a:moveTo>
                  <a:pt x="854265" y="1721942"/>
                </a:moveTo>
                <a:lnTo>
                  <a:pt x="12" y="1721942"/>
                </a:lnTo>
                <a:lnTo>
                  <a:pt x="12" y="1929117"/>
                </a:lnTo>
                <a:lnTo>
                  <a:pt x="854265" y="1929117"/>
                </a:lnTo>
                <a:lnTo>
                  <a:pt x="854265" y="1721942"/>
                </a:lnTo>
                <a:close/>
              </a:path>
              <a:path w="8126730" h="6985634">
                <a:moveTo>
                  <a:pt x="854265" y="1291463"/>
                </a:moveTo>
                <a:lnTo>
                  <a:pt x="12" y="1291463"/>
                </a:lnTo>
                <a:lnTo>
                  <a:pt x="12" y="1499831"/>
                </a:lnTo>
                <a:lnTo>
                  <a:pt x="854265" y="1499831"/>
                </a:lnTo>
                <a:lnTo>
                  <a:pt x="854265" y="1291463"/>
                </a:lnTo>
                <a:close/>
              </a:path>
              <a:path w="8126730" h="6985634">
                <a:moveTo>
                  <a:pt x="854265" y="860983"/>
                </a:moveTo>
                <a:lnTo>
                  <a:pt x="12" y="860983"/>
                </a:lnTo>
                <a:lnTo>
                  <a:pt x="12" y="1070559"/>
                </a:lnTo>
                <a:lnTo>
                  <a:pt x="854265" y="1070559"/>
                </a:lnTo>
                <a:lnTo>
                  <a:pt x="854265" y="860983"/>
                </a:lnTo>
                <a:close/>
              </a:path>
              <a:path w="8126730" h="6985634">
                <a:moveTo>
                  <a:pt x="854265" y="430491"/>
                </a:moveTo>
                <a:lnTo>
                  <a:pt x="12" y="430491"/>
                </a:lnTo>
                <a:lnTo>
                  <a:pt x="12" y="641273"/>
                </a:lnTo>
                <a:lnTo>
                  <a:pt x="854265" y="641273"/>
                </a:lnTo>
                <a:lnTo>
                  <a:pt x="854265" y="430491"/>
                </a:lnTo>
                <a:close/>
              </a:path>
              <a:path w="8126730" h="6985634">
                <a:moveTo>
                  <a:pt x="8126362" y="5789320"/>
                </a:moveTo>
                <a:lnTo>
                  <a:pt x="6930390" y="5789320"/>
                </a:lnTo>
                <a:lnTo>
                  <a:pt x="6930390" y="5841682"/>
                </a:lnTo>
                <a:lnTo>
                  <a:pt x="8126362" y="5789320"/>
                </a:lnTo>
                <a:close/>
              </a:path>
              <a:path w="8126730" h="6985634">
                <a:moveTo>
                  <a:pt x="8126362" y="5789320"/>
                </a:moveTo>
                <a:lnTo>
                  <a:pt x="6930390" y="5935827"/>
                </a:lnTo>
                <a:lnTo>
                  <a:pt x="6930390" y="5984633"/>
                </a:lnTo>
                <a:lnTo>
                  <a:pt x="8126362" y="5789320"/>
                </a:lnTo>
                <a:close/>
              </a:path>
              <a:path w="8126730" h="6985634">
                <a:moveTo>
                  <a:pt x="8126362" y="5789320"/>
                </a:moveTo>
                <a:lnTo>
                  <a:pt x="6930390" y="6082322"/>
                </a:lnTo>
                <a:lnTo>
                  <a:pt x="6930390" y="6127585"/>
                </a:lnTo>
                <a:lnTo>
                  <a:pt x="8126362" y="5789320"/>
                </a:lnTo>
                <a:close/>
              </a:path>
              <a:path w="8126730" h="6985634">
                <a:moveTo>
                  <a:pt x="8126362" y="5789320"/>
                </a:moveTo>
                <a:lnTo>
                  <a:pt x="6930390" y="6228829"/>
                </a:lnTo>
                <a:lnTo>
                  <a:pt x="6930390" y="6270536"/>
                </a:lnTo>
                <a:lnTo>
                  <a:pt x="8126362" y="5789320"/>
                </a:lnTo>
                <a:close/>
              </a:path>
              <a:path w="8126730" h="6985634">
                <a:moveTo>
                  <a:pt x="8126362" y="5789320"/>
                </a:moveTo>
                <a:lnTo>
                  <a:pt x="6930390" y="6375349"/>
                </a:lnTo>
                <a:lnTo>
                  <a:pt x="6930390" y="6413487"/>
                </a:lnTo>
                <a:lnTo>
                  <a:pt x="8126362" y="5789320"/>
                </a:lnTo>
                <a:close/>
              </a:path>
              <a:path w="8126730" h="6985634">
                <a:moveTo>
                  <a:pt x="8126362" y="5789320"/>
                </a:moveTo>
                <a:lnTo>
                  <a:pt x="6930390" y="6521844"/>
                </a:lnTo>
                <a:lnTo>
                  <a:pt x="6930390" y="6556438"/>
                </a:lnTo>
                <a:lnTo>
                  <a:pt x="8126362" y="5789320"/>
                </a:lnTo>
                <a:close/>
              </a:path>
              <a:path w="8126730" h="6985634">
                <a:moveTo>
                  <a:pt x="8126362" y="5789320"/>
                </a:moveTo>
                <a:lnTo>
                  <a:pt x="6930390" y="6668351"/>
                </a:lnTo>
                <a:lnTo>
                  <a:pt x="6930390" y="6699402"/>
                </a:lnTo>
                <a:lnTo>
                  <a:pt x="8126362" y="5789320"/>
                </a:lnTo>
                <a:close/>
              </a:path>
              <a:path w="8126730" h="6985634">
                <a:moveTo>
                  <a:pt x="8126362" y="5789320"/>
                </a:moveTo>
                <a:lnTo>
                  <a:pt x="6930390" y="6814858"/>
                </a:lnTo>
                <a:lnTo>
                  <a:pt x="6930390" y="6842341"/>
                </a:lnTo>
                <a:lnTo>
                  <a:pt x="8126362" y="5789320"/>
                </a:lnTo>
                <a:close/>
              </a:path>
              <a:path w="8126730" h="6985634">
                <a:moveTo>
                  <a:pt x="8126362" y="5789320"/>
                </a:moveTo>
                <a:lnTo>
                  <a:pt x="6930390" y="6961365"/>
                </a:lnTo>
                <a:lnTo>
                  <a:pt x="6930390" y="6985292"/>
                </a:lnTo>
                <a:lnTo>
                  <a:pt x="8126362" y="5789320"/>
                </a:lnTo>
                <a:close/>
              </a:path>
            </a:pathLst>
          </a:custGeom>
          <a:solidFill>
            <a:srgbClr val="90A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7" name="Google Shape;624;p11"/>
          <p:cNvPicPr/>
          <p:nvPr/>
        </p:nvPicPr>
        <p:blipFill>
          <a:blip r:embed="rId4"/>
          <a:stretch/>
        </p:blipFill>
        <p:spPr>
          <a:xfrm>
            <a:off x="9929160" y="295200"/>
            <a:ext cx="1971360" cy="591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10;p1"/>
          <p:cNvPicPr/>
          <p:nvPr/>
        </p:nvPicPr>
        <p:blipFill>
          <a:blip r:embed="rId2"/>
          <a:stretch/>
        </p:blipFill>
        <p:spPr>
          <a:xfrm>
            <a:off x="9929160" y="295200"/>
            <a:ext cx="1971360" cy="5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Google Shape;11;p1"/>
          <p:cNvSpPr/>
          <p:nvPr/>
        </p:nvSpPr>
        <p:spPr>
          <a:xfrm>
            <a:off x="7142760" y="6258960"/>
            <a:ext cx="4861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sng" strike="noStrike">
                <a:solidFill>
                  <a:srgbClr val="467886"/>
                </a:solidFill>
                <a:effectLst/>
                <a:uFillTx/>
                <a:latin typeface="Poppins Light"/>
                <a:ea typeface="Poppins Light"/>
                <a:hlinkClick r:id="rId3"/>
              </a:rPr>
              <a:t>Interledger.org</a:t>
            </a: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#OpenPayments #ILPHacks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Google Shape;626;p12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PlaceHolder 1"/>
          <p:cNvSpPr>
            <a:spLocks noGrp="1"/>
          </p:cNvSpPr>
          <p:nvPr>
            <p:ph type="body"/>
          </p:nvPr>
        </p:nvSpPr>
        <p:spPr>
          <a:xfrm>
            <a:off x="436320" y="1636200"/>
            <a:ext cx="5438880" cy="228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656640" y="4032720"/>
            <a:ext cx="5218200" cy="4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3" name="Google Shape;629;p12"/>
          <p:cNvCxnSpPr/>
          <p:nvPr/>
        </p:nvCxnSpPr>
        <p:spPr>
          <a:xfrm>
            <a:off x="580320" y="4124160"/>
            <a:ext cx="1080" cy="289080"/>
          </a:xfrm>
          <a:prstGeom prst="straightConnector1">
            <a:avLst/>
          </a:prstGeom>
          <a:ln w="19050">
            <a:solidFill>
              <a:srgbClr val="FFB259"/>
            </a:solidFill>
            <a:miter/>
          </a:ln>
        </p:spPr>
      </p:cxnSp>
      <p:sp>
        <p:nvSpPr>
          <p:cNvPr id="594" name="PlaceHolder 3"/>
          <p:cNvSpPr>
            <a:spLocks noGrp="1"/>
          </p:cNvSpPr>
          <p:nvPr>
            <p:ph type="body"/>
          </p:nvPr>
        </p:nvSpPr>
        <p:spPr>
          <a:xfrm>
            <a:off x="549360" y="6031080"/>
            <a:ext cx="1861200" cy="33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4"/>
          <p:cNvSpPr>
            <a:spLocks noGrp="1"/>
          </p:cNvSpPr>
          <p:nvPr>
            <p:ph type="body"/>
          </p:nvPr>
        </p:nvSpPr>
        <p:spPr>
          <a:xfrm>
            <a:off x="2408040" y="6031080"/>
            <a:ext cx="1861200" cy="33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6" name="Google Shape;632;p12"/>
          <p:cNvPicPr/>
          <p:nvPr/>
        </p:nvPicPr>
        <p:blipFill>
          <a:blip r:embed="rId4"/>
          <a:stretch/>
        </p:blipFill>
        <p:spPr>
          <a:xfrm>
            <a:off x="436320" y="382320"/>
            <a:ext cx="2694240" cy="808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97" name="Google Shape;633;p12"/>
          <p:cNvGrpSpPr/>
          <p:nvPr/>
        </p:nvGrpSpPr>
        <p:grpSpPr>
          <a:xfrm>
            <a:off x="0" y="5218560"/>
            <a:ext cx="2599200" cy="384120"/>
            <a:chOff x="0" y="5218560"/>
            <a:chExt cx="2599200" cy="384120"/>
          </a:xfrm>
        </p:grpSpPr>
        <p:sp>
          <p:nvSpPr>
            <p:cNvPr id="598" name="Google Shape;634;p12"/>
            <p:cNvSpPr/>
            <p:nvPr/>
          </p:nvSpPr>
          <p:spPr>
            <a:xfrm>
              <a:off x="0" y="5218560"/>
              <a:ext cx="2214360" cy="384120"/>
            </a:xfrm>
            <a:custGeom>
              <a:avLst/>
              <a:gdLst>
                <a:gd name="textAreaLeft" fmla="*/ 0 w 2214360"/>
                <a:gd name="textAreaRight" fmla="*/ 2215440 w 2214360"/>
                <a:gd name="textAreaTop" fmla="*/ 0 h 384120"/>
                <a:gd name="textAreaBottom" fmla="*/ 385200 h 384120"/>
              </a:gdLst>
              <a:ahLst/>
              <a:cxnLst/>
              <a:rect l="textAreaLeft" t="textAreaTop" r="textAreaRight" b="textAreaBottom"/>
              <a:pathLst>
                <a:path w="6877684" h="1196340">
                  <a:moveTo>
                    <a:pt x="0" y="1195974"/>
                  </a:moveTo>
                  <a:lnTo>
                    <a:pt x="6877060" y="1195974"/>
                  </a:lnTo>
                  <a:lnTo>
                    <a:pt x="6877060" y="0"/>
                  </a:lnTo>
                  <a:lnTo>
                    <a:pt x="0" y="0"/>
                  </a:lnTo>
                  <a:lnTo>
                    <a:pt x="0" y="1195974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9" name="Google Shape;635;p12"/>
            <p:cNvSpPr/>
            <p:nvPr/>
          </p:nvSpPr>
          <p:spPr>
            <a:xfrm>
              <a:off x="86400" y="5309640"/>
              <a:ext cx="2036160" cy="196200"/>
            </a:xfrm>
            <a:custGeom>
              <a:avLst/>
              <a:gdLst>
                <a:gd name="textAreaLeft" fmla="*/ 0 w 2036160"/>
                <a:gd name="textAreaRight" fmla="*/ 2037240 w 2036160"/>
                <a:gd name="textAreaTop" fmla="*/ 0 h 196200"/>
                <a:gd name="textAreaBottom" fmla="*/ 197280 h 196200"/>
              </a:gdLst>
              <a:ahLst/>
              <a:cxnLst/>
              <a:rect l="textAreaLeft" t="textAreaTop" r="textAreaRight" b="textAreaBottom"/>
              <a:pathLst>
                <a:path w="6324600" h="612140">
                  <a:moveTo>
                    <a:pt x="394309" y="305917"/>
                  </a:moveTo>
                  <a:lnTo>
                    <a:pt x="0" y="0"/>
                  </a:lnTo>
                  <a:lnTo>
                    <a:pt x="0" y="611847"/>
                  </a:lnTo>
                  <a:lnTo>
                    <a:pt x="394309" y="305917"/>
                  </a:lnTo>
                  <a:close/>
                </a:path>
                <a:path w="6324600" h="612140">
                  <a:moveTo>
                    <a:pt x="933411" y="305917"/>
                  </a:moveTo>
                  <a:lnTo>
                    <a:pt x="539115" y="0"/>
                  </a:lnTo>
                  <a:lnTo>
                    <a:pt x="539115" y="611847"/>
                  </a:lnTo>
                  <a:lnTo>
                    <a:pt x="933411" y="305917"/>
                  </a:lnTo>
                  <a:close/>
                </a:path>
                <a:path w="6324600" h="612140">
                  <a:moveTo>
                    <a:pt x="1472526" y="305917"/>
                  </a:moveTo>
                  <a:lnTo>
                    <a:pt x="1078230" y="0"/>
                  </a:lnTo>
                  <a:lnTo>
                    <a:pt x="1078230" y="611847"/>
                  </a:lnTo>
                  <a:lnTo>
                    <a:pt x="1472526" y="305917"/>
                  </a:lnTo>
                  <a:close/>
                </a:path>
                <a:path w="6324600" h="612140">
                  <a:moveTo>
                    <a:pt x="2011629" y="305917"/>
                  </a:moveTo>
                  <a:lnTo>
                    <a:pt x="1617332" y="0"/>
                  </a:lnTo>
                  <a:lnTo>
                    <a:pt x="1617332" y="611847"/>
                  </a:lnTo>
                  <a:lnTo>
                    <a:pt x="2011629" y="305917"/>
                  </a:lnTo>
                  <a:close/>
                </a:path>
                <a:path w="6324600" h="612140">
                  <a:moveTo>
                    <a:pt x="2550744" y="305917"/>
                  </a:moveTo>
                  <a:lnTo>
                    <a:pt x="2156447" y="0"/>
                  </a:lnTo>
                  <a:lnTo>
                    <a:pt x="2156447" y="611847"/>
                  </a:lnTo>
                  <a:lnTo>
                    <a:pt x="2550744" y="305917"/>
                  </a:lnTo>
                  <a:close/>
                </a:path>
                <a:path w="6324600" h="612140">
                  <a:moveTo>
                    <a:pt x="3089846" y="305917"/>
                  </a:moveTo>
                  <a:lnTo>
                    <a:pt x="2695549" y="0"/>
                  </a:lnTo>
                  <a:lnTo>
                    <a:pt x="2695549" y="611847"/>
                  </a:lnTo>
                  <a:lnTo>
                    <a:pt x="3089846" y="305917"/>
                  </a:lnTo>
                  <a:close/>
                </a:path>
                <a:path w="6324600" h="612140">
                  <a:moveTo>
                    <a:pt x="3628961" y="305917"/>
                  </a:moveTo>
                  <a:lnTo>
                    <a:pt x="3234664" y="0"/>
                  </a:lnTo>
                  <a:lnTo>
                    <a:pt x="3234664" y="611847"/>
                  </a:lnTo>
                  <a:lnTo>
                    <a:pt x="3628961" y="305917"/>
                  </a:lnTo>
                  <a:close/>
                </a:path>
                <a:path w="6324600" h="612140">
                  <a:moveTo>
                    <a:pt x="4168076" y="305917"/>
                  </a:moveTo>
                  <a:lnTo>
                    <a:pt x="3773767" y="0"/>
                  </a:lnTo>
                  <a:lnTo>
                    <a:pt x="3773767" y="611847"/>
                  </a:lnTo>
                  <a:lnTo>
                    <a:pt x="4168076" y="305917"/>
                  </a:lnTo>
                  <a:close/>
                </a:path>
                <a:path w="6324600" h="612140">
                  <a:moveTo>
                    <a:pt x="4707179" y="305917"/>
                  </a:moveTo>
                  <a:lnTo>
                    <a:pt x="4312882" y="0"/>
                  </a:lnTo>
                  <a:lnTo>
                    <a:pt x="4312882" y="611847"/>
                  </a:lnTo>
                  <a:lnTo>
                    <a:pt x="4707179" y="305917"/>
                  </a:lnTo>
                  <a:close/>
                </a:path>
                <a:path w="6324600" h="612140">
                  <a:moveTo>
                    <a:pt x="5246294" y="305917"/>
                  </a:moveTo>
                  <a:lnTo>
                    <a:pt x="4851984" y="0"/>
                  </a:lnTo>
                  <a:lnTo>
                    <a:pt x="4851984" y="611847"/>
                  </a:lnTo>
                  <a:lnTo>
                    <a:pt x="5246294" y="305917"/>
                  </a:lnTo>
                  <a:close/>
                </a:path>
                <a:path w="6324600" h="612140">
                  <a:moveTo>
                    <a:pt x="5785396" y="305917"/>
                  </a:moveTo>
                  <a:lnTo>
                    <a:pt x="5391099" y="0"/>
                  </a:lnTo>
                  <a:lnTo>
                    <a:pt x="5391099" y="611847"/>
                  </a:lnTo>
                  <a:lnTo>
                    <a:pt x="5785396" y="305917"/>
                  </a:lnTo>
                  <a:close/>
                </a:path>
                <a:path w="6324600" h="612140">
                  <a:moveTo>
                    <a:pt x="6324511" y="305917"/>
                  </a:moveTo>
                  <a:lnTo>
                    <a:pt x="5930201" y="0"/>
                  </a:lnTo>
                  <a:lnTo>
                    <a:pt x="5930201" y="611847"/>
                  </a:lnTo>
                  <a:lnTo>
                    <a:pt x="6324511" y="305917"/>
                  </a:lnTo>
                  <a:close/>
                </a:path>
              </a:pathLst>
            </a:custGeom>
            <a:solidFill>
              <a:srgbClr val="5607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0" name="Google Shape;636;p12"/>
            <p:cNvSpPr/>
            <p:nvPr/>
          </p:nvSpPr>
          <p:spPr>
            <a:xfrm>
              <a:off x="2215080" y="5218560"/>
              <a:ext cx="384120" cy="384120"/>
            </a:xfrm>
            <a:custGeom>
              <a:avLst/>
              <a:gdLst>
                <a:gd name="textAreaLeft" fmla="*/ 0 w 384120"/>
                <a:gd name="textAreaRight" fmla="*/ 385200 w 384120"/>
                <a:gd name="textAreaTop" fmla="*/ 0 h 384120"/>
                <a:gd name="textAreaBottom" fmla="*/ 385200 h 384120"/>
              </a:gdLst>
              <a:ahLst/>
              <a:cxnLst/>
              <a:rect l="textAreaLeft" t="textAreaTop" r="textAreaRight" b="textAreaBottom"/>
              <a:pathLst>
                <a:path w="1196340" h="1196340">
                  <a:moveTo>
                    <a:pt x="1195971" y="0"/>
                  </a:moveTo>
                  <a:lnTo>
                    <a:pt x="0" y="0"/>
                  </a:lnTo>
                  <a:lnTo>
                    <a:pt x="0" y="52349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146494"/>
                  </a:lnTo>
                  <a:lnTo>
                    <a:pt x="0" y="195300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293001"/>
                  </a:lnTo>
                  <a:lnTo>
                    <a:pt x="0" y="338251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439508"/>
                  </a:lnTo>
                  <a:lnTo>
                    <a:pt x="0" y="481215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586016"/>
                  </a:lnTo>
                  <a:lnTo>
                    <a:pt x="0" y="624166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732523"/>
                  </a:lnTo>
                  <a:lnTo>
                    <a:pt x="0" y="767118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879030"/>
                  </a:lnTo>
                  <a:lnTo>
                    <a:pt x="0" y="910069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1025537"/>
                  </a:lnTo>
                  <a:lnTo>
                    <a:pt x="0" y="1053020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1172032"/>
                  </a:lnTo>
                  <a:lnTo>
                    <a:pt x="0" y="1195971"/>
                  </a:lnTo>
                  <a:lnTo>
                    <a:pt x="1195971" y="0"/>
                  </a:lnTo>
                  <a:close/>
                </a:path>
              </a:pathLst>
            </a:custGeom>
            <a:solidFill>
              <a:srgbClr val="90A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1" name="Google Shape;637;p12"/>
          <p:cNvGrpSpPr/>
          <p:nvPr/>
        </p:nvGrpSpPr>
        <p:grpSpPr>
          <a:xfrm>
            <a:off x="6343560" y="487080"/>
            <a:ext cx="5846040" cy="5115600"/>
            <a:chOff x="6343560" y="487080"/>
            <a:chExt cx="5846040" cy="5115600"/>
          </a:xfrm>
        </p:grpSpPr>
        <p:sp>
          <p:nvSpPr>
            <p:cNvPr id="602" name="Google Shape;638;p12"/>
            <p:cNvSpPr/>
            <p:nvPr/>
          </p:nvSpPr>
          <p:spPr>
            <a:xfrm flipH="1">
              <a:off x="6343200" y="487080"/>
              <a:ext cx="5091480" cy="5110560"/>
            </a:xfrm>
            <a:custGeom>
              <a:avLst/>
              <a:gdLst>
                <a:gd name="textAreaLeft" fmla="*/ -720 w 5091480"/>
                <a:gd name="textAreaRight" fmla="*/ 5091840 w 5091480"/>
                <a:gd name="textAreaTop" fmla="*/ 0 h 5110560"/>
                <a:gd name="textAreaBottom" fmla="*/ 5111640 h 5110560"/>
              </a:gdLst>
              <a:ahLst/>
              <a:cxnLst/>
              <a:rect l="textAreaLeft" t="textAreaTop" r="textAreaRight" b="textAreaBottom"/>
              <a:pathLst>
                <a:path w="7000240" h="7026275">
                  <a:moveTo>
                    <a:pt x="0" y="0"/>
                  </a:moveTo>
                  <a:lnTo>
                    <a:pt x="0" y="7025843"/>
                  </a:lnTo>
                  <a:lnTo>
                    <a:pt x="7000062" y="3498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67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Google Shape;639;p12"/>
            <p:cNvSpPr/>
            <p:nvPr/>
          </p:nvSpPr>
          <p:spPr>
            <a:xfrm flipH="1">
              <a:off x="6516720" y="491760"/>
              <a:ext cx="4917960" cy="5110560"/>
            </a:xfrm>
            <a:custGeom>
              <a:avLst/>
              <a:gdLst>
                <a:gd name="textAreaLeft" fmla="*/ -720 w 4917960"/>
                <a:gd name="textAreaRight" fmla="*/ 4918320 w 4917960"/>
                <a:gd name="textAreaTop" fmla="*/ 0 h 5110560"/>
                <a:gd name="textAreaBottom" fmla="*/ 5111640 h 5110560"/>
              </a:gdLst>
              <a:ahLst/>
              <a:cxnLst/>
              <a:rect l="textAreaLeft" t="textAreaTop" r="textAreaRight" b="textAreaBottom"/>
              <a:pathLst>
                <a:path w="6761480" h="7026275">
                  <a:moveTo>
                    <a:pt x="1628190" y="3498443"/>
                  </a:moveTo>
                  <a:lnTo>
                    <a:pt x="0" y="0"/>
                  </a:lnTo>
                  <a:lnTo>
                    <a:pt x="1158392" y="3638956"/>
                  </a:lnTo>
                  <a:lnTo>
                    <a:pt x="0" y="7025843"/>
                  </a:lnTo>
                  <a:lnTo>
                    <a:pt x="1628190" y="3498443"/>
                  </a:lnTo>
                  <a:close/>
                </a:path>
                <a:path w="6761480" h="7026275">
                  <a:moveTo>
                    <a:pt x="3749776" y="3498443"/>
                  </a:moveTo>
                  <a:lnTo>
                    <a:pt x="0" y="0"/>
                  </a:lnTo>
                  <a:lnTo>
                    <a:pt x="2555240" y="3638956"/>
                  </a:lnTo>
                  <a:lnTo>
                    <a:pt x="0" y="7025843"/>
                  </a:lnTo>
                  <a:lnTo>
                    <a:pt x="3749776" y="3498443"/>
                  </a:lnTo>
                  <a:close/>
                </a:path>
                <a:path w="6761480" h="7026275">
                  <a:moveTo>
                    <a:pt x="6760934" y="3498443"/>
                  </a:moveTo>
                  <a:lnTo>
                    <a:pt x="0" y="0"/>
                  </a:lnTo>
                  <a:lnTo>
                    <a:pt x="4533392" y="3638956"/>
                  </a:lnTo>
                  <a:lnTo>
                    <a:pt x="0" y="7025843"/>
                  </a:lnTo>
                  <a:lnTo>
                    <a:pt x="6760934" y="3498443"/>
                  </a:lnTo>
                  <a:close/>
                </a:path>
              </a:pathLst>
            </a:custGeom>
            <a:solidFill>
              <a:srgbClr val="00E5C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Google Shape;640;p12"/>
            <p:cNvSpPr/>
            <p:nvPr/>
          </p:nvSpPr>
          <p:spPr>
            <a:xfrm flipH="1">
              <a:off x="11436480" y="491760"/>
              <a:ext cx="752760" cy="5107320"/>
            </a:xfrm>
            <a:custGeom>
              <a:avLst/>
              <a:gdLst>
                <a:gd name="textAreaLeft" fmla="*/ -720 w 752760"/>
                <a:gd name="textAreaRight" fmla="*/ 753120 w 752760"/>
                <a:gd name="textAreaTop" fmla="*/ 0 h 5107320"/>
                <a:gd name="textAreaBottom" fmla="*/ 5108400 h 5107320"/>
              </a:gdLst>
              <a:ahLst/>
              <a:cxnLst/>
              <a:rect l="textAreaLeft" t="textAreaTop" r="textAreaRight" b="textAreaBottom"/>
              <a:pathLst>
                <a:path w="1036319" h="7021830">
                  <a:moveTo>
                    <a:pt x="1036104" y="6787705"/>
                  </a:moveTo>
                  <a:lnTo>
                    <a:pt x="0" y="6787705"/>
                  </a:lnTo>
                  <a:lnTo>
                    <a:pt x="0" y="7021792"/>
                  </a:lnTo>
                  <a:lnTo>
                    <a:pt x="1036104" y="7021792"/>
                  </a:lnTo>
                  <a:lnTo>
                    <a:pt x="1036104" y="6787705"/>
                  </a:lnTo>
                  <a:close/>
                </a:path>
                <a:path w="1036319" h="7021830">
                  <a:moveTo>
                    <a:pt x="1036104" y="6265570"/>
                  </a:moveTo>
                  <a:lnTo>
                    <a:pt x="0" y="6265570"/>
                  </a:lnTo>
                  <a:lnTo>
                    <a:pt x="0" y="6505156"/>
                  </a:lnTo>
                  <a:lnTo>
                    <a:pt x="1036104" y="6505156"/>
                  </a:lnTo>
                  <a:lnTo>
                    <a:pt x="1036104" y="6265570"/>
                  </a:lnTo>
                  <a:close/>
                </a:path>
                <a:path w="1036319" h="7021830">
                  <a:moveTo>
                    <a:pt x="1036104" y="5743460"/>
                  </a:moveTo>
                  <a:lnTo>
                    <a:pt x="0" y="5743460"/>
                  </a:lnTo>
                  <a:lnTo>
                    <a:pt x="0" y="5984481"/>
                  </a:lnTo>
                  <a:lnTo>
                    <a:pt x="1036104" y="5984481"/>
                  </a:lnTo>
                  <a:lnTo>
                    <a:pt x="1036104" y="5743460"/>
                  </a:lnTo>
                  <a:close/>
                </a:path>
                <a:path w="1036319" h="7021830">
                  <a:moveTo>
                    <a:pt x="1036104" y="5221325"/>
                  </a:moveTo>
                  <a:lnTo>
                    <a:pt x="0" y="5221325"/>
                  </a:lnTo>
                  <a:lnTo>
                    <a:pt x="0" y="5463819"/>
                  </a:lnTo>
                  <a:lnTo>
                    <a:pt x="1036104" y="5463819"/>
                  </a:lnTo>
                  <a:lnTo>
                    <a:pt x="1036104" y="5221325"/>
                  </a:lnTo>
                  <a:close/>
                </a:path>
                <a:path w="1036319" h="7021830">
                  <a:moveTo>
                    <a:pt x="1036104" y="4699190"/>
                  </a:moveTo>
                  <a:lnTo>
                    <a:pt x="0" y="4699190"/>
                  </a:lnTo>
                  <a:lnTo>
                    <a:pt x="0" y="4943145"/>
                  </a:lnTo>
                  <a:lnTo>
                    <a:pt x="1036104" y="4943145"/>
                  </a:lnTo>
                  <a:lnTo>
                    <a:pt x="1036104" y="4699190"/>
                  </a:lnTo>
                  <a:close/>
                </a:path>
                <a:path w="1036319" h="7021830">
                  <a:moveTo>
                    <a:pt x="1036104" y="4177042"/>
                  </a:moveTo>
                  <a:lnTo>
                    <a:pt x="0" y="4177042"/>
                  </a:lnTo>
                  <a:lnTo>
                    <a:pt x="0" y="4422470"/>
                  </a:lnTo>
                  <a:lnTo>
                    <a:pt x="1036104" y="4422470"/>
                  </a:lnTo>
                  <a:lnTo>
                    <a:pt x="1036104" y="4177042"/>
                  </a:lnTo>
                  <a:close/>
                </a:path>
                <a:path w="1036319" h="7021830">
                  <a:moveTo>
                    <a:pt x="1036104" y="3654920"/>
                  </a:moveTo>
                  <a:lnTo>
                    <a:pt x="0" y="3654920"/>
                  </a:lnTo>
                  <a:lnTo>
                    <a:pt x="0" y="3901808"/>
                  </a:lnTo>
                  <a:lnTo>
                    <a:pt x="1036104" y="3901808"/>
                  </a:lnTo>
                  <a:lnTo>
                    <a:pt x="1036104" y="3654920"/>
                  </a:lnTo>
                  <a:close/>
                </a:path>
                <a:path w="1036319" h="7021830">
                  <a:moveTo>
                    <a:pt x="1036104" y="3132798"/>
                  </a:moveTo>
                  <a:lnTo>
                    <a:pt x="0" y="3132798"/>
                  </a:lnTo>
                  <a:lnTo>
                    <a:pt x="0" y="3381133"/>
                  </a:lnTo>
                  <a:lnTo>
                    <a:pt x="1036104" y="3381133"/>
                  </a:lnTo>
                  <a:lnTo>
                    <a:pt x="1036104" y="3132798"/>
                  </a:lnTo>
                  <a:close/>
                </a:path>
                <a:path w="1036319" h="7021830">
                  <a:moveTo>
                    <a:pt x="1036104" y="2610650"/>
                  </a:moveTo>
                  <a:lnTo>
                    <a:pt x="0" y="2610650"/>
                  </a:lnTo>
                  <a:lnTo>
                    <a:pt x="0" y="2860459"/>
                  </a:lnTo>
                  <a:lnTo>
                    <a:pt x="1036104" y="2860459"/>
                  </a:lnTo>
                  <a:lnTo>
                    <a:pt x="1036104" y="2610650"/>
                  </a:lnTo>
                  <a:close/>
                </a:path>
                <a:path w="1036319" h="7021830">
                  <a:moveTo>
                    <a:pt x="1036104" y="2088527"/>
                  </a:moveTo>
                  <a:lnTo>
                    <a:pt x="0" y="2088527"/>
                  </a:lnTo>
                  <a:lnTo>
                    <a:pt x="0" y="2339797"/>
                  </a:lnTo>
                  <a:lnTo>
                    <a:pt x="1036104" y="2339797"/>
                  </a:lnTo>
                  <a:lnTo>
                    <a:pt x="1036104" y="2088527"/>
                  </a:lnTo>
                  <a:close/>
                </a:path>
                <a:path w="1036319" h="7021830">
                  <a:moveTo>
                    <a:pt x="1036104" y="1566392"/>
                  </a:moveTo>
                  <a:lnTo>
                    <a:pt x="0" y="1566392"/>
                  </a:lnTo>
                  <a:lnTo>
                    <a:pt x="0" y="1819122"/>
                  </a:lnTo>
                  <a:lnTo>
                    <a:pt x="1036104" y="1819122"/>
                  </a:lnTo>
                  <a:lnTo>
                    <a:pt x="1036104" y="1566392"/>
                  </a:lnTo>
                  <a:close/>
                </a:path>
                <a:path w="1036319" h="7021830">
                  <a:moveTo>
                    <a:pt x="1036104" y="1044257"/>
                  </a:moveTo>
                  <a:lnTo>
                    <a:pt x="0" y="1044257"/>
                  </a:lnTo>
                  <a:lnTo>
                    <a:pt x="0" y="1298448"/>
                  </a:lnTo>
                  <a:lnTo>
                    <a:pt x="1036104" y="1298448"/>
                  </a:lnTo>
                  <a:lnTo>
                    <a:pt x="1036104" y="1044257"/>
                  </a:lnTo>
                  <a:close/>
                </a:path>
                <a:path w="1036319" h="7021830">
                  <a:moveTo>
                    <a:pt x="1036104" y="522122"/>
                  </a:moveTo>
                  <a:lnTo>
                    <a:pt x="0" y="522122"/>
                  </a:lnTo>
                  <a:lnTo>
                    <a:pt x="0" y="777773"/>
                  </a:lnTo>
                  <a:lnTo>
                    <a:pt x="1036104" y="777773"/>
                  </a:lnTo>
                  <a:lnTo>
                    <a:pt x="1036104" y="522122"/>
                  </a:lnTo>
                  <a:close/>
                </a:path>
                <a:path w="1036319" h="7021830">
                  <a:moveTo>
                    <a:pt x="1036104" y="0"/>
                  </a:moveTo>
                  <a:lnTo>
                    <a:pt x="0" y="0"/>
                  </a:lnTo>
                  <a:lnTo>
                    <a:pt x="0" y="257111"/>
                  </a:lnTo>
                  <a:lnTo>
                    <a:pt x="1036104" y="257111"/>
                  </a:lnTo>
                  <a:lnTo>
                    <a:pt x="1036104" y="0"/>
                  </a:lnTo>
                  <a:close/>
                </a:path>
              </a:pathLst>
            </a:custGeom>
            <a:solidFill>
              <a:srgbClr val="8F9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05" name="Google Shape;641;p12"/>
            <p:cNvPicPr/>
            <p:nvPr/>
          </p:nvPicPr>
          <p:blipFill>
            <a:blip r:embed="rId5"/>
            <a:srcRect l="0" t="0" r="0" b="2855"/>
            <a:stretch/>
          </p:blipFill>
          <p:spPr>
            <a:xfrm flipH="1">
              <a:off x="6814440" y="1436040"/>
              <a:ext cx="5313600" cy="4124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06" name="Google Shape;642;p12"/>
            <p:cNvSpPr/>
            <p:nvPr/>
          </p:nvSpPr>
          <p:spPr>
            <a:xfrm flipH="1">
              <a:off x="7020720" y="5429520"/>
              <a:ext cx="5168520" cy="173160"/>
            </a:xfrm>
            <a:custGeom>
              <a:avLst/>
              <a:gdLst>
                <a:gd name="textAreaLeft" fmla="*/ -720 w 5168520"/>
                <a:gd name="textAreaRight" fmla="*/ 5168880 w 5168520"/>
                <a:gd name="textAreaTop" fmla="*/ 0 h 173160"/>
                <a:gd name="textAreaBottom" fmla="*/ 174240 h 173160"/>
              </a:gdLst>
              <a:ahLst/>
              <a:cxnLst/>
              <a:rect l="textAreaLeft" t="textAreaTop" r="textAreaRight" b="textAreaBottom"/>
              <a:pathLst>
                <a:path w="8406130" h="1450975">
                  <a:moveTo>
                    <a:pt x="8405774" y="0"/>
                  </a:moveTo>
                  <a:lnTo>
                    <a:pt x="0" y="0"/>
                  </a:lnTo>
                  <a:lnTo>
                    <a:pt x="12" y="1450581"/>
                  </a:lnTo>
                  <a:lnTo>
                    <a:pt x="8405774" y="1450581"/>
                  </a:lnTo>
                  <a:lnTo>
                    <a:pt x="8405774" y="0"/>
                  </a:lnTo>
                  <a:close/>
                </a:path>
              </a:pathLst>
            </a:custGeom>
            <a:solidFill>
              <a:srgbClr val="8F9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10;p1"/>
          <p:cNvPicPr/>
          <p:nvPr/>
        </p:nvPicPr>
        <p:blipFill>
          <a:blip r:embed="rId2"/>
          <a:stretch/>
        </p:blipFill>
        <p:spPr>
          <a:xfrm>
            <a:off x="9929160" y="295200"/>
            <a:ext cx="1971360" cy="5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8" name="Google Shape;11;p1"/>
          <p:cNvSpPr/>
          <p:nvPr/>
        </p:nvSpPr>
        <p:spPr>
          <a:xfrm>
            <a:off x="7142760" y="6258960"/>
            <a:ext cx="4861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sng" strike="noStrike">
                <a:solidFill>
                  <a:srgbClr val="467886"/>
                </a:solidFill>
                <a:effectLst/>
                <a:uFillTx/>
                <a:latin typeface="Poppins Light"/>
                <a:ea typeface="Poppins Light"/>
                <a:hlinkClick r:id="rId3"/>
              </a:rPr>
              <a:t>Interledger.org</a:t>
            </a: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#OpenPayments #ILPHacks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Google Shape;13;p2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1"/>
          <p:cNvSpPr>
            <a:spLocks noGrp="1"/>
          </p:cNvSpPr>
          <p:nvPr>
            <p:ph type="body"/>
          </p:nvPr>
        </p:nvSpPr>
        <p:spPr>
          <a:xfrm>
            <a:off x="436320" y="1636200"/>
            <a:ext cx="5438880" cy="228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56640" y="4032720"/>
            <a:ext cx="5218200" cy="4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2" name="Google Shape;16;p2"/>
          <p:cNvCxnSpPr/>
          <p:nvPr/>
        </p:nvCxnSpPr>
        <p:spPr>
          <a:xfrm>
            <a:off x="580320" y="4124160"/>
            <a:ext cx="1080" cy="289080"/>
          </a:xfrm>
          <a:prstGeom prst="straightConnector1">
            <a:avLst/>
          </a:prstGeom>
          <a:ln w="19050">
            <a:solidFill>
              <a:srgbClr val="FFB259"/>
            </a:solidFill>
            <a:miter/>
          </a:ln>
        </p:spPr>
      </p:cxnSp>
      <p:sp>
        <p:nvSpPr>
          <p:cNvPr id="613" name="PlaceHolder 3"/>
          <p:cNvSpPr>
            <a:spLocks noGrp="1"/>
          </p:cNvSpPr>
          <p:nvPr>
            <p:ph type="body"/>
          </p:nvPr>
        </p:nvSpPr>
        <p:spPr>
          <a:xfrm>
            <a:off x="549360" y="6031080"/>
            <a:ext cx="1861560" cy="337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196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196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PlaceHolder 4"/>
          <p:cNvSpPr>
            <a:spLocks noGrp="1"/>
          </p:cNvSpPr>
          <p:nvPr>
            <p:ph type="body"/>
          </p:nvPr>
        </p:nvSpPr>
        <p:spPr>
          <a:xfrm>
            <a:off x="2408040" y="6031080"/>
            <a:ext cx="1861560" cy="337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196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196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5" name="Google Shape;19;p2"/>
          <p:cNvPicPr/>
          <p:nvPr/>
        </p:nvPicPr>
        <p:blipFill>
          <a:blip r:embed="rId4"/>
          <a:stretch/>
        </p:blipFill>
        <p:spPr>
          <a:xfrm>
            <a:off x="436320" y="382320"/>
            <a:ext cx="2694240" cy="808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16" name="Google Shape;20;p2"/>
          <p:cNvGrpSpPr/>
          <p:nvPr/>
        </p:nvGrpSpPr>
        <p:grpSpPr>
          <a:xfrm>
            <a:off x="0" y="5218200"/>
            <a:ext cx="2599200" cy="384120"/>
            <a:chOff x="0" y="5218200"/>
            <a:chExt cx="2599200" cy="384120"/>
          </a:xfrm>
        </p:grpSpPr>
        <p:sp>
          <p:nvSpPr>
            <p:cNvPr id="617" name="Google Shape;21;p2"/>
            <p:cNvSpPr/>
            <p:nvPr/>
          </p:nvSpPr>
          <p:spPr>
            <a:xfrm>
              <a:off x="0" y="5218200"/>
              <a:ext cx="2214000" cy="384120"/>
            </a:xfrm>
            <a:custGeom>
              <a:avLst/>
              <a:gdLst>
                <a:gd name="textAreaLeft" fmla="*/ 0 w 2214000"/>
                <a:gd name="textAreaRight" fmla="*/ 2215080 w 2214000"/>
                <a:gd name="textAreaTop" fmla="*/ 0 h 384120"/>
                <a:gd name="textAreaBottom" fmla="*/ 385200 h 384120"/>
              </a:gdLst>
              <a:ahLst/>
              <a:cxnLst/>
              <a:rect l="textAreaLeft" t="textAreaTop" r="textAreaRight" b="textAreaBottom"/>
              <a:pathLst>
                <a:path w="6877684" h="1196340">
                  <a:moveTo>
                    <a:pt x="0" y="1195974"/>
                  </a:moveTo>
                  <a:lnTo>
                    <a:pt x="6877060" y="1195974"/>
                  </a:lnTo>
                  <a:lnTo>
                    <a:pt x="6877060" y="0"/>
                  </a:lnTo>
                  <a:lnTo>
                    <a:pt x="0" y="0"/>
                  </a:lnTo>
                  <a:lnTo>
                    <a:pt x="0" y="1195974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8" name="Google Shape;22;p2"/>
            <p:cNvSpPr/>
            <p:nvPr/>
          </p:nvSpPr>
          <p:spPr>
            <a:xfrm>
              <a:off x="86400" y="5309280"/>
              <a:ext cx="2036160" cy="196200"/>
            </a:xfrm>
            <a:custGeom>
              <a:avLst/>
              <a:gdLst>
                <a:gd name="textAreaLeft" fmla="*/ 0 w 2036160"/>
                <a:gd name="textAreaRight" fmla="*/ 2037240 w 2036160"/>
                <a:gd name="textAreaTop" fmla="*/ 0 h 196200"/>
                <a:gd name="textAreaBottom" fmla="*/ 197280 h 196200"/>
              </a:gdLst>
              <a:ahLst/>
              <a:cxnLst/>
              <a:rect l="textAreaLeft" t="textAreaTop" r="textAreaRight" b="textAreaBottom"/>
              <a:pathLst>
                <a:path w="6324600" h="612140">
                  <a:moveTo>
                    <a:pt x="394309" y="305917"/>
                  </a:moveTo>
                  <a:lnTo>
                    <a:pt x="0" y="0"/>
                  </a:lnTo>
                  <a:lnTo>
                    <a:pt x="0" y="611847"/>
                  </a:lnTo>
                  <a:lnTo>
                    <a:pt x="394309" y="305917"/>
                  </a:lnTo>
                  <a:close/>
                </a:path>
                <a:path w="6324600" h="612140">
                  <a:moveTo>
                    <a:pt x="933411" y="305917"/>
                  </a:moveTo>
                  <a:lnTo>
                    <a:pt x="539115" y="0"/>
                  </a:lnTo>
                  <a:lnTo>
                    <a:pt x="539115" y="611847"/>
                  </a:lnTo>
                  <a:lnTo>
                    <a:pt x="933411" y="305917"/>
                  </a:lnTo>
                  <a:close/>
                </a:path>
                <a:path w="6324600" h="612140">
                  <a:moveTo>
                    <a:pt x="1472526" y="305917"/>
                  </a:moveTo>
                  <a:lnTo>
                    <a:pt x="1078230" y="0"/>
                  </a:lnTo>
                  <a:lnTo>
                    <a:pt x="1078230" y="611847"/>
                  </a:lnTo>
                  <a:lnTo>
                    <a:pt x="1472526" y="305917"/>
                  </a:lnTo>
                  <a:close/>
                </a:path>
                <a:path w="6324600" h="612140">
                  <a:moveTo>
                    <a:pt x="2011629" y="305917"/>
                  </a:moveTo>
                  <a:lnTo>
                    <a:pt x="1617332" y="0"/>
                  </a:lnTo>
                  <a:lnTo>
                    <a:pt x="1617332" y="611847"/>
                  </a:lnTo>
                  <a:lnTo>
                    <a:pt x="2011629" y="305917"/>
                  </a:lnTo>
                  <a:close/>
                </a:path>
                <a:path w="6324600" h="612140">
                  <a:moveTo>
                    <a:pt x="2550744" y="305917"/>
                  </a:moveTo>
                  <a:lnTo>
                    <a:pt x="2156447" y="0"/>
                  </a:lnTo>
                  <a:lnTo>
                    <a:pt x="2156447" y="611847"/>
                  </a:lnTo>
                  <a:lnTo>
                    <a:pt x="2550744" y="305917"/>
                  </a:lnTo>
                  <a:close/>
                </a:path>
                <a:path w="6324600" h="612140">
                  <a:moveTo>
                    <a:pt x="3089846" y="305917"/>
                  </a:moveTo>
                  <a:lnTo>
                    <a:pt x="2695549" y="0"/>
                  </a:lnTo>
                  <a:lnTo>
                    <a:pt x="2695549" y="611847"/>
                  </a:lnTo>
                  <a:lnTo>
                    <a:pt x="3089846" y="305917"/>
                  </a:lnTo>
                  <a:close/>
                </a:path>
                <a:path w="6324600" h="612140">
                  <a:moveTo>
                    <a:pt x="3628961" y="305917"/>
                  </a:moveTo>
                  <a:lnTo>
                    <a:pt x="3234664" y="0"/>
                  </a:lnTo>
                  <a:lnTo>
                    <a:pt x="3234664" y="611847"/>
                  </a:lnTo>
                  <a:lnTo>
                    <a:pt x="3628961" y="305917"/>
                  </a:lnTo>
                  <a:close/>
                </a:path>
                <a:path w="6324600" h="612140">
                  <a:moveTo>
                    <a:pt x="4168076" y="305917"/>
                  </a:moveTo>
                  <a:lnTo>
                    <a:pt x="3773767" y="0"/>
                  </a:lnTo>
                  <a:lnTo>
                    <a:pt x="3773767" y="611847"/>
                  </a:lnTo>
                  <a:lnTo>
                    <a:pt x="4168076" y="305917"/>
                  </a:lnTo>
                  <a:close/>
                </a:path>
                <a:path w="6324600" h="612140">
                  <a:moveTo>
                    <a:pt x="4707179" y="305917"/>
                  </a:moveTo>
                  <a:lnTo>
                    <a:pt x="4312882" y="0"/>
                  </a:lnTo>
                  <a:lnTo>
                    <a:pt x="4312882" y="611847"/>
                  </a:lnTo>
                  <a:lnTo>
                    <a:pt x="4707179" y="305917"/>
                  </a:lnTo>
                  <a:close/>
                </a:path>
                <a:path w="6324600" h="612140">
                  <a:moveTo>
                    <a:pt x="5246294" y="305917"/>
                  </a:moveTo>
                  <a:lnTo>
                    <a:pt x="4851984" y="0"/>
                  </a:lnTo>
                  <a:lnTo>
                    <a:pt x="4851984" y="611847"/>
                  </a:lnTo>
                  <a:lnTo>
                    <a:pt x="5246294" y="305917"/>
                  </a:lnTo>
                  <a:close/>
                </a:path>
                <a:path w="6324600" h="612140">
                  <a:moveTo>
                    <a:pt x="5785396" y="305917"/>
                  </a:moveTo>
                  <a:lnTo>
                    <a:pt x="5391099" y="0"/>
                  </a:lnTo>
                  <a:lnTo>
                    <a:pt x="5391099" y="611847"/>
                  </a:lnTo>
                  <a:lnTo>
                    <a:pt x="5785396" y="305917"/>
                  </a:lnTo>
                  <a:close/>
                </a:path>
                <a:path w="6324600" h="612140">
                  <a:moveTo>
                    <a:pt x="6324511" y="305917"/>
                  </a:moveTo>
                  <a:lnTo>
                    <a:pt x="5930201" y="0"/>
                  </a:lnTo>
                  <a:lnTo>
                    <a:pt x="5930201" y="611847"/>
                  </a:lnTo>
                  <a:lnTo>
                    <a:pt x="6324511" y="305917"/>
                  </a:lnTo>
                  <a:close/>
                </a:path>
              </a:pathLst>
            </a:custGeom>
            <a:solidFill>
              <a:srgbClr val="5607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Google Shape;23;p2"/>
            <p:cNvSpPr/>
            <p:nvPr/>
          </p:nvSpPr>
          <p:spPr>
            <a:xfrm>
              <a:off x="2215080" y="5218200"/>
              <a:ext cx="384120" cy="384120"/>
            </a:xfrm>
            <a:custGeom>
              <a:avLst/>
              <a:gdLst>
                <a:gd name="textAreaLeft" fmla="*/ 0 w 384120"/>
                <a:gd name="textAreaRight" fmla="*/ 385200 w 384120"/>
                <a:gd name="textAreaTop" fmla="*/ 0 h 384120"/>
                <a:gd name="textAreaBottom" fmla="*/ 385200 h 384120"/>
              </a:gdLst>
              <a:ahLst/>
              <a:cxnLst/>
              <a:rect l="textAreaLeft" t="textAreaTop" r="textAreaRight" b="textAreaBottom"/>
              <a:pathLst>
                <a:path w="1196340" h="1196340">
                  <a:moveTo>
                    <a:pt x="1195971" y="0"/>
                  </a:moveTo>
                  <a:lnTo>
                    <a:pt x="0" y="0"/>
                  </a:lnTo>
                  <a:lnTo>
                    <a:pt x="0" y="52349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146494"/>
                  </a:lnTo>
                  <a:lnTo>
                    <a:pt x="0" y="195300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293001"/>
                  </a:lnTo>
                  <a:lnTo>
                    <a:pt x="0" y="338251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439508"/>
                  </a:lnTo>
                  <a:lnTo>
                    <a:pt x="0" y="481215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586016"/>
                  </a:lnTo>
                  <a:lnTo>
                    <a:pt x="0" y="624166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732523"/>
                  </a:lnTo>
                  <a:lnTo>
                    <a:pt x="0" y="767118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879030"/>
                  </a:lnTo>
                  <a:lnTo>
                    <a:pt x="0" y="910069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1025537"/>
                  </a:lnTo>
                  <a:lnTo>
                    <a:pt x="0" y="1053020"/>
                  </a:lnTo>
                  <a:lnTo>
                    <a:pt x="1195971" y="0"/>
                  </a:lnTo>
                  <a:close/>
                </a:path>
                <a:path w="1196340" h="1196340">
                  <a:moveTo>
                    <a:pt x="1195971" y="0"/>
                  </a:moveTo>
                  <a:lnTo>
                    <a:pt x="0" y="1172032"/>
                  </a:lnTo>
                  <a:lnTo>
                    <a:pt x="0" y="1195971"/>
                  </a:lnTo>
                  <a:lnTo>
                    <a:pt x="1195971" y="0"/>
                  </a:lnTo>
                  <a:close/>
                </a:path>
              </a:pathLst>
            </a:custGeom>
            <a:solidFill>
              <a:srgbClr val="90A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0" name="Google Shape;24;p2"/>
          <p:cNvSpPr/>
          <p:nvPr/>
        </p:nvSpPr>
        <p:spPr>
          <a:xfrm flipH="1">
            <a:off x="6337080" y="198360"/>
            <a:ext cx="5097960" cy="5116680"/>
          </a:xfrm>
          <a:custGeom>
            <a:avLst/>
            <a:gdLst>
              <a:gd name="textAreaLeft" fmla="*/ -720 w 5097960"/>
              <a:gd name="textAreaRight" fmla="*/ 5098320 w 5097960"/>
              <a:gd name="textAreaTop" fmla="*/ 0 h 5116680"/>
              <a:gd name="textAreaBottom" fmla="*/ 5117760 h 5116680"/>
            </a:gdLst>
            <a:ahLst/>
            <a:cxnLst/>
            <a:rect l="textAreaLeft" t="textAreaTop" r="textAreaRight" b="textAreaBottom"/>
            <a:pathLst>
              <a:path w="7000240" h="7026275">
                <a:moveTo>
                  <a:pt x="0" y="0"/>
                </a:moveTo>
                <a:lnTo>
                  <a:pt x="0" y="7025843"/>
                </a:lnTo>
                <a:lnTo>
                  <a:pt x="7000062" y="3498443"/>
                </a:lnTo>
                <a:lnTo>
                  <a:pt x="0" y="0"/>
                </a:lnTo>
                <a:close/>
              </a:path>
            </a:pathLst>
          </a:custGeom>
          <a:solidFill>
            <a:srgbClr val="5606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21" name="Google Shape;25;p2"/>
          <p:cNvGrpSpPr/>
          <p:nvPr/>
        </p:nvGrpSpPr>
        <p:grpSpPr>
          <a:xfrm>
            <a:off x="6511680" y="485640"/>
            <a:ext cx="5678640" cy="5116680"/>
            <a:chOff x="6511680" y="485640"/>
            <a:chExt cx="5678640" cy="5116680"/>
          </a:xfrm>
        </p:grpSpPr>
        <p:sp>
          <p:nvSpPr>
            <p:cNvPr id="622" name="Google Shape;26;p2"/>
            <p:cNvSpPr/>
            <p:nvPr/>
          </p:nvSpPr>
          <p:spPr>
            <a:xfrm flipH="1">
              <a:off x="6511680" y="485640"/>
              <a:ext cx="4924080" cy="5116680"/>
            </a:xfrm>
            <a:custGeom>
              <a:avLst/>
              <a:gdLst>
                <a:gd name="textAreaLeft" fmla="*/ 720 w 4924080"/>
                <a:gd name="textAreaRight" fmla="*/ 4925880 w 4924080"/>
                <a:gd name="textAreaTop" fmla="*/ 0 h 5116680"/>
                <a:gd name="textAreaBottom" fmla="*/ 5117760 h 5116680"/>
              </a:gdLst>
              <a:ahLst/>
              <a:cxnLst/>
              <a:rect l="textAreaLeft" t="textAreaTop" r="textAreaRight" b="textAreaBottom"/>
              <a:pathLst>
                <a:path w="6761480" h="7026275">
                  <a:moveTo>
                    <a:pt x="1628190" y="3498443"/>
                  </a:moveTo>
                  <a:lnTo>
                    <a:pt x="0" y="0"/>
                  </a:lnTo>
                  <a:lnTo>
                    <a:pt x="1158392" y="3638956"/>
                  </a:lnTo>
                  <a:lnTo>
                    <a:pt x="0" y="7025843"/>
                  </a:lnTo>
                  <a:lnTo>
                    <a:pt x="1628190" y="3498443"/>
                  </a:lnTo>
                  <a:close/>
                </a:path>
                <a:path w="6761480" h="7026275">
                  <a:moveTo>
                    <a:pt x="3749776" y="3498443"/>
                  </a:moveTo>
                  <a:lnTo>
                    <a:pt x="0" y="0"/>
                  </a:lnTo>
                  <a:lnTo>
                    <a:pt x="2555240" y="3638956"/>
                  </a:lnTo>
                  <a:lnTo>
                    <a:pt x="0" y="7025843"/>
                  </a:lnTo>
                  <a:lnTo>
                    <a:pt x="3749776" y="3498443"/>
                  </a:lnTo>
                  <a:close/>
                </a:path>
                <a:path w="6761480" h="7026275">
                  <a:moveTo>
                    <a:pt x="6760934" y="3498443"/>
                  </a:moveTo>
                  <a:lnTo>
                    <a:pt x="0" y="0"/>
                  </a:lnTo>
                  <a:lnTo>
                    <a:pt x="4533392" y="3638956"/>
                  </a:lnTo>
                  <a:lnTo>
                    <a:pt x="0" y="7025843"/>
                  </a:lnTo>
                  <a:lnTo>
                    <a:pt x="6760934" y="3498443"/>
                  </a:lnTo>
                  <a:close/>
                </a:path>
              </a:pathLst>
            </a:custGeom>
            <a:solidFill>
              <a:srgbClr val="00E5C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Google Shape;27;p2"/>
            <p:cNvSpPr/>
            <p:nvPr/>
          </p:nvSpPr>
          <p:spPr>
            <a:xfrm flipH="1">
              <a:off x="11436480" y="485640"/>
              <a:ext cx="753840" cy="5113440"/>
            </a:xfrm>
            <a:custGeom>
              <a:avLst/>
              <a:gdLst>
                <a:gd name="textAreaLeft" fmla="*/ 720 w 753840"/>
                <a:gd name="textAreaRight" fmla="*/ 755640 w 753840"/>
                <a:gd name="textAreaTop" fmla="*/ 0 h 5113440"/>
                <a:gd name="textAreaBottom" fmla="*/ 5114520 h 5113440"/>
              </a:gdLst>
              <a:ahLst/>
              <a:cxnLst/>
              <a:rect l="textAreaLeft" t="textAreaTop" r="textAreaRight" b="textAreaBottom"/>
              <a:pathLst>
                <a:path w="1036319" h="7021830">
                  <a:moveTo>
                    <a:pt x="1036104" y="6787705"/>
                  </a:moveTo>
                  <a:lnTo>
                    <a:pt x="0" y="6787705"/>
                  </a:lnTo>
                  <a:lnTo>
                    <a:pt x="0" y="7021792"/>
                  </a:lnTo>
                  <a:lnTo>
                    <a:pt x="1036104" y="7021792"/>
                  </a:lnTo>
                  <a:lnTo>
                    <a:pt x="1036104" y="6787705"/>
                  </a:lnTo>
                  <a:close/>
                </a:path>
                <a:path w="1036319" h="7021830">
                  <a:moveTo>
                    <a:pt x="1036104" y="6265570"/>
                  </a:moveTo>
                  <a:lnTo>
                    <a:pt x="0" y="6265570"/>
                  </a:lnTo>
                  <a:lnTo>
                    <a:pt x="0" y="6505156"/>
                  </a:lnTo>
                  <a:lnTo>
                    <a:pt x="1036104" y="6505156"/>
                  </a:lnTo>
                  <a:lnTo>
                    <a:pt x="1036104" y="6265570"/>
                  </a:lnTo>
                  <a:close/>
                </a:path>
                <a:path w="1036319" h="7021830">
                  <a:moveTo>
                    <a:pt x="1036104" y="5743460"/>
                  </a:moveTo>
                  <a:lnTo>
                    <a:pt x="0" y="5743460"/>
                  </a:lnTo>
                  <a:lnTo>
                    <a:pt x="0" y="5984481"/>
                  </a:lnTo>
                  <a:lnTo>
                    <a:pt x="1036104" y="5984481"/>
                  </a:lnTo>
                  <a:lnTo>
                    <a:pt x="1036104" y="5743460"/>
                  </a:lnTo>
                  <a:close/>
                </a:path>
                <a:path w="1036319" h="7021830">
                  <a:moveTo>
                    <a:pt x="1036104" y="5221325"/>
                  </a:moveTo>
                  <a:lnTo>
                    <a:pt x="0" y="5221325"/>
                  </a:lnTo>
                  <a:lnTo>
                    <a:pt x="0" y="5463819"/>
                  </a:lnTo>
                  <a:lnTo>
                    <a:pt x="1036104" y="5463819"/>
                  </a:lnTo>
                  <a:lnTo>
                    <a:pt x="1036104" y="5221325"/>
                  </a:lnTo>
                  <a:close/>
                </a:path>
                <a:path w="1036319" h="7021830">
                  <a:moveTo>
                    <a:pt x="1036104" y="4699190"/>
                  </a:moveTo>
                  <a:lnTo>
                    <a:pt x="0" y="4699190"/>
                  </a:lnTo>
                  <a:lnTo>
                    <a:pt x="0" y="4943145"/>
                  </a:lnTo>
                  <a:lnTo>
                    <a:pt x="1036104" y="4943145"/>
                  </a:lnTo>
                  <a:lnTo>
                    <a:pt x="1036104" y="4699190"/>
                  </a:lnTo>
                  <a:close/>
                </a:path>
                <a:path w="1036319" h="7021830">
                  <a:moveTo>
                    <a:pt x="1036104" y="4177042"/>
                  </a:moveTo>
                  <a:lnTo>
                    <a:pt x="0" y="4177042"/>
                  </a:lnTo>
                  <a:lnTo>
                    <a:pt x="0" y="4422470"/>
                  </a:lnTo>
                  <a:lnTo>
                    <a:pt x="1036104" y="4422470"/>
                  </a:lnTo>
                  <a:lnTo>
                    <a:pt x="1036104" y="4177042"/>
                  </a:lnTo>
                  <a:close/>
                </a:path>
                <a:path w="1036319" h="7021830">
                  <a:moveTo>
                    <a:pt x="1036104" y="3654920"/>
                  </a:moveTo>
                  <a:lnTo>
                    <a:pt x="0" y="3654920"/>
                  </a:lnTo>
                  <a:lnTo>
                    <a:pt x="0" y="3901808"/>
                  </a:lnTo>
                  <a:lnTo>
                    <a:pt x="1036104" y="3901808"/>
                  </a:lnTo>
                  <a:lnTo>
                    <a:pt x="1036104" y="3654920"/>
                  </a:lnTo>
                  <a:close/>
                </a:path>
                <a:path w="1036319" h="7021830">
                  <a:moveTo>
                    <a:pt x="1036104" y="3132798"/>
                  </a:moveTo>
                  <a:lnTo>
                    <a:pt x="0" y="3132798"/>
                  </a:lnTo>
                  <a:lnTo>
                    <a:pt x="0" y="3381133"/>
                  </a:lnTo>
                  <a:lnTo>
                    <a:pt x="1036104" y="3381133"/>
                  </a:lnTo>
                  <a:lnTo>
                    <a:pt x="1036104" y="3132798"/>
                  </a:lnTo>
                  <a:close/>
                </a:path>
                <a:path w="1036319" h="7021830">
                  <a:moveTo>
                    <a:pt x="1036104" y="2610650"/>
                  </a:moveTo>
                  <a:lnTo>
                    <a:pt x="0" y="2610650"/>
                  </a:lnTo>
                  <a:lnTo>
                    <a:pt x="0" y="2860459"/>
                  </a:lnTo>
                  <a:lnTo>
                    <a:pt x="1036104" y="2860459"/>
                  </a:lnTo>
                  <a:lnTo>
                    <a:pt x="1036104" y="2610650"/>
                  </a:lnTo>
                  <a:close/>
                </a:path>
                <a:path w="1036319" h="7021830">
                  <a:moveTo>
                    <a:pt x="1036104" y="2088527"/>
                  </a:moveTo>
                  <a:lnTo>
                    <a:pt x="0" y="2088527"/>
                  </a:lnTo>
                  <a:lnTo>
                    <a:pt x="0" y="2339797"/>
                  </a:lnTo>
                  <a:lnTo>
                    <a:pt x="1036104" y="2339797"/>
                  </a:lnTo>
                  <a:lnTo>
                    <a:pt x="1036104" y="2088527"/>
                  </a:lnTo>
                  <a:close/>
                </a:path>
                <a:path w="1036319" h="7021830">
                  <a:moveTo>
                    <a:pt x="1036104" y="1566392"/>
                  </a:moveTo>
                  <a:lnTo>
                    <a:pt x="0" y="1566392"/>
                  </a:lnTo>
                  <a:lnTo>
                    <a:pt x="0" y="1819122"/>
                  </a:lnTo>
                  <a:lnTo>
                    <a:pt x="1036104" y="1819122"/>
                  </a:lnTo>
                  <a:lnTo>
                    <a:pt x="1036104" y="1566392"/>
                  </a:lnTo>
                  <a:close/>
                </a:path>
                <a:path w="1036319" h="7021830">
                  <a:moveTo>
                    <a:pt x="1036104" y="1044257"/>
                  </a:moveTo>
                  <a:lnTo>
                    <a:pt x="0" y="1044257"/>
                  </a:lnTo>
                  <a:lnTo>
                    <a:pt x="0" y="1298448"/>
                  </a:lnTo>
                  <a:lnTo>
                    <a:pt x="1036104" y="1298448"/>
                  </a:lnTo>
                  <a:lnTo>
                    <a:pt x="1036104" y="1044257"/>
                  </a:lnTo>
                  <a:close/>
                </a:path>
                <a:path w="1036319" h="7021830">
                  <a:moveTo>
                    <a:pt x="1036104" y="522122"/>
                  </a:moveTo>
                  <a:lnTo>
                    <a:pt x="0" y="522122"/>
                  </a:lnTo>
                  <a:lnTo>
                    <a:pt x="0" y="777773"/>
                  </a:lnTo>
                  <a:lnTo>
                    <a:pt x="1036104" y="777773"/>
                  </a:lnTo>
                  <a:lnTo>
                    <a:pt x="1036104" y="522122"/>
                  </a:lnTo>
                  <a:close/>
                </a:path>
                <a:path w="1036319" h="7021830">
                  <a:moveTo>
                    <a:pt x="1036104" y="0"/>
                  </a:moveTo>
                  <a:lnTo>
                    <a:pt x="0" y="0"/>
                  </a:lnTo>
                  <a:lnTo>
                    <a:pt x="0" y="257111"/>
                  </a:lnTo>
                  <a:lnTo>
                    <a:pt x="1036104" y="257111"/>
                  </a:lnTo>
                  <a:lnTo>
                    <a:pt x="1036104" y="0"/>
                  </a:lnTo>
                  <a:close/>
                </a:path>
              </a:pathLst>
            </a:custGeom>
            <a:solidFill>
              <a:srgbClr val="8F9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4" name="Google Shape;28;p2"/>
          <p:cNvSpPr/>
          <p:nvPr/>
        </p:nvSpPr>
        <p:spPr>
          <a:xfrm>
            <a:off x="7989120" y="6008040"/>
            <a:ext cx="344700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MY" sz="1000" b="0" u="none" strike="noStrike">
                <a:solidFill>
                  <a:srgbClr val="FFFFFF"/>
                </a:solidFill>
                <a:effectLst/>
                <a:uFillTx/>
                <a:latin typeface="Poppins Light"/>
                <a:ea typeface="Poppins Light"/>
              </a:rPr>
              <a:t>#OpenPayments #ILPHacks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0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10;p1"/>
          <p:cNvPicPr/>
          <p:nvPr/>
        </p:nvPicPr>
        <p:blipFill>
          <a:blip r:embed="rId2"/>
          <a:stretch/>
        </p:blipFill>
        <p:spPr>
          <a:xfrm>
            <a:off x="9929160" y="295200"/>
            <a:ext cx="1971360" cy="5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7" name="Google Shape;11;p1"/>
          <p:cNvSpPr/>
          <p:nvPr/>
        </p:nvSpPr>
        <p:spPr>
          <a:xfrm>
            <a:off x="7142760" y="6258960"/>
            <a:ext cx="4861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sng" strike="noStrike">
                <a:solidFill>
                  <a:srgbClr val="467886"/>
                </a:solidFill>
                <a:effectLst/>
                <a:uFillTx/>
                <a:latin typeface="Poppins Light"/>
                <a:ea typeface="Poppins Light"/>
                <a:hlinkClick r:id="rId3"/>
              </a:rPr>
              <a:t>Interledger.org</a:t>
            </a: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#OpenPayments #ILPHacks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Google Shape;413;p7"/>
          <p:cNvSpPr/>
          <p:nvPr/>
        </p:nvSpPr>
        <p:spPr>
          <a:xfrm>
            <a:off x="0" y="0"/>
            <a:ext cx="12182400" cy="68569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29" name="Google Shape;414;p7"/>
          <p:cNvGrpSpPr/>
          <p:nvPr/>
        </p:nvGrpSpPr>
        <p:grpSpPr>
          <a:xfrm>
            <a:off x="8280" y="435600"/>
            <a:ext cx="6963120" cy="5985720"/>
            <a:chOff x="8280" y="435600"/>
            <a:chExt cx="6963120" cy="5985720"/>
          </a:xfrm>
        </p:grpSpPr>
        <p:sp>
          <p:nvSpPr>
            <p:cNvPr id="630" name="Google Shape;415;p7"/>
            <p:cNvSpPr/>
            <p:nvPr/>
          </p:nvSpPr>
          <p:spPr>
            <a:xfrm>
              <a:off x="740520" y="435600"/>
              <a:ext cx="4944960" cy="4963320"/>
            </a:xfrm>
            <a:custGeom>
              <a:avLst/>
              <a:gdLst>
                <a:gd name="textAreaLeft" fmla="*/ 0 w 4944960"/>
                <a:gd name="textAreaRight" fmla="*/ 4946040 w 4944960"/>
                <a:gd name="textAreaTop" fmla="*/ 0 h 4963320"/>
                <a:gd name="textAreaBottom" fmla="*/ 4964400 h 4963320"/>
              </a:gdLst>
              <a:ahLst/>
              <a:cxnLst/>
              <a:rect l="textAreaLeft" t="textAreaTop" r="textAreaRight" b="textAreaBottom"/>
              <a:pathLst>
                <a:path w="5771515" h="5793105">
                  <a:moveTo>
                    <a:pt x="0" y="0"/>
                  </a:moveTo>
                  <a:lnTo>
                    <a:pt x="0" y="5792662"/>
                  </a:lnTo>
                  <a:lnTo>
                    <a:pt x="5771405" y="2884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7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Google Shape;416;p7"/>
            <p:cNvSpPr/>
            <p:nvPr/>
          </p:nvSpPr>
          <p:spPr>
            <a:xfrm>
              <a:off x="740520" y="435960"/>
              <a:ext cx="4776120" cy="4963320"/>
            </a:xfrm>
            <a:custGeom>
              <a:avLst/>
              <a:gdLst>
                <a:gd name="textAreaLeft" fmla="*/ 0 w 4776120"/>
                <a:gd name="textAreaRight" fmla="*/ 4777200 w 4776120"/>
                <a:gd name="textAreaTop" fmla="*/ 0 h 4963320"/>
                <a:gd name="textAreaBottom" fmla="*/ 4964400 h 4963320"/>
              </a:gdLst>
              <a:ahLst/>
              <a:cxnLst/>
              <a:rect l="textAreaLeft" t="textAreaTop" r="textAreaRight" b="textAreaBottom"/>
              <a:pathLst>
                <a:path w="5574665" h="5793105">
                  <a:moveTo>
                    <a:pt x="1342415" y="2884398"/>
                  </a:moveTo>
                  <a:lnTo>
                    <a:pt x="0" y="0"/>
                  </a:lnTo>
                  <a:lnTo>
                    <a:pt x="955065" y="3000248"/>
                  </a:lnTo>
                  <a:lnTo>
                    <a:pt x="0" y="5792660"/>
                  </a:lnTo>
                  <a:lnTo>
                    <a:pt x="1342415" y="2884398"/>
                  </a:lnTo>
                  <a:close/>
                </a:path>
                <a:path w="5574665" h="5793105">
                  <a:moveTo>
                    <a:pt x="3091611" y="2884398"/>
                  </a:moveTo>
                  <a:lnTo>
                    <a:pt x="0" y="0"/>
                  </a:lnTo>
                  <a:lnTo>
                    <a:pt x="2106752" y="3000248"/>
                  </a:lnTo>
                  <a:lnTo>
                    <a:pt x="0" y="5792660"/>
                  </a:lnTo>
                  <a:lnTo>
                    <a:pt x="3091611" y="2884398"/>
                  </a:lnTo>
                  <a:close/>
                </a:path>
                <a:path w="5574665" h="5793105">
                  <a:moveTo>
                    <a:pt x="5574246" y="2884398"/>
                  </a:moveTo>
                  <a:lnTo>
                    <a:pt x="0" y="0"/>
                  </a:lnTo>
                  <a:lnTo>
                    <a:pt x="3737699" y="3000248"/>
                  </a:lnTo>
                  <a:lnTo>
                    <a:pt x="0" y="5792660"/>
                  </a:lnTo>
                  <a:lnTo>
                    <a:pt x="5574246" y="2884398"/>
                  </a:lnTo>
                  <a:close/>
                </a:path>
              </a:pathLst>
            </a:custGeom>
            <a:solidFill>
              <a:srgbClr val="00E5C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Google Shape;417;p7"/>
            <p:cNvSpPr/>
            <p:nvPr/>
          </p:nvSpPr>
          <p:spPr>
            <a:xfrm>
              <a:off x="8280" y="5397120"/>
              <a:ext cx="5937840" cy="1024200"/>
            </a:xfrm>
            <a:custGeom>
              <a:avLst/>
              <a:gdLst>
                <a:gd name="textAreaLeft" fmla="*/ 0 w 5937840"/>
                <a:gd name="textAreaRight" fmla="*/ 5938920 w 5937840"/>
                <a:gd name="textAreaTop" fmla="*/ 0 h 1024200"/>
                <a:gd name="textAreaBottom" fmla="*/ 1025280 h 1024200"/>
              </a:gdLst>
              <a:ahLst/>
              <a:cxnLst/>
              <a:rect l="textAreaLeft" t="textAreaTop" r="textAreaRight" b="textAreaBottom"/>
              <a:pathLst>
                <a:path w="6930390" h="1196340">
                  <a:moveTo>
                    <a:pt x="6930385" y="0"/>
                  </a:moveTo>
                  <a:lnTo>
                    <a:pt x="0" y="0"/>
                  </a:lnTo>
                  <a:lnTo>
                    <a:pt x="0" y="1195974"/>
                  </a:lnTo>
                  <a:lnTo>
                    <a:pt x="6930385" y="1195974"/>
                  </a:lnTo>
                  <a:lnTo>
                    <a:pt x="6930385" y="0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Google Shape;418;p7"/>
            <p:cNvSpPr/>
            <p:nvPr/>
          </p:nvSpPr>
          <p:spPr>
            <a:xfrm>
              <a:off x="284400" y="5639400"/>
              <a:ext cx="5418720" cy="523440"/>
            </a:xfrm>
            <a:custGeom>
              <a:avLst/>
              <a:gdLst>
                <a:gd name="textAreaLeft" fmla="*/ 0 w 5418720"/>
                <a:gd name="textAreaRight" fmla="*/ 5419800 w 5418720"/>
                <a:gd name="textAreaTop" fmla="*/ 0 h 523440"/>
                <a:gd name="textAreaBottom" fmla="*/ 524520 h 523440"/>
              </a:gdLst>
              <a:ahLst/>
              <a:cxnLst/>
              <a:rect l="textAreaLeft" t="textAreaTop" r="textAreaRight" b="textAreaBottom"/>
              <a:pathLst>
                <a:path w="6324600" h="612140">
                  <a:moveTo>
                    <a:pt x="394309" y="305930"/>
                  </a:moveTo>
                  <a:lnTo>
                    <a:pt x="0" y="0"/>
                  </a:lnTo>
                  <a:lnTo>
                    <a:pt x="0" y="611860"/>
                  </a:lnTo>
                  <a:lnTo>
                    <a:pt x="394309" y="305930"/>
                  </a:lnTo>
                  <a:close/>
                </a:path>
                <a:path w="6324600" h="612140">
                  <a:moveTo>
                    <a:pt x="933411" y="305930"/>
                  </a:moveTo>
                  <a:lnTo>
                    <a:pt x="539115" y="0"/>
                  </a:lnTo>
                  <a:lnTo>
                    <a:pt x="539115" y="611860"/>
                  </a:lnTo>
                  <a:lnTo>
                    <a:pt x="933411" y="305930"/>
                  </a:lnTo>
                  <a:close/>
                </a:path>
                <a:path w="6324600" h="612140">
                  <a:moveTo>
                    <a:pt x="1472526" y="305930"/>
                  </a:moveTo>
                  <a:lnTo>
                    <a:pt x="1078217" y="0"/>
                  </a:lnTo>
                  <a:lnTo>
                    <a:pt x="1078217" y="611860"/>
                  </a:lnTo>
                  <a:lnTo>
                    <a:pt x="1472526" y="305930"/>
                  </a:lnTo>
                  <a:close/>
                </a:path>
                <a:path w="6324600" h="612140">
                  <a:moveTo>
                    <a:pt x="2011629" y="305930"/>
                  </a:moveTo>
                  <a:lnTo>
                    <a:pt x="1617332" y="0"/>
                  </a:lnTo>
                  <a:lnTo>
                    <a:pt x="1617332" y="611860"/>
                  </a:lnTo>
                  <a:lnTo>
                    <a:pt x="2011629" y="305930"/>
                  </a:lnTo>
                  <a:close/>
                </a:path>
                <a:path w="6324600" h="612140">
                  <a:moveTo>
                    <a:pt x="2550744" y="305930"/>
                  </a:moveTo>
                  <a:lnTo>
                    <a:pt x="2156434" y="0"/>
                  </a:lnTo>
                  <a:lnTo>
                    <a:pt x="2156434" y="611860"/>
                  </a:lnTo>
                  <a:lnTo>
                    <a:pt x="2550744" y="305930"/>
                  </a:lnTo>
                  <a:close/>
                </a:path>
                <a:path w="6324600" h="612140">
                  <a:moveTo>
                    <a:pt x="3089846" y="305930"/>
                  </a:moveTo>
                  <a:lnTo>
                    <a:pt x="2695549" y="0"/>
                  </a:lnTo>
                  <a:lnTo>
                    <a:pt x="2695549" y="611860"/>
                  </a:lnTo>
                  <a:lnTo>
                    <a:pt x="3089846" y="305930"/>
                  </a:lnTo>
                  <a:close/>
                </a:path>
                <a:path w="6324600" h="612140">
                  <a:moveTo>
                    <a:pt x="3628961" y="305930"/>
                  </a:moveTo>
                  <a:lnTo>
                    <a:pt x="3234664" y="0"/>
                  </a:lnTo>
                  <a:lnTo>
                    <a:pt x="3234664" y="611860"/>
                  </a:lnTo>
                  <a:lnTo>
                    <a:pt x="3628961" y="305930"/>
                  </a:lnTo>
                  <a:close/>
                </a:path>
                <a:path w="6324600" h="612140">
                  <a:moveTo>
                    <a:pt x="4168063" y="305930"/>
                  </a:moveTo>
                  <a:lnTo>
                    <a:pt x="3773767" y="0"/>
                  </a:lnTo>
                  <a:lnTo>
                    <a:pt x="3773767" y="611860"/>
                  </a:lnTo>
                  <a:lnTo>
                    <a:pt x="4168063" y="305930"/>
                  </a:lnTo>
                  <a:close/>
                </a:path>
                <a:path w="6324600" h="612140">
                  <a:moveTo>
                    <a:pt x="4707179" y="305930"/>
                  </a:moveTo>
                  <a:lnTo>
                    <a:pt x="4312882" y="0"/>
                  </a:lnTo>
                  <a:lnTo>
                    <a:pt x="4312882" y="611860"/>
                  </a:lnTo>
                  <a:lnTo>
                    <a:pt x="4707179" y="305930"/>
                  </a:lnTo>
                  <a:close/>
                </a:path>
                <a:path w="6324600" h="612140">
                  <a:moveTo>
                    <a:pt x="5246281" y="305930"/>
                  </a:moveTo>
                  <a:lnTo>
                    <a:pt x="4851984" y="0"/>
                  </a:lnTo>
                  <a:lnTo>
                    <a:pt x="4851984" y="611860"/>
                  </a:lnTo>
                  <a:lnTo>
                    <a:pt x="5246281" y="305930"/>
                  </a:lnTo>
                  <a:close/>
                </a:path>
                <a:path w="6324600" h="612140">
                  <a:moveTo>
                    <a:pt x="5785396" y="305930"/>
                  </a:moveTo>
                  <a:lnTo>
                    <a:pt x="5391099" y="0"/>
                  </a:lnTo>
                  <a:lnTo>
                    <a:pt x="5391099" y="611860"/>
                  </a:lnTo>
                  <a:lnTo>
                    <a:pt x="5785396" y="305930"/>
                  </a:lnTo>
                  <a:close/>
                </a:path>
                <a:path w="6324600" h="612140">
                  <a:moveTo>
                    <a:pt x="6324498" y="305930"/>
                  </a:moveTo>
                  <a:lnTo>
                    <a:pt x="5930201" y="0"/>
                  </a:lnTo>
                  <a:lnTo>
                    <a:pt x="5930201" y="611860"/>
                  </a:lnTo>
                  <a:lnTo>
                    <a:pt x="6324498" y="305930"/>
                  </a:lnTo>
                  <a:close/>
                </a:path>
              </a:pathLst>
            </a:custGeom>
            <a:solidFill>
              <a:srgbClr val="5607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Google Shape;419;p7"/>
            <p:cNvSpPr/>
            <p:nvPr/>
          </p:nvSpPr>
          <p:spPr>
            <a:xfrm>
              <a:off x="8280" y="435960"/>
              <a:ext cx="6963120" cy="5985360"/>
            </a:xfrm>
            <a:custGeom>
              <a:avLst/>
              <a:gdLst>
                <a:gd name="textAreaLeft" fmla="*/ 0 w 6963120"/>
                <a:gd name="textAreaRight" fmla="*/ 6964200 w 6963120"/>
                <a:gd name="textAreaTop" fmla="*/ 0 h 5985360"/>
                <a:gd name="textAreaBottom" fmla="*/ 5986440 h 5985360"/>
              </a:gdLst>
              <a:ahLst/>
              <a:cxnLst/>
              <a:rect l="textAreaLeft" t="textAreaTop" r="textAreaRight" b="textAreaBottom"/>
              <a:pathLst>
                <a:path w="8126730" h="6985634">
                  <a:moveTo>
                    <a:pt x="854252" y="0"/>
                  </a:moveTo>
                  <a:lnTo>
                    <a:pt x="0" y="0"/>
                  </a:lnTo>
                  <a:lnTo>
                    <a:pt x="0" y="211988"/>
                  </a:lnTo>
                  <a:lnTo>
                    <a:pt x="854252" y="211988"/>
                  </a:lnTo>
                  <a:lnTo>
                    <a:pt x="854252" y="0"/>
                  </a:lnTo>
                  <a:close/>
                </a:path>
                <a:path w="8126730" h="6985634">
                  <a:moveTo>
                    <a:pt x="854265" y="5596331"/>
                  </a:moveTo>
                  <a:lnTo>
                    <a:pt x="12" y="5596331"/>
                  </a:lnTo>
                  <a:lnTo>
                    <a:pt x="12" y="5792660"/>
                  </a:lnTo>
                  <a:lnTo>
                    <a:pt x="854265" y="5792660"/>
                  </a:lnTo>
                  <a:lnTo>
                    <a:pt x="854265" y="5596331"/>
                  </a:lnTo>
                  <a:close/>
                </a:path>
                <a:path w="8126730" h="6985634">
                  <a:moveTo>
                    <a:pt x="854265" y="5165839"/>
                  </a:moveTo>
                  <a:lnTo>
                    <a:pt x="12" y="5165839"/>
                  </a:lnTo>
                  <a:lnTo>
                    <a:pt x="12" y="5363375"/>
                  </a:lnTo>
                  <a:lnTo>
                    <a:pt x="854265" y="5363375"/>
                  </a:lnTo>
                  <a:lnTo>
                    <a:pt x="854265" y="5165839"/>
                  </a:lnTo>
                  <a:close/>
                </a:path>
                <a:path w="8126730" h="6985634">
                  <a:moveTo>
                    <a:pt x="854265" y="4735360"/>
                  </a:moveTo>
                  <a:lnTo>
                    <a:pt x="12" y="4735360"/>
                  </a:lnTo>
                  <a:lnTo>
                    <a:pt x="12" y="4934102"/>
                  </a:lnTo>
                  <a:lnTo>
                    <a:pt x="854265" y="4934102"/>
                  </a:lnTo>
                  <a:lnTo>
                    <a:pt x="854265" y="4735360"/>
                  </a:lnTo>
                  <a:close/>
                </a:path>
                <a:path w="8126730" h="6985634">
                  <a:moveTo>
                    <a:pt x="854265" y="4304881"/>
                  </a:moveTo>
                  <a:lnTo>
                    <a:pt x="12" y="4304881"/>
                  </a:lnTo>
                  <a:lnTo>
                    <a:pt x="12" y="4504817"/>
                  </a:lnTo>
                  <a:lnTo>
                    <a:pt x="854265" y="4504817"/>
                  </a:lnTo>
                  <a:lnTo>
                    <a:pt x="854265" y="4304881"/>
                  </a:lnTo>
                  <a:close/>
                </a:path>
                <a:path w="8126730" h="6985634">
                  <a:moveTo>
                    <a:pt x="854265" y="3874389"/>
                  </a:moveTo>
                  <a:lnTo>
                    <a:pt x="12" y="3874389"/>
                  </a:lnTo>
                  <a:lnTo>
                    <a:pt x="12" y="4075531"/>
                  </a:lnTo>
                  <a:lnTo>
                    <a:pt x="854265" y="4075531"/>
                  </a:lnTo>
                  <a:lnTo>
                    <a:pt x="854265" y="3874389"/>
                  </a:lnTo>
                  <a:close/>
                </a:path>
                <a:path w="8126730" h="6985634">
                  <a:moveTo>
                    <a:pt x="854265" y="3443897"/>
                  </a:moveTo>
                  <a:lnTo>
                    <a:pt x="12" y="3443897"/>
                  </a:lnTo>
                  <a:lnTo>
                    <a:pt x="12" y="3646246"/>
                  </a:lnTo>
                  <a:lnTo>
                    <a:pt x="854265" y="3646246"/>
                  </a:lnTo>
                  <a:lnTo>
                    <a:pt x="854265" y="3443897"/>
                  </a:lnTo>
                  <a:close/>
                </a:path>
                <a:path w="8126730" h="6985634">
                  <a:moveTo>
                    <a:pt x="854265" y="3013405"/>
                  </a:moveTo>
                  <a:lnTo>
                    <a:pt x="12" y="3013405"/>
                  </a:lnTo>
                  <a:lnTo>
                    <a:pt x="12" y="3216960"/>
                  </a:lnTo>
                  <a:lnTo>
                    <a:pt x="854265" y="3216960"/>
                  </a:lnTo>
                  <a:lnTo>
                    <a:pt x="854265" y="3013405"/>
                  </a:lnTo>
                  <a:close/>
                </a:path>
                <a:path w="8126730" h="6985634">
                  <a:moveTo>
                    <a:pt x="854265" y="2582926"/>
                  </a:moveTo>
                  <a:lnTo>
                    <a:pt x="12" y="2582926"/>
                  </a:lnTo>
                  <a:lnTo>
                    <a:pt x="12" y="2787688"/>
                  </a:lnTo>
                  <a:lnTo>
                    <a:pt x="854265" y="2787688"/>
                  </a:lnTo>
                  <a:lnTo>
                    <a:pt x="854265" y="2582926"/>
                  </a:lnTo>
                  <a:close/>
                </a:path>
                <a:path w="8126730" h="6985634">
                  <a:moveTo>
                    <a:pt x="854265" y="2152434"/>
                  </a:moveTo>
                  <a:lnTo>
                    <a:pt x="12" y="2152434"/>
                  </a:lnTo>
                  <a:lnTo>
                    <a:pt x="12" y="2358402"/>
                  </a:lnTo>
                  <a:lnTo>
                    <a:pt x="854265" y="2358402"/>
                  </a:lnTo>
                  <a:lnTo>
                    <a:pt x="854265" y="2152434"/>
                  </a:lnTo>
                  <a:close/>
                </a:path>
                <a:path w="8126730" h="6985634">
                  <a:moveTo>
                    <a:pt x="854265" y="1721942"/>
                  </a:moveTo>
                  <a:lnTo>
                    <a:pt x="12" y="1721942"/>
                  </a:lnTo>
                  <a:lnTo>
                    <a:pt x="12" y="1929117"/>
                  </a:lnTo>
                  <a:lnTo>
                    <a:pt x="854265" y="1929117"/>
                  </a:lnTo>
                  <a:lnTo>
                    <a:pt x="854265" y="1721942"/>
                  </a:lnTo>
                  <a:close/>
                </a:path>
                <a:path w="8126730" h="6985634">
                  <a:moveTo>
                    <a:pt x="854265" y="1291463"/>
                  </a:moveTo>
                  <a:lnTo>
                    <a:pt x="12" y="1291463"/>
                  </a:lnTo>
                  <a:lnTo>
                    <a:pt x="12" y="1499831"/>
                  </a:lnTo>
                  <a:lnTo>
                    <a:pt x="854265" y="1499831"/>
                  </a:lnTo>
                  <a:lnTo>
                    <a:pt x="854265" y="1291463"/>
                  </a:lnTo>
                  <a:close/>
                </a:path>
                <a:path w="8126730" h="6985634">
                  <a:moveTo>
                    <a:pt x="854265" y="860983"/>
                  </a:moveTo>
                  <a:lnTo>
                    <a:pt x="12" y="860983"/>
                  </a:lnTo>
                  <a:lnTo>
                    <a:pt x="12" y="1070559"/>
                  </a:lnTo>
                  <a:lnTo>
                    <a:pt x="854265" y="1070559"/>
                  </a:lnTo>
                  <a:lnTo>
                    <a:pt x="854265" y="860983"/>
                  </a:lnTo>
                  <a:close/>
                </a:path>
                <a:path w="8126730" h="6985634">
                  <a:moveTo>
                    <a:pt x="854265" y="430491"/>
                  </a:moveTo>
                  <a:lnTo>
                    <a:pt x="12" y="430491"/>
                  </a:lnTo>
                  <a:lnTo>
                    <a:pt x="12" y="641273"/>
                  </a:lnTo>
                  <a:lnTo>
                    <a:pt x="854265" y="641273"/>
                  </a:lnTo>
                  <a:lnTo>
                    <a:pt x="854265" y="430491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5789320"/>
                  </a:lnTo>
                  <a:lnTo>
                    <a:pt x="6930390" y="5841682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5935827"/>
                  </a:lnTo>
                  <a:lnTo>
                    <a:pt x="6930390" y="5984633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6082322"/>
                  </a:lnTo>
                  <a:lnTo>
                    <a:pt x="6930390" y="6127585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6228829"/>
                  </a:lnTo>
                  <a:lnTo>
                    <a:pt x="6930390" y="6270536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6375349"/>
                  </a:lnTo>
                  <a:lnTo>
                    <a:pt x="6930390" y="6413487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6521844"/>
                  </a:lnTo>
                  <a:lnTo>
                    <a:pt x="6930390" y="6556438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6668351"/>
                  </a:lnTo>
                  <a:lnTo>
                    <a:pt x="6930390" y="6699402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6814858"/>
                  </a:lnTo>
                  <a:lnTo>
                    <a:pt x="6930390" y="6842341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6961365"/>
                  </a:lnTo>
                  <a:lnTo>
                    <a:pt x="6930390" y="6985292"/>
                  </a:lnTo>
                  <a:lnTo>
                    <a:pt x="8126362" y="5789320"/>
                  </a:lnTo>
                  <a:close/>
                </a:path>
              </a:pathLst>
            </a:custGeom>
            <a:solidFill>
              <a:srgbClr val="90A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5" name="PlaceHolder 1"/>
          <p:cNvSpPr>
            <a:spLocks noGrp="1"/>
          </p:cNvSpPr>
          <p:nvPr>
            <p:ph type="body"/>
          </p:nvPr>
        </p:nvSpPr>
        <p:spPr>
          <a:xfrm>
            <a:off x="6505560" y="1211760"/>
            <a:ext cx="4944960" cy="199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7142760" y="6566760"/>
            <a:ext cx="4861440" cy="2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7" name="Google Shape;422;p7"/>
          <p:cNvPicPr/>
          <p:nvPr/>
        </p:nvPicPr>
        <p:blipFill>
          <a:blip r:embed="rId4"/>
          <a:stretch/>
        </p:blipFill>
        <p:spPr>
          <a:xfrm>
            <a:off x="9104760" y="5554440"/>
            <a:ext cx="2581920" cy="77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7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10;p1"/>
          <p:cNvPicPr/>
          <p:nvPr/>
        </p:nvPicPr>
        <p:blipFill>
          <a:blip r:embed="rId2"/>
          <a:stretch/>
        </p:blipFill>
        <p:spPr>
          <a:xfrm>
            <a:off x="9929160" y="295200"/>
            <a:ext cx="1971360" cy="5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Google Shape;11;p1"/>
          <p:cNvSpPr/>
          <p:nvPr/>
        </p:nvSpPr>
        <p:spPr>
          <a:xfrm>
            <a:off x="7142760" y="6258960"/>
            <a:ext cx="4861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sng" strike="noStrike">
                <a:solidFill>
                  <a:srgbClr val="467886"/>
                </a:solidFill>
                <a:effectLst/>
                <a:uFillTx/>
                <a:latin typeface="Poppins Light"/>
                <a:ea typeface="Poppins Light"/>
                <a:hlinkClick r:id="rId3"/>
              </a:rPr>
              <a:t>Interledger.org</a:t>
            </a: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15000"/>
              </a:lnSpc>
              <a:tabLst>
                <a:tab pos="0" algn="l"/>
              </a:tabLst>
            </a:pPr>
            <a:r>
              <a:rPr lang="en-MY" sz="1000" b="0" u="none" strike="noStrike">
                <a:solidFill>
                  <a:srgbClr val="8A3BA2"/>
                </a:solidFill>
                <a:effectLst/>
                <a:uFillTx/>
                <a:latin typeface="Poppins Light"/>
                <a:ea typeface="Poppins Light"/>
              </a:rPr>
              <a:t>#OpenPayments #ILPHacks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Google Shape;424;p8"/>
          <p:cNvSpPr/>
          <p:nvPr/>
        </p:nvSpPr>
        <p:spPr>
          <a:xfrm>
            <a:off x="0" y="0"/>
            <a:ext cx="12182400" cy="6856920"/>
          </a:xfrm>
          <a:prstGeom prst="rect">
            <a:avLst/>
          </a:prstGeom>
          <a:solidFill>
            <a:srgbClr val="EAEC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2" name="Google Shape;425;p8"/>
          <p:cNvGrpSpPr/>
          <p:nvPr/>
        </p:nvGrpSpPr>
        <p:grpSpPr>
          <a:xfrm>
            <a:off x="8280" y="435600"/>
            <a:ext cx="6963120" cy="5985720"/>
            <a:chOff x="8280" y="435600"/>
            <a:chExt cx="6963120" cy="5985720"/>
          </a:xfrm>
        </p:grpSpPr>
        <p:sp>
          <p:nvSpPr>
            <p:cNvPr id="643" name="Google Shape;426;p8"/>
            <p:cNvSpPr/>
            <p:nvPr/>
          </p:nvSpPr>
          <p:spPr>
            <a:xfrm>
              <a:off x="740520" y="435600"/>
              <a:ext cx="4944960" cy="4963320"/>
            </a:xfrm>
            <a:custGeom>
              <a:avLst/>
              <a:gdLst>
                <a:gd name="textAreaLeft" fmla="*/ 0 w 4944960"/>
                <a:gd name="textAreaRight" fmla="*/ 4946040 w 4944960"/>
                <a:gd name="textAreaTop" fmla="*/ 0 h 4963320"/>
                <a:gd name="textAreaBottom" fmla="*/ 4964400 h 4963320"/>
              </a:gdLst>
              <a:ahLst/>
              <a:cxnLst/>
              <a:rect l="textAreaLeft" t="textAreaTop" r="textAreaRight" b="textAreaBottom"/>
              <a:pathLst>
                <a:path w="5771515" h="5793105">
                  <a:moveTo>
                    <a:pt x="0" y="0"/>
                  </a:moveTo>
                  <a:lnTo>
                    <a:pt x="0" y="5792662"/>
                  </a:lnTo>
                  <a:lnTo>
                    <a:pt x="5771405" y="2884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7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Google Shape;427;p8"/>
            <p:cNvSpPr/>
            <p:nvPr/>
          </p:nvSpPr>
          <p:spPr>
            <a:xfrm>
              <a:off x="740520" y="435960"/>
              <a:ext cx="4776120" cy="4963320"/>
            </a:xfrm>
            <a:custGeom>
              <a:avLst/>
              <a:gdLst>
                <a:gd name="textAreaLeft" fmla="*/ 0 w 4776120"/>
                <a:gd name="textAreaRight" fmla="*/ 4777200 w 4776120"/>
                <a:gd name="textAreaTop" fmla="*/ 0 h 4963320"/>
                <a:gd name="textAreaBottom" fmla="*/ 4964400 h 4963320"/>
              </a:gdLst>
              <a:ahLst/>
              <a:cxnLst/>
              <a:rect l="textAreaLeft" t="textAreaTop" r="textAreaRight" b="textAreaBottom"/>
              <a:pathLst>
                <a:path w="5574665" h="5793105">
                  <a:moveTo>
                    <a:pt x="1342415" y="2884398"/>
                  </a:moveTo>
                  <a:lnTo>
                    <a:pt x="0" y="0"/>
                  </a:lnTo>
                  <a:lnTo>
                    <a:pt x="955065" y="3000248"/>
                  </a:lnTo>
                  <a:lnTo>
                    <a:pt x="0" y="5792660"/>
                  </a:lnTo>
                  <a:lnTo>
                    <a:pt x="1342415" y="2884398"/>
                  </a:lnTo>
                  <a:close/>
                </a:path>
                <a:path w="5574665" h="5793105">
                  <a:moveTo>
                    <a:pt x="3091611" y="2884398"/>
                  </a:moveTo>
                  <a:lnTo>
                    <a:pt x="0" y="0"/>
                  </a:lnTo>
                  <a:lnTo>
                    <a:pt x="2106752" y="3000248"/>
                  </a:lnTo>
                  <a:lnTo>
                    <a:pt x="0" y="5792660"/>
                  </a:lnTo>
                  <a:lnTo>
                    <a:pt x="3091611" y="2884398"/>
                  </a:lnTo>
                  <a:close/>
                </a:path>
                <a:path w="5574665" h="5793105">
                  <a:moveTo>
                    <a:pt x="5574246" y="2884398"/>
                  </a:moveTo>
                  <a:lnTo>
                    <a:pt x="0" y="0"/>
                  </a:lnTo>
                  <a:lnTo>
                    <a:pt x="3737699" y="3000248"/>
                  </a:lnTo>
                  <a:lnTo>
                    <a:pt x="0" y="5792660"/>
                  </a:lnTo>
                  <a:lnTo>
                    <a:pt x="5574246" y="2884398"/>
                  </a:lnTo>
                  <a:close/>
                </a:path>
              </a:pathLst>
            </a:custGeom>
            <a:solidFill>
              <a:srgbClr val="00E5C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5" name="Google Shape;428;p8"/>
            <p:cNvSpPr/>
            <p:nvPr/>
          </p:nvSpPr>
          <p:spPr>
            <a:xfrm>
              <a:off x="8280" y="5397120"/>
              <a:ext cx="5937840" cy="1024200"/>
            </a:xfrm>
            <a:custGeom>
              <a:avLst/>
              <a:gdLst>
                <a:gd name="textAreaLeft" fmla="*/ 0 w 5937840"/>
                <a:gd name="textAreaRight" fmla="*/ 5938920 w 5937840"/>
                <a:gd name="textAreaTop" fmla="*/ 0 h 1024200"/>
                <a:gd name="textAreaBottom" fmla="*/ 1025280 h 1024200"/>
              </a:gdLst>
              <a:ahLst/>
              <a:cxnLst/>
              <a:rect l="textAreaLeft" t="textAreaTop" r="textAreaRight" b="textAreaBottom"/>
              <a:pathLst>
                <a:path w="6930390" h="1196340">
                  <a:moveTo>
                    <a:pt x="6930385" y="0"/>
                  </a:moveTo>
                  <a:lnTo>
                    <a:pt x="0" y="0"/>
                  </a:lnTo>
                  <a:lnTo>
                    <a:pt x="0" y="1195974"/>
                  </a:lnTo>
                  <a:lnTo>
                    <a:pt x="6930385" y="1195974"/>
                  </a:lnTo>
                  <a:lnTo>
                    <a:pt x="6930385" y="0"/>
                  </a:lnTo>
                  <a:close/>
                </a:path>
              </a:pathLst>
            </a:custGeom>
            <a:solidFill>
              <a:srgbClr val="FFA9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6" name="Google Shape;429;p8"/>
            <p:cNvSpPr/>
            <p:nvPr/>
          </p:nvSpPr>
          <p:spPr>
            <a:xfrm>
              <a:off x="284400" y="5639400"/>
              <a:ext cx="5418720" cy="523440"/>
            </a:xfrm>
            <a:custGeom>
              <a:avLst/>
              <a:gdLst>
                <a:gd name="textAreaLeft" fmla="*/ 0 w 5418720"/>
                <a:gd name="textAreaRight" fmla="*/ 5419800 w 5418720"/>
                <a:gd name="textAreaTop" fmla="*/ 0 h 523440"/>
                <a:gd name="textAreaBottom" fmla="*/ 524520 h 523440"/>
              </a:gdLst>
              <a:ahLst/>
              <a:cxnLst/>
              <a:rect l="textAreaLeft" t="textAreaTop" r="textAreaRight" b="textAreaBottom"/>
              <a:pathLst>
                <a:path w="6324600" h="612140">
                  <a:moveTo>
                    <a:pt x="394309" y="305930"/>
                  </a:moveTo>
                  <a:lnTo>
                    <a:pt x="0" y="0"/>
                  </a:lnTo>
                  <a:lnTo>
                    <a:pt x="0" y="611860"/>
                  </a:lnTo>
                  <a:lnTo>
                    <a:pt x="394309" y="305930"/>
                  </a:lnTo>
                  <a:close/>
                </a:path>
                <a:path w="6324600" h="612140">
                  <a:moveTo>
                    <a:pt x="933411" y="305930"/>
                  </a:moveTo>
                  <a:lnTo>
                    <a:pt x="539115" y="0"/>
                  </a:lnTo>
                  <a:lnTo>
                    <a:pt x="539115" y="611860"/>
                  </a:lnTo>
                  <a:lnTo>
                    <a:pt x="933411" y="305930"/>
                  </a:lnTo>
                  <a:close/>
                </a:path>
                <a:path w="6324600" h="612140">
                  <a:moveTo>
                    <a:pt x="1472526" y="305930"/>
                  </a:moveTo>
                  <a:lnTo>
                    <a:pt x="1078217" y="0"/>
                  </a:lnTo>
                  <a:lnTo>
                    <a:pt x="1078217" y="611860"/>
                  </a:lnTo>
                  <a:lnTo>
                    <a:pt x="1472526" y="305930"/>
                  </a:lnTo>
                  <a:close/>
                </a:path>
                <a:path w="6324600" h="612140">
                  <a:moveTo>
                    <a:pt x="2011629" y="305930"/>
                  </a:moveTo>
                  <a:lnTo>
                    <a:pt x="1617332" y="0"/>
                  </a:lnTo>
                  <a:lnTo>
                    <a:pt x="1617332" y="611860"/>
                  </a:lnTo>
                  <a:lnTo>
                    <a:pt x="2011629" y="305930"/>
                  </a:lnTo>
                  <a:close/>
                </a:path>
                <a:path w="6324600" h="612140">
                  <a:moveTo>
                    <a:pt x="2550744" y="305930"/>
                  </a:moveTo>
                  <a:lnTo>
                    <a:pt x="2156434" y="0"/>
                  </a:lnTo>
                  <a:lnTo>
                    <a:pt x="2156434" y="611860"/>
                  </a:lnTo>
                  <a:lnTo>
                    <a:pt x="2550744" y="305930"/>
                  </a:lnTo>
                  <a:close/>
                </a:path>
                <a:path w="6324600" h="612140">
                  <a:moveTo>
                    <a:pt x="3089846" y="305930"/>
                  </a:moveTo>
                  <a:lnTo>
                    <a:pt x="2695549" y="0"/>
                  </a:lnTo>
                  <a:lnTo>
                    <a:pt x="2695549" y="611860"/>
                  </a:lnTo>
                  <a:lnTo>
                    <a:pt x="3089846" y="305930"/>
                  </a:lnTo>
                  <a:close/>
                </a:path>
                <a:path w="6324600" h="612140">
                  <a:moveTo>
                    <a:pt x="3628961" y="305930"/>
                  </a:moveTo>
                  <a:lnTo>
                    <a:pt x="3234664" y="0"/>
                  </a:lnTo>
                  <a:lnTo>
                    <a:pt x="3234664" y="611860"/>
                  </a:lnTo>
                  <a:lnTo>
                    <a:pt x="3628961" y="305930"/>
                  </a:lnTo>
                  <a:close/>
                </a:path>
                <a:path w="6324600" h="612140">
                  <a:moveTo>
                    <a:pt x="4168063" y="305930"/>
                  </a:moveTo>
                  <a:lnTo>
                    <a:pt x="3773767" y="0"/>
                  </a:lnTo>
                  <a:lnTo>
                    <a:pt x="3773767" y="611860"/>
                  </a:lnTo>
                  <a:lnTo>
                    <a:pt x="4168063" y="305930"/>
                  </a:lnTo>
                  <a:close/>
                </a:path>
                <a:path w="6324600" h="612140">
                  <a:moveTo>
                    <a:pt x="4707179" y="305930"/>
                  </a:moveTo>
                  <a:lnTo>
                    <a:pt x="4312882" y="0"/>
                  </a:lnTo>
                  <a:lnTo>
                    <a:pt x="4312882" y="611860"/>
                  </a:lnTo>
                  <a:lnTo>
                    <a:pt x="4707179" y="305930"/>
                  </a:lnTo>
                  <a:close/>
                </a:path>
                <a:path w="6324600" h="612140">
                  <a:moveTo>
                    <a:pt x="5246281" y="305930"/>
                  </a:moveTo>
                  <a:lnTo>
                    <a:pt x="4851984" y="0"/>
                  </a:lnTo>
                  <a:lnTo>
                    <a:pt x="4851984" y="611860"/>
                  </a:lnTo>
                  <a:lnTo>
                    <a:pt x="5246281" y="305930"/>
                  </a:lnTo>
                  <a:close/>
                </a:path>
                <a:path w="6324600" h="612140">
                  <a:moveTo>
                    <a:pt x="5785396" y="305930"/>
                  </a:moveTo>
                  <a:lnTo>
                    <a:pt x="5391099" y="0"/>
                  </a:lnTo>
                  <a:lnTo>
                    <a:pt x="5391099" y="611860"/>
                  </a:lnTo>
                  <a:lnTo>
                    <a:pt x="5785396" y="305930"/>
                  </a:lnTo>
                  <a:close/>
                </a:path>
                <a:path w="6324600" h="612140">
                  <a:moveTo>
                    <a:pt x="6324498" y="305930"/>
                  </a:moveTo>
                  <a:lnTo>
                    <a:pt x="5930201" y="0"/>
                  </a:lnTo>
                  <a:lnTo>
                    <a:pt x="5930201" y="611860"/>
                  </a:lnTo>
                  <a:lnTo>
                    <a:pt x="6324498" y="305930"/>
                  </a:lnTo>
                  <a:close/>
                </a:path>
              </a:pathLst>
            </a:custGeom>
            <a:solidFill>
              <a:srgbClr val="5607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7" name="Google Shape;430;p8"/>
            <p:cNvSpPr/>
            <p:nvPr/>
          </p:nvSpPr>
          <p:spPr>
            <a:xfrm>
              <a:off x="8280" y="435960"/>
              <a:ext cx="6963120" cy="5985360"/>
            </a:xfrm>
            <a:custGeom>
              <a:avLst/>
              <a:gdLst>
                <a:gd name="textAreaLeft" fmla="*/ 0 w 6963120"/>
                <a:gd name="textAreaRight" fmla="*/ 6964200 w 6963120"/>
                <a:gd name="textAreaTop" fmla="*/ 0 h 5985360"/>
                <a:gd name="textAreaBottom" fmla="*/ 5986440 h 5985360"/>
              </a:gdLst>
              <a:ahLst/>
              <a:cxnLst/>
              <a:rect l="textAreaLeft" t="textAreaTop" r="textAreaRight" b="textAreaBottom"/>
              <a:pathLst>
                <a:path w="8126730" h="6985634">
                  <a:moveTo>
                    <a:pt x="854252" y="0"/>
                  </a:moveTo>
                  <a:lnTo>
                    <a:pt x="0" y="0"/>
                  </a:lnTo>
                  <a:lnTo>
                    <a:pt x="0" y="211988"/>
                  </a:lnTo>
                  <a:lnTo>
                    <a:pt x="854252" y="211988"/>
                  </a:lnTo>
                  <a:lnTo>
                    <a:pt x="854252" y="0"/>
                  </a:lnTo>
                  <a:close/>
                </a:path>
                <a:path w="8126730" h="6985634">
                  <a:moveTo>
                    <a:pt x="854265" y="5596331"/>
                  </a:moveTo>
                  <a:lnTo>
                    <a:pt x="12" y="5596331"/>
                  </a:lnTo>
                  <a:lnTo>
                    <a:pt x="12" y="5792660"/>
                  </a:lnTo>
                  <a:lnTo>
                    <a:pt x="854265" y="5792660"/>
                  </a:lnTo>
                  <a:lnTo>
                    <a:pt x="854265" y="5596331"/>
                  </a:lnTo>
                  <a:close/>
                </a:path>
                <a:path w="8126730" h="6985634">
                  <a:moveTo>
                    <a:pt x="854265" y="5165839"/>
                  </a:moveTo>
                  <a:lnTo>
                    <a:pt x="12" y="5165839"/>
                  </a:lnTo>
                  <a:lnTo>
                    <a:pt x="12" y="5363375"/>
                  </a:lnTo>
                  <a:lnTo>
                    <a:pt x="854265" y="5363375"/>
                  </a:lnTo>
                  <a:lnTo>
                    <a:pt x="854265" y="5165839"/>
                  </a:lnTo>
                  <a:close/>
                </a:path>
                <a:path w="8126730" h="6985634">
                  <a:moveTo>
                    <a:pt x="854265" y="4735360"/>
                  </a:moveTo>
                  <a:lnTo>
                    <a:pt x="12" y="4735360"/>
                  </a:lnTo>
                  <a:lnTo>
                    <a:pt x="12" y="4934102"/>
                  </a:lnTo>
                  <a:lnTo>
                    <a:pt x="854265" y="4934102"/>
                  </a:lnTo>
                  <a:lnTo>
                    <a:pt x="854265" y="4735360"/>
                  </a:lnTo>
                  <a:close/>
                </a:path>
                <a:path w="8126730" h="6985634">
                  <a:moveTo>
                    <a:pt x="854265" y="4304881"/>
                  </a:moveTo>
                  <a:lnTo>
                    <a:pt x="12" y="4304881"/>
                  </a:lnTo>
                  <a:lnTo>
                    <a:pt x="12" y="4504817"/>
                  </a:lnTo>
                  <a:lnTo>
                    <a:pt x="854265" y="4504817"/>
                  </a:lnTo>
                  <a:lnTo>
                    <a:pt x="854265" y="4304881"/>
                  </a:lnTo>
                  <a:close/>
                </a:path>
                <a:path w="8126730" h="6985634">
                  <a:moveTo>
                    <a:pt x="854265" y="3874389"/>
                  </a:moveTo>
                  <a:lnTo>
                    <a:pt x="12" y="3874389"/>
                  </a:lnTo>
                  <a:lnTo>
                    <a:pt x="12" y="4075531"/>
                  </a:lnTo>
                  <a:lnTo>
                    <a:pt x="854265" y="4075531"/>
                  </a:lnTo>
                  <a:lnTo>
                    <a:pt x="854265" y="3874389"/>
                  </a:lnTo>
                  <a:close/>
                </a:path>
                <a:path w="8126730" h="6985634">
                  <a:moveTo>
                    <a:pt x="854265" y="3443897"/>
                  </a:moveTo>
                  <a:lnTo>
                    <a:pt x="12" y="3443897"/>
                  </a:lnTo>
                  <a:lnTo>
                    <a:pt x="12" y="3646246"/>
                  </a:lnTo>
                  <a:lnTo>
                    <a:pt x="854265" y="3646246"/>
                  </a:lnTo>
                  <a:lnTo>
                    <a:pt x="854265" y="3443897"/>
                  </a:lnTo>
                  <a:close/>
                </a:path>
                <a:path w="8126730" h="6985634">
                  <a:moveTo>
                    <a:pt x="854265" y="3013405"/>
                  </a:moveTo>
                  <a:lnTo>
                    <a:pt x="12" y="3013405"/>
                  </a:lnTo>
                  <a:lnTo>
                    <a:pt x="12" y="3216960"/>
                  </a:lnTo>
                  <a:lnTo>
                    <a:pt x="854265" y="3216960"/>
                  </a:lnTo>
                  <a:lnTo>
                    <a:pt x="854265" y="3013405"/>
                  </a:lnTo>
                  <a:close/>
                </a:path>
                <a:path w="8126730" h="6985634">
                  <a:moveTo>
                    <a:pt x="854265" y="2582926"/>
                  </a:moveTo>
                  <a:lnTo>
                    <a:pt x="12" y="2582926"/>
                  </a:lnTo>
                  <a:lnTo>
                    <a:pt x="12" y="2787688"/>
                  </a:lnTo>
                  <a:lnTo>
                    <a:pt x="854265" y="2787688"/>
                  </a:lnTo>
                  <a:lnTo>
                    <a:pt x="854265" y="2582926"/>
                  </a:lnTo>
                  <a:close/>
                </a:path>
                <a:path w="8126730" h="6985634">
                  <a:moveTo>
                    <a:pt x="854265" y="2152434"/>
                  </a:moveTo>
                  <a:lnTo>
                    <a:pt x="12" y="2152434"/>
                  </a:lnTo>
                  <a:lnTo>
                    <a:pt x="12" y="2358402"/>
                  </a:lnTo>
                  <a:lnTo>
                    <a:pt x="854265" y="2358402"/>
                  </a:lnTo>
                  <a:lnTo>
                    <a:pt x="854265" y="2152434"/>
                  </a:lnTo>
                  <a:close/>
                </a:path>
                <a:path w="8126730" h="6985634">
                  <a:moveTo>
                    <a:pt x="854265" y="1721942"/>
                  </a:moveTo>
                  <a:lnTo>
                    <a:pt x="12" y="1721942"/>
                  </a:lnTo>
                  <a:lnTo>
                    <a:pt x="12" y="1929117"/>
                  </a:lnTo>
                  <a:lnTo>
                    <a:pt x="854265" y="1929117"/>
                  </a:lnTo>
                  <a:lnTo>
                    <a:pt x="854265" y="1721942"/>
                  </a:lnTo>
                  <a:close/>
                </a:path>
                <a:path w="8126730" h="6985634">
                  <a:moveTo>
                    <a:pt x="854265" y="1291463"/>
                  </a:moveTo>
                  <a:lnTo>
                    <a:pt x="12" y="1291463"/>
                  </a:lnTo>
                  <a:lnTo>
                    <a:pt x="12" y="1499831"/>
                  </a:lnTo>
                  <a:lnTo>
                    <a:pt x="854265" y="1499831"/>
                  </a:lnTo>
                  <a:lnTo>
                    <a:pt x="854265" y="1291463"/>
                  </a:lnTo>
                  <a:close/>
                </a:path>
                <a:path w="8126730" h="6985634">
                  <a:moveTo>
                    <a:pt x="854265" y="860983"/>
                  </a:moveTo>
                  <a:lnTo>
                    <a:pt x="12" y="860983"/>
                  </a:lnTo>
                  <a:lnTo>
                    <a:pt x="12" y="1070559"/>
                  </a:lnTo>
                  <a:lnTo>
                    <a:pt x="854265" y="1070559"/>
                  </a:lnTo>
                  <a:lnTo>
                    <a:pt x="854265" y="860983"/>
                  </a:lnTo>
                  <a:close/>
                </a:path>
                <a:path w="8126730" h="6985634">
                  <a:moveTo>
                    <a:pt x="854265" y="430491"/>
                  </a:moveTo>
                  <a:lnTo>
                    <a:pt x="12" y="430491"/>
                  </a:lnTo>
                  <a:lnTo>
                    <a:pt x="12" y="641273"/>
                  </a:lnTo>
                  <a:lnTo>
                    <a:pt x="854265" y="641273"/>
                  </a:lnTo>
                  <a:lnTo>
                    <a:pt x="854265" y="430491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5789320"/>
                  </a:lnTo>
                  <a:lnTo>
                    <a:pt x="6930390" y="5841682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5935827"/>
                  </a:lnTo>
                  <a:lnTo>
                    <a:pt x="6930390" y="5984633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6082322"/>
                  </a:lnTo>
                  <a:lnTo>
                    <a:pt x="6930390" y="6127585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6228829"/>
                  </a:lnTo>
                  <a:lnTo>
                    <a:pt x="6930390" y="6270536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6375349"/>
                  </a:lnTo>
                  <a:lnTo>
                    <a:pt x="6930390" y="6413487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6521844"/>
                  </a:lnTo>
                  <a:lnTo>
                    <a:pt x="6930390" y="6556438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6668351"/>
                  </a:lnTo>
                  <a:lnTo>
                    <a:pt x="6930390" y="6699402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6814858"/>
                  </a:lnTo>
                  <a:lnTo>
                    <a:pt x="6930390" y="6842341"/>
                  </a:lnTo>
                  <a:lnTo>
                    <a:pt x="8126362" y="5789320"/>
                  </a:lnTo>
                  <a:close/>
                </a:path>
                <a:path w="8126730" h="6985634">
                  <a:moveTo>
                    <a:pt x="8126362" y="5789320"/>
                  </a:moveTo>
                  <a:lnTo>
                    <a:pt x="6930390" y="6961365"/>
                  </a:lnTo>
                  <a:lnTo>
                    <a:pt x="6930390" y="6985292"/>
                  </a:lnTo>
                  <a:lnTo>
                    <a:pt x="8126362" y="5789320"/>
                  </a:lnTo>
                  <a:close/>
                </a:path>
              </a:pathLst>
            </a:custGeom>
            <a:solidFill>
              <a:srgbClr val="90A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8" name="PlaceHolder 1"/>
          <p:cNvSpPr>
            <a:spLocks noGrp="1"/>
          </p:cNvSpPr>
          <p:nvPr>
            <p:ph type="body"/>
          </p:nvPr>
        </p:nvSpPr>
        <p:spPr>
          <a:xfrm>
            <a:off x="6505560" y="1211760"/>
            <a:ext cx="4944960" cy="199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7142760" y="6566760"/>
            <a:ext cx="4861440" cy="2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0" name="Google Shape;433;p8"/>
          <p:cNvPicPr/>
          <p:nvPr/>
        </p:nvPicPr>
        <p:blipFill>
          <a:blip r:embed="rId4"/>
          <a:stretch/>
        </p:blipFill>
        <p:spPr>
          <a:xfrm>
            <a:off x="9104760" y="5568120"/>
            <a:ext cx="2581920" cy="77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16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Relationship Id="rId18" Type="http://schemas.openxmlformats.org/officeDocument/2006/relationships/image" Target="../media/image42.png"/><Relationship Id="rId19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22.png"/><Relationship Id="rId3" Type="http://schemas.openxmlformats.org/officeDocument/2006/relationships/image" Target="../media/image30.png"/><Relationship Id="rId4" Type="http://schemas.openxmlformats.org/officeDocument/2006/relationships/image" Target="../media/image16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16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4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6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/>
          </p:nvPr>
        </p:nvSpPr>
        <p:spPr>
          <a:xfrm>
            <a:off x="436320" y="1636200"/>
            <a:ext cx="5438880" cy="228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lnSpc>
                <a:spcPct val="8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4400" b="1" u="none" strike="noStrike">
                <a:solidFill>
                  <a:schemeClr val="lt1"/>
                </a:solidFill>
                <a:effectLst/>
                <a:uFillTx/>
                <a:latin typeface="Poppins ExtraBold"/>
                <a:ea typeface="Poppins ExtraBold"/>
              </a:rPr>
              <a:t>PAYGENT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/>
          </p:nvPr>
        </p:nvSpPr>
        <p:spPr>
          <a:xfrm>
            <a:off x="656640" y="4032720"/>
            <a:ext cx="5218200" cy="4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500" b="0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Pagos delegables para personas y agentes de 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/>
          </p:nvPr>
        </p:nvSpPr>
        <p:spPr>
          <a:xfrm>
            <a:off x="549360" y="6031080"/>
            <a:ext cx="1861200" cy="33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000" b="0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FECHA:</a:t>
            </a:r>
            <a:br>
              <a:rPr sz="1000"/>
            </a:br>
            <a:r>
              <a:rPr lang="en-MY" sz="1000" b="0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17 Octubre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4"/>
          <p:cNvSpPr>
            <a:spLocks noGrp="1"/>
          </p:cNvSpPr>
          <p:nvPr>
            <p:ph/>
          </p:nvPr>
        </p:nvSpPr>
        <p:spPr>
          <a:xfrm>
            <a:off x="2408040" y="6031080"/>
            <a:ext cx="2711880" cy="33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000" b="0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CIUDAD: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000" b="0" u="none" strike="noStrike">
                <a:solidFill>
                  <a:schemeClr val="lt1"/>
                </a:solidFill>
                <a:effectLst/>
                <a:uFillTx/>
                <a:latin typeface="Poppins"/>
                <a:ea typeface="Poppins"/>
              </a:rPr>
              <a:t>Medellín, Colombia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"/>
          <p:cNvPicPr/>
          <p:nvPr/>
        </p:nvPicPr>
        <p:blipFill>
          <a:blip r:embed="rId1"/>
          <a:stretch/>
        </p:blipFill>
        <p:spPr>
          <a:xfrm>
            <a:off x="4815720" y="1802520"/>
            <a:ext cx="6384960" cy="345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3" name="PlaceHolder 1"/>
          <p:cNvSpPr>
            <a:spLocks noGrp="1"/>
          </p:cNvSpPr>
          <p:nvPr>
            <p:ph/>
          </p:nvPr>
        </p:nvSpPr>
        <p:spPr>
          <a:xfrm>
            <a:off x="271080" y="83304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400" b="0" u="none" strike="noStrike">
                <a:solidFill>
                  <a:schemeClr val="accent1"/>
                </a:solidFill>
                <a:effectLst/>
                <a:uFillTx/>
                <a:latin typeface="Poppins Light"/>
                <a:ea typeface="Poppins Light"/>
              </a:rPr>
              <a:t>Quiénes construimos Paygent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2"/>
          <p:cNvSpPr>
            <a:spLocks noGrp="1"/>
          </p:cNvSpPr>
          <p:nvPr>
            <p:ph/>
          </p:nvPr>
        </p:nvSpPr>
        <p:spPr>
          <a:xfrm>
            <a:off x="267480" y="55872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2400" b="0" u="none" strike="noStrike">
                <a:solidFill>
                  <a:srgbClr val="560676"/>
                </a:solidFill>
                <a:effectLst/>
                <a:uFillTx/>
                <a:latin typeface="Poppins ExtraBold"/>
                <a:ea typeface="Poppins ExtraBold"/>
              </a:rPr>
              <a:t>INTRODUCCIÓN DEL EQUIPO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/>
          </p:nvPr>
        </p:nvSpPr>
        <p:spPr>
          <a:xfrm>
            <a:off x="6725160" y="4114800"/>
            <a:ext cx="5389920" cy="4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8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Carlos Andres Florez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4"/>
          <p:cNvSpPr>
            <a:spLocks noGrp="1"/>
          </p:cNvSpPr>
          <p:nvPr>
            <p:ph/>
          </p:nvPr>
        </p:nvSpPr>
        <p:spPr>
          <a:xfrm>
            <a:off x="9601200" y="4114800"/>
            <a:ext cx="5389920" cy="4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Pedro Jose Gomez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5"/>
          <p:cNvSpPr>
            <a:spLocks noGrp="1"/>
          </p:cNvSpPr>
          <p:nvPr>
            <p:ph/>
          </p:nvPr>
        </p:nvSpPr>
        <p:spPr>
          <a:xfrm>
            <a:off x="648720" y="4114800"/>
            <a:ext cx="5389920" cy="4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Roy Sandoval Viera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PlaceHolder 6"/>
          <p:cNvSpPr>
            <a:spLocks noGrp="1"/>
          </p:cNvSpPr>
          <p:nvPr>
            <p:ph/>
          </p:nvPr>
        </p:nvSpPr>
        <p:spPr>
          <a:xfrm>
            <a:off x="3620520" y="4114800"/>
            <a:ext cx="5389920" cy="4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8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Luis Angel Seoanes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Aro 1"/>
          <p:cNvSpPr/>
          <p:nvPr/>
        </p:nvSpPr>
        <p:spPr>
          <a:xfrm>
            <a:off x="799200" y="1962360"/>
            <a:ext cx="2039040" cy="2039040"/>
          </a:xfrm>
          <a:prstGeom prst="ellipse">
            <a:avLst/>
          </a:prstGeom>
          <a:solidFill>
            <a:srgbClr val="ECEE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0" name="Integrante 1" descr="Integrante 1"/>
          <p:cNvPicPr/>
          <p:nvPr/>
        </p:nvPicPr>
        <p:blipFill>
          <a:blip r:embed="rId2"/>
          <a:stretch/>
        </p:blipFill>
        <p:spPr>
          <a:xfrm>
            <a:off x="844200" y="2007360"/>
            <a:ext cx="1949040" cy="194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1" name="Aro 2"/>
          <p:cNvSpPr/>
          <p:nvPr/>
        </p:nvSpPr>
        <p:spPr>
          <a:xfrm>
            <a:off x="3981960" y="1846440"/>
            <a:ext cx="2039040" cy="2039040"/>
          </a:xfrm>
          <a:prstGeom prst="ellipse">
            <a:avLst/>
          </a:prstGeom>
          <a:solidFill>
            <a:srgbClr val="ECEE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2" name="Integrante 2" descr="Integrante 2"/>
          <p:cNvPicPr/>
          <p:nvPr/>
        </p:nvPicPr>
        <p:blipFill>
          <a:blip r:embed="rId3"/>
          <a:stretch/>
        </p:blipFill>
        <p:spPr>
          <a:xfrm>
            <a:off x="4026960" y="1891440"/>
            <a:ext cx="1949040" cy="194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3" name="Aro 3"/>
          <p:cNvSpPr/>
          <p:nvPr/>
        </p:nvSpPr>
        <p:spPr>
          <a:xfrm>
            <a:off x="6953760" y="1846440"/>
            <a:ext cx="2039040" cy="2039040"/>
          </a:xfrm>
          <a:prstGeom prst="ellipse">
            <a:avLst/>
          </a:prstGeom>
          <a:solidFill>
            <a:srgbClr val="ECEE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4" name="Integrante 3" descr="Integrante 3"/>
          <p:cNvPicPr/>
          <p:nvPr/>
        </p:nvPicPr>
        <p:blipFill>
          <a:blip r:embed="rId4"/>
          <a:stretch/>
        </p:blipFill>
        <p:spPr>
          <a:xfrm>
            <a:off x="6998760" y="1891440"/>
            <a:ext cx="1949040" cy="194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5" name="Aro 4"/>
          <p:cNvSpPr/>
          <p:nvPr/>
        </p:nvSpPr>
        <p:spPr>
          <a:xfrm>
            <a:off x="9714600" y="1846440"/>
            <a:ext cx="2039040" cy="2039040"/>
          </a:xfrm>
          <a:prstGeom prst="ellipse">
            <a:avLst/>
          </a:prstGeom>
          <a:solidFill>
            <a:srgbClr val="ECEE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6" name="Integrante 4" descr="Integrante 4"/>
          <p:cNvPicPr/>
          <p:nvPr/>
        </p:nvPicPr>
        <p:blipFill>
          <a:blip r:embed="rId5"/>
          <a:stretch/>
        </p:blipFill>
        <p:spPr>
          <a:xfrm>
            <a:off x="9759600" y="1891440"/>
            <a:ext cx="1949040" cy="194904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/>
          </p:nvPr>
        </p:nvSpPr>
        <p:spPr>
          <a:xfrm>
            <a:off x="271080" y="83304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2"/>
          <p:cNvSpPr>
            <a:spLocks noGrp="1"/>
          </p:cNvSpPr>
          <p:nvPr>
            <p:ph/>
          </p:nvPr>
        </p:nvSpPr>
        <p:spPr>
          <a:xfrm>
            <a:off x="271080" y="55872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2400" b="0" u="none" strike="noStrike">
                <a:solidFill>
                  <a:srgbClr val="560676"/>
                </a:solidFill>
                <a:effectLst/>
                <a:uFillTx/>
                <a:latin typeface="Poppins ExtraBold"/>
                <a:ea typeface="Poppins ExtraBold"/>
              </a:rPr>
              <a:t>EL RETO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Fondo user"/>
          <p:cNvSpPr/>
          <p:nvPr/>
        </p:nvSpPr>
        <p:spPr>
          <a:xfrm>
            <a:off x="992160" y="1749960"/>
            <a:ext cx="999000" cy="999000"/>
          </a:xfrm>
          <a:prstGeom prst="ellipse">
            <a:avLst/>
          </a:prstGeom>
          <a:solidFill>
            <a:srgbClr val="EEE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0" name="user" descr="user"/>
          <p:cNvPicPr/>
          <p:nvPr/>
        </p:nvPicPr>
        <p:blipFill>
          <a:blip r:embed="rId1"/>
          <a:stretch/>
        </p:blipFill>
        <p:spPr>
          <a:xfrm>
            <a:off x="1239840" y="1990080"/>
            <a:ext cx="518760" cy="51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1" name="Hijo"/>
          <p:cNvSpPr/>
          <p:nvPr/>
        </p:nvSpPr>
        <p:spPr>
          <a:xfrm>
            <a:off x="2149920" y="1829880"/>
            <a:ext cx="229896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22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Un hijo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40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trabaja en Texas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Línea"/>
          <p:cNvSpPr/>
          <p:nvPr/>
        </p:nvSpPr>
        <p:spPr>
          <a:xfrm>
            <a:off x="4449960" y="2228040"/>
            <a:ext cx="2849040" cy="42840"/>
          </a:xfrm>
          <a:prstGeom prst="rect">
            <a:avLst/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Punta"/>
          <p:cNvSpPr/>
          <p:nvPr/>
        </p:nvSpPr>
        <p:spPr>
          <a:xfrm>
            <a:off x="7250040" y="2120040"/>
            <a:ext cx="298800" cy="258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Dinero"/>
          <p:cNvSpPr/>
          <p:nvPr/>
        </p:nvSpPr>
        <p:spPr>
          <a:xfrm>
            <a:off x="5600160" y="1950120"/>
            <a:ext cx="599040" cy="599040"/>
          </a:xfrm>
          <a:prstGeom prst="ellipse">
            <a:avLst/>
          </a:prstGeom>
          <a:solidFill>
            <a:srgbClr val="0FA8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22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Arial"/>
              </a:rPr>
              <a:t>$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Fondo house"/>
          <p:cNvSpPr/>
          <p:nvPr/>
        </p:nvSpPr>
        <p:spPr>
          <a:xfrm>
            <a:off x="7750080" y="1749960"/>
            <a:ext cx="999000" cy="99900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6" name="house" descr="house"/>
          <p:cNvPicPr/>
          <p:nvPr/>
        </p:nvPicPr>
        <p:blipFill>
          <a:blip r:embed="rId2"/>
          <a:stretch/>
        </p:blipFill>
        <p:spPr>
          <a:xfrm>
            <a:off x="7989840" y="1990080"/>
            <a:ext cx="518760" cy="51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7" name="Mamá"/>
          <p:cNvSpPr/>
          <p:nvPr/>
        </p:nvSpPr>
        <p:spPr>
          <a:xfrm>
            <a:off x="8899920" y="1829880"/>
            <a:ext cx="289908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22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Su mamá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40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una vereda de Antioquia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Puente"/>
          <p:cNvSpPr/>
          <p:nvPr/>
        </p:nvSpPr>
        <p:spPr>
          <a:xfrm>
            <a:off x="699840" y="3350160"/>
            <a:ext cx="10798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arjeta Señal"/>
          <p:cNvSpPr/>
          <p:nvPr/>
        </p:nvSpPr>
        <p:spPr>
          <a:xfrm>
            <a:off x="4389480" y="3899880"/>
            <a:ext cx="3418920" cy="1398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Fondo wifi-off"/>
          <p:cNvSpPr/>
          <p:nvPr/>
        </p:nvSpPr>
        <p:spPr>
          <a:xfrm>
            <a:off x="4569480" y="4290120"/>
            <a:ext cx="618840" cy="61884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1" name="wifi-off" descr="wifi-off"/>
          <p:cNvPicPr/>
          <p:nvPr/>
        </p:nvPicPr>
        <p:blipFill>
          <a:blip r:embed="rId3"/>
          <a:stretch/>
        </p:blipFill>
        <p:spPr>
          <a:xfrm>
            <a:off x="4718520" y="4438800"/>
            <a:ext cx="321480" cy="32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2" name="Señal"/>
          <p:cNvSpPr/>
          <p:nvPr/>
        </p:nvSpPr>
        <p:spPr>
          <a:xfrm>
            <a:off x="5369760" y="3899880"/>
            <a:ext cx="2298600" cy="13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6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Sin señal no hay pago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15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Cada pago exige estar en línea, y en la vereda la señal va y viene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arjeta Wallet propia"/>
          <p:cNvSpPr/>
          <p:nvPr/>
        </p:nvSpPr>
        <p:spPr>
          <a:xfrm>
            <a:off x="699840" y="3899880"/>
            <a:ext cx="3418920" cy="1398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Fondo wallet"/>
          <p:cNvSpPr/>
          <p:nvPr/>
        </p:nvSpPr>
        <p:spPr>
          <a:xfrm>
            <a:off x="879840" y="4290120"/>
            <a:ext cx="618840" cy="61884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5" name="wallet" descr="wallet"/>
          <p:cNvPicPr/>
          <p:nvPr/>
        </p:nvPicPr>
        <p:blipFill>
          <a:blip r:embed="rId4"/>
          <a:stretch/>
        </p:blipFill>
        <p:spPr>
          <a:xfrm>
            <a:off x="1028520" y="4438800"/>
            <a:ext cx="321480" cy="32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6" name="Wallet propia"/>
          <p:cNvSpPr/>
          <p:nvPr/>
        </p:nvSpPr>
        <p:spPr>
          <a:xfrm>
            <a:off x="1680120" y="3899880"/>
            <a:ext cx="2298600" cy="13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6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Wallet propia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15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La persona necesita una cuenta digital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arjeta Pagos con IA"/>
          <p:cNvSpPr/>
          <p:nvPr/>
        </p:nvSpPr>
        <p:spPr>
          <a:xfrm>
            <a:off x="8079480" y="3899880"/>
            <a:ext cx="3418920" cy="1398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Fondo bot"/>
          <p:cNvSpPr/>
          <p:nvPr/>
        </p:nvSpPr>
        <p:spPr>
          <a:xfrm>
            <a:off x="8259480" y="4290120"/>
            <a:ext cx="618840" cy="61884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9" name="book-x" descr="bot"/>
          <p:cNvPicPr/>
          <p:nvPr/>
        </p:nvPicPr>
        <p:blipFill>
          <a:blip r:embed="rId5"/>
          <a:stretch/>
        </p:blipFill>
        <p:spPr>
          <a:xfrm>
            <a:off x="8408160" y="4438800"/>
            <a:ext cx="321480" cy="32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0" name="Pagos con IA"/>
          <p:cNvSpPr/>
          <p:nvPr/>
        </p:nvSpPr>
        <p:spPr>
          <a:xfrm>
            <a:off x="9059760" y="3899880"/>
            <a:ext cx="2298600" cy="13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6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Analfebetas digitales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15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Se requiere tener conocimientos basicos de tecnologia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/>
          </p:nvPr>
        </p:nvSpPr>
        <p:spPr>
          <a:xfrm>
            <a:off x="271080" y="83304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400" b="0" u="none" strike="noStrike">
                <a:solidFill>
                  <a:schemeClr val="accent1"/>
                </a:solidFill>
                <a:effectLst/>
                <a:uFillTx/>
                <a:latin typeface="Poppins Light"/>
                <a:ea typeface="Poppins Light"/>
              </a:rPr>
              <a:t>Para quienes el dinero llega, pero pagar no es fácil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2"/>
          <p:cNvSpPr>
            <a:spLocks noGrp="1"/>
          </p:cNvSpPr>
          <p:nvPr>
            <p:ph/>
          </p:nvPr>
        </p:nvSpPr>
        <p:spPr>
          <a:xfrm>
            <a:off x="271080" y="55872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2400" b="0" u="none" strike="noStrike">
                <a:solidFill>
                  <a:srgbClr val="560676"/>
                </a:solidFill>
                <a:effectLst/>
                <a:uFillTx/>
                <a:latin typeface="Poppins ExtraBold"/>
                <a:ea typeface="Poppins ExtraBold"/>
              </a:rPr>
              <a:t>QUIÉN ES EL USUARIO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Fondo globe"/>
          <p:cNvSpPr/>
          <p:nvPr/>
        </p:nvSpPr>
        <p:spPr>
          <a:xfrm>
            <a:off x="2000160" y="1950120"/>
            <a:ext cx="1099080" cy="1099080"/>
          </a:xfrm>
          <a:prstGeom prst="ellipse">
            <a:avLst/>
          </a:prstGeom>
          <a:solidFill>
            <a:srgbClr val="EEE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4" name="globe" descr="globe"/>
          <p:cNvPicPr/>
          <p:nvPr/>
        </p:nvPicPr>
        <p:blipFill>
          <a:blip r:embed="rId1"/>
          <a:stretch/>
        </p:blipFill>
        <p:spPr>
          <a:xfrm>
            <a:off x="2264040" y="2214000"/>
            <a:ext cx="570960" cy="57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5" name="Familias que mandan dinero"/>
          <p:cNvSpPr/>
          <p:nvPr/>
        </p:nvSpPr>
        <p:spPr>
          <a:xfrm>
            <a:off x="1100160" y="3250080"/>
            <a:ext cx="289908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9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Familias que mandan dinero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35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Desde el exterior; quieren ayudar sin perder el control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Fondo map-pin"/>
          <p:cNvSpPr/>
          <p:nvPr/>
        </p:nvSpPr>
        <p:spPr>
          <a:xfrm>
            <a:off x="5550120" y="1950120"/>
            <a:ext cx="1099080" cy="109908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7" name="map-pin" descr="map-pin"/>
          <p:cNvPicPr/>
          <p:nvPr/>
        </p:nvPicPr>
        <p:blipFill>
          <a:blip r:embed="rId2"/>
          <a:stretch/>
        </p:blipFill>
        <p:spPr>
          <a:xfrm>
            <a:off x="5814000" y="2214000"/>
            <a:ext cx="570960" cy="57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8" name="Quien lo recibe en el campo"/>
          <p:cNvSpPr/>
          <p:nvPr/>
        </p:nvSpPr>
        <p:spPr>
          <a:xfrm>
            <a:off x="4650120" y="3250080"/>
            <a:ext cx="289908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9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Quien lo recibe en el campo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35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Con señal a ratos, celular de teclas o sin wallet propia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Fondo store"/>
          <p:cNvSpPr/>
          <p:nvPr/>
        </p:nvSpPr>
        <p:spPr>
          <a:xfrm>
            <a:off x="9100080" y="1950120"/>
            <a:ext cx="1099080" cy="109908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0" name="store" descr="store"/>
          <p:cNvPicPr/>
          <p:nvPr/>
        </p:nvPicPr>
        <p:blipFill>
          <a:blip r:embed="rId3"/>
          <a:stretch/>
        </p:blipFill>
        <p:spPr>
          <a:xfrm>
            <a:off x="9363960" y="2214000"/>
            <a:ext cx="570960" cy="57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1" name="El tendero del pueblo"/>
          <p:cNvSpPr/>
          <p:nvPr/>
        </p:nvSpPr>
        <p:spPr>
          <a:xfrm>
            <a:off x="8200080" y="3250080"/>
            <a:ext cx="289908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9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El tendero del pueblo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35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Cobra con o sin señal; sin wallet, por Puntored a su llave Bre-B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/>
          </p:nvPr>
        </p:nvSpPr>
        <p:spPr>
          <a:xfrm>
            <a:off x="271080" y="83304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400" b="0" u="none" strike="noStrike">
                <a:solidFill>
                  <a:schemeClr val="accent1"/>
                </a:solidFill>
                <a:effectLst/>
                <a:uFillTx/>
                <a:latin typeface="Poppins Light"/>
                <a:ea typeface="Poppins Light"/>
              </a:rPr>
              <a:t>Paygent: un permiso de pago que se reparte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PlaceHolder 2"/>
          <p:cNvSpPr>
            <a:spLocks noGrp="1"/>
          </p:cNvSpPr>
          <p:nvPr>
            <p:ph/>
          </p:nvPr>
        </p:nvSpPr>
        <p:spPr>
          <a:xfrm>
            <a:off x="271080" y="55872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2400" b="0" u="none" strike="noStrike">
                <a:solidFill>
                  <a:srgbClr val="560676"/>
                </a:solidFill>
                <a:effectLst/>
                <a:uFillTx/>
                <a:latin typeface="Poppins ExtraBold"/>
                <a:ea typeface="Poppins ExtraBold"/>
              </a:rPr>
              <a:t>LA SOLUCIÓN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Raíz 2"/>
          <p:cNvSpPr/>
          <p:nvPr/>
        </p:nvSpPr>
        <p:spPr>
          <a:xfrm>
            <a:off x="3795840" y="1550160"/>
            <a:ext cx="4599000" cy="999000"/>
          </a:xfrm>
          <a:prstGeom prst="roundRect">
            <a:avLst>
              <a:gd name="adj" fmla="val 18000"/>
            </a:avLst>
          </a:prstGeom>
          <a:solidFill>
            <a:srgbClr val="EEE6F5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Fondo signature 2"/>
          <p:cNvSpPr/>
          <p:nvPr/>
        </p:nvSpPr>
        <p:spPr>
          <a:xfrm>
            <a:off x="4006080" y="1699920"/>
            <a:ext cx="698760" cy="698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6" name="signature 2" descr="signature"/>
          <p:cNvPicPr/>
          <p:nvPr/>
        </p:nvPicPr>
        <p:blipFill>
          <a:blip r:embed="rId1"/>
          <a:stretch/>
        </p:blipFill>
        <p:spPr>
          <a:xfrm>
            <a:off x="4173840" y="1868040"/>
            <a:ext cx="362880" cy="36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7" name="Raíz texto 2"/>
          <p:cNvSpPr/>
          <p:nvPr/>
        </p:nvSpPr>
        <p:spPr>
          <a:xfrm>
            <a:off x="4845960" y="1550160"/>
            <a:ext cx="344880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9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El titular firma una vez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5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Un grant de Open Payments: $300 al mes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Línea 6"/>
          <p:cNvSpPr/>
          <p:nvPr/>
        </p:nvSpPr>
        <p:spPr>
          <a:xfrm>
            <a:off x="6076080" y="2549880"/>
            <a:ext cx="38880" cy="329040"/>
          </a:xfrm>
          <a:prstGeom prst="rect">
            <a:avLst/>
          </a:prstGeom>
          <a:solidFill>
            <a:srgbClr val="C9C3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440" tIns="0" rIns="1944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Línea 7"/>
          <p:cNvSpPr/>
          <p:nvPr/>
        </p:nvSpPr>
        <p:spPr>
          <a:xfrm>
            <a:off x="2396160" y="2859840"/>
            <a:ext cx="7399080" cy="38880"/>
          </a:xfrm>
          <a:prstGeom prst="rect">
            <a:avLst/>
          </a:prstGeom>
          <a:solidFill>
            <a:srgbClr val="C9C3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Línea 8"/>
          <p:cNvSpPr/>
          <p:nvPr/>
        </p:nvSpPr>
        <p:spPr>
          <a:xfrm>
            <a:off x="2376000" y="2859840"/>
            <a:ext cx="38880" cy="298800"/>
          </a:xfrm>
          <a:prstGeom prst="rect">
            <a:avLst/>
          </a:prstGeom>
          <a:solidFill>
            <a:srgbClr val="C9C3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440" tIns="0" rIns="1944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Línea 9"/>
          <p:cNvSpPr/>
          <p:nvPr/>
        </p:nvSpPr>
        <p:spPr>
          <a:xfrm>
            <a:off x="6076080" y="2859840"/>
            <a:ext cx="38880" cy="298800"/>
          </a:xfrm>
          <a:prstGeom prst="rect">
            <a:avLst/>
          </a:prstGeom>
          <a:solidFill>
            <a:srgbClr val="C9C3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440" tIns="0" rIns="1944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Línea 10"/>
          <p:cNvSpPr/>
          <p:nvPr/>
        </p:nvSpPr>
        <p:spPr>
          <a:xfrm>
            <a:off x="9776160" y="2859840"/>
            <a:ext cx="38880" cy="298800"/>
          </a:xfrm>
          <a:prstGeom prst="rect">
            <a:avLst/>
          </a:prstGeom>
          <a:solidFill>
            <a:srgbClr val="C9C3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440" tIns="0" rIns="1944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arjeta Su mamá 2"/>
          <p:cNvSpPr/>
          <p:nvPr/>
        </p:nvSpPr>
        <p:spPr>
          <a:xfrm>
            <a:off x="695880" y="3150000"/>
            <a:ext cx="3398760" cy="1148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Fondo user 2"/>
          <p:cNvSpPr/>
          <p:nvPr/>
        </p:nvSpPr>
        <p:spPr>
          <a:xfrm>
            <a:off x="875880" y="3399840"/>
            <a:ext cx="649080" cy="64908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5" name="user 2" descr="user"/>
          <p:cNvPicPr/>
          <p:nvPr/>
        </p:nvPicPr>
        <p:blipFill>
          <a:blip r:embed="rId2"/>
          <a:stretch/>
        </p:blipFill>
        <p:spPr>
          <a:xfrm>
            <a:off x="1032120" y="3556080"/>
            <a:ext cx="336960" cy="33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6" name="Su mamá 2"/>
          <p:cNvSpPr/>
          <p:nvPr/>
        </p:nvSpPr>
        <p:spPr>
          <a:xfrm>
            <a:off x="1706040" y="3150000"/>
            <a:ext cx="2238840" cy="11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7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Su mamá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0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Mercado y farmacia · $150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arjeta Su celular 2"/>
          <p:cNvSpPr/>
          <p:nvPr/>
        </p:nvSpPr>
        <p:spPr>
          <a:xfrm>
            <a:off x="4395960" y="3150000"/>
            <a:ext cx="3398760" cy="1148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Fondo smartphone 2"/>
          <p:cNvSpPr/>
          <p:nvPr/>
        </p:nvSpPr>
        <p:spPr>
          <a:xfrm>
            <a:off x="4575960" y="3399840"/>
            <a:ext cx="649080" cy="64908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9" name="smartphone 2" descr="smartphone"/>
          <p:cNvPicPr/>
          <p:nvPr/>
        </p:nvPicPr>
        <p:blipFill>
          <a:blip r:embed="rId3"/>
          <a:stretch/>
        </p:blipFill>
        <p:spPr>
          <a:xfrm>
            <a:off x="4731840" y="3556080"/>
            <a:ext cx="336960" cy="33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0" name="Su celular 2"/>
          <p:cNvSpPr/>
          <p:nvPr/>
        </p:nvSpPr>
        <p:spPr>
          <a:xfrm>
            <a:off x="5406120" y="3150000"/>
            <a:ext cx="2238840" cy="11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7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Su celular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0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Paga sin señal · vale firmado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arjeta Un agente 2"/>
          <p:cNvSpPr/>
          <p:nvPr/>
        </p:nvSpPr>
        <p:spPr>
          <a:xfrm>
            <a:off x="8096040" y="3150000"/>
            <a:ext cx="3398760" cy="1148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Fondo bot 2"/>
          <p:cNvSpPr/>
          <p:nvPr/>
        </p:nvSpPr>
        <p:spPr>
          <a:xfrm>
            <a:off x="8276040" y="3399840"/>
            <a:ext cx="649080" cy="649080"/>
          </a:xfrm>
          <a:prstGeom prst="ellipse">
            <a:avLst/>
          </a:prstGeom>
          <a:solidFill>
            <a:srgbClr val="ECEE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3" name="bot 2" descr="bot"/>
          <p:cNvPicPr/>
          <p:nvPr/>
        </p:nvPicPr>
        <p:blipFill>
          <a:blip r:embed="rId4"/>
          <a:stretch/>
        </p:blipFill>
        <p:spPr>
          <a:xfrm>
            <a:off x="8431920" y="3556080"/>
            <a:ext cx="336960" cy="33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4" name="Un agente 2"/>
          <p:cNvSpPr/>
          <p:nvPr/>
        </p:nvSpPr>
        <p:spPr>
          <a:xfrm>
            <a:off x="9105840" y="3150000"/>
            <a:ext cx="2238840" cy="11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7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Un agente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0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Compra por ella, por SMS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El gateway revisa cada pago: tope, categoría y PIN 2"/>
          <p:cNvSpPr/>
          <p:nvPr/>
        </p:nvSpPr>
        <p:spPr>
          <a:xfrm>
            <a:off x="950040" y="4650120"/>
            <a:ext cx="4848840" cy="718920"/>
          </a:xfrm>
          <a:prstGeom prst="roundRect">
            <a:avLst>
              <a:gd name="adj" fmla="val 50000"/>
            </a:avLst>
          </a:prstGeom>
          <a:solidFill>
            <a:srgbClr val="ECEE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Fondo shield-check 2"/>
          <p:cNvSpPr/>
          <p:nvPr/>
        </p:nvSpPr>
        <p:spPr>
          <a:xfrm>
            <a:off x="1069920" y="4749840"/>
            <a:ext cx="518760" cy="518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7" name="shield-check 2" descr="shield-check"/>
          <p:cNvPicPr/>
          <p:nvPr/>
        </p:nvPicPr>
        <p:blipFill>
          <a:blip r:embed="rId5"/>
          <a:stretch/>
        </p:blipFill>
        <p:spPr>
          <a:xfrm>
            <a:off x="1194840" y="4874760"/>
            <a:ext cx="269280" cy="2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8" name="El gateway revisa cada pago: tope, categoría y PIN texto 2"/>
          <p:cNvSpPr/>
          <p:nvPr/>
        </p:nvSpPr>
        <p:spPr>
          <a:xfrm>
            <a:off x="1699920" y="4650120"/>
            <a:ext cx="3998880" cy="7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35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El gateway revisa cada pago: tope, categoría y PIN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El dinero va directo del titular a la tienda 2"/>
          <p:cNvSpPr/>
          <p:nvPr/>
        </p:nvSpPr>
        <p:spPr>
          <a:xfrm>
            <a:off x="6400080" y="4650120"/>
            <a:ext cx="4848840" cy="718920"/>
          </a:xfrm>
          <a:prstGeom prst="roundRect">
            <a:avLst>
              <a:gd name="adj" fmla="val 50000"/>
            </a:avLst>
          </a:prstGeom>
          <a:solidFill>
            <a:srgbClr val="ECEE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Fondo send 2"/>
          <p:cNvSpPr/>
          <p:nvPr/>
        </p:nvSpPr>
        <p:spPr>
          <a:xfrm>
            <a:off x="6519960" y="4749840"/>
            <a:ext cx="518760" cy="518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1" name="send 2" descr="send"/>
          <p:cNvPicPr/>
          <p:nvPr/>
        </p:nvPicPr>
        <p:blipFill>
          <a:blip r:embed="rId6"/>
          <a:stretch/>
        </p:blipFill>
        <p:spPr>
          <a:xfrm>
            <a:off x="6644880" y="4874760"/>
            <a:ext cx="269280" cy="2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2" name="El dinero va directo del titular a la tienda texto 2"/>
          <p:cNvSpPr/>
          <p:nvPr/>
        </p:nvSpPr>
        <p:spPr>
          <a:xfrm>
            <a:off x="7149960" y="4650120"/>
            <a:ext cx="3998880" cy="7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35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El dinero va directo del titular a la tienda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Flecha 2"/>
          <p:cNvSpPr/>
          <p:nvPr/>
        </p:nvSpPr>
        <p:spPr>
          <a:xfrm>
            <a:off x="5936040" y="4899960"/>
            <a:ext cx="318960" cy="218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/>
          </p:nvPr>
        </p:nvSpPr>
        <p:spPr>
          <a:xfrm>
            <a:off x="271080" y="83304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400" b="0" u="none" strike="noStrike">
                <a:solidFill>
                  <a:schemeClr val="accent1"/>
                </a:solidFill>
                <a:effectLst/>
                <a:uFillTx/>
                <a:latin typeface="Poppins Light"/>
                <a:ea typeface="Poppins Light"/>
              </a:rPr>
              <a:t>Tres canales, una sola regla: el gateway decide cada pago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PlaceHolder 2"/>
          <p:cNvSpPr>
            <a:spLocks noGrp="1"/>
          </p:cNvSpPr>
          <p:nvPr>
            <p:ph/>
          </p:nvPr>
        </p:nvSpPr>
        <p:spPr>
          <a:xfrm>
            <a:off x="271080" y="55872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2400" b="0" u="none" strike="noStrike">
                <a:solidFill>
                  <a:srgbClr val="560676"/>
                </a:solidFill>
                <a:effectLst/>
                <a:uFillTx/>
                <a:latin typeface="Poppins ExtraBold"/>
                <a:ea typeface="Poppins ExtraBold"/>
              </a:rPr>
              <a:t>CÓMO SE PAGA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Columna Con datos"/>
          <p:cNvSpPr/>
          <p:nvPr/>
        </p:nvSpPr>
        <p:spPr>
          <a:xfrm>
            <a:off x="519840" y="1450080"/>
            <a:ext cx="3559680" cy="3149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Canal Con datos"/>
          <p:cNvSpPr/>
          <p:nvPr/>
        </p:nvSpPr>
        <p:spPr>
          <a:xfrm>
            <a:off x="720000" y="1620000"/>
            <a:ext cx="1699560" cy="419760"/>
          </a:xfrm>
          <a:prstGeom prst="roundRect">
            <a:avLst>
              <a:gd name="adj" fmla="val 50000"/>
            </a:avLst>
          </a:prstGeom>
          <a:solidFill>
            <a:srgbClr val="EEE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Fondo wifi"/>
          <p:cNvSpPr/>
          <p:nvPr/>
        </p:nvSpPr>
        <p:spPr>
          <a:xfrm>
            <a:off x="765000" y="1665000"/>
            <a:ext cx="329760" cy="329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9" name="wifi" descr="wifi"/>
          <p:cNvPicPr/>
          <p:nvPr/>
        </p:nvPicPr>
        <p:blipFill>
          <a:blip r:embed="rId1"/>
          <a:stretch/>
        </p:blipFill>
        <p:spPr>
          <a:xfrm>
            <a:off x="844200" y="1744200"/>
            <a:ext cx="171360" cy="1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0" name="Con datos"/>
          <p:cNvSpPr/>
          <p:nvPr/>
        </p:nvSpPr>
        <p:spPr>
          <a:xfrm>
            <a:off x="1159920" y="1620000"/>
            <a:ext cx="12596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4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Con datos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Marco Con datos"/>
          <p:cNvSpPr/>
          <p:nvPr/>
        </p:nvSpPr>
        <p:spPr>
          <a:xfrm>
            <a:off x="757080" y="2139840"/>
            <a:ext cx="1165320" cy="2359800"/>
          </a:xfrm>
          <a:prstGeom prst="roundRect">
            <a:avLst>
              <a:gd name="adj" fmla="val 13000"/>
            </a:avLst>
          </a:prstGeom>
          <a:solidFill>
            <a:srgbClr val="17171C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2" name="Con datos" descr="Con datos"/>
          <p:cNvPicPr/>
          <p:nvPr/>
        </p:nvPicPr>
        <p:blipFill>
          <a:blip r:embed="rId2"/>
          <a:stretch/>
        </p:blipFill>
        <p:spPr>
          <a:xfrm>
            <a:off x="826920" y="2210040"/>
            <a:ext cx="1025640" cy="221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3" name="Fondo qr-code"/>
          <p:cNvSpPr/>
          <p:nvPr/>
        </p:nvSpPr>
        <p:spPr>
          <a:xfrm>
            <a:off x="2115000" y="2234880"/>
            <a:ext cx="469800" cy="469800"/>
          </a:xfrm>
          <a:prstGeom prst="ellipse">
            <a:avLst/>
          </a:prstGeom>
          <a:solidFill>
            <a:srgbClr val="EEE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4" name="qr-code" descr="qr-code"/>
          <p:cNvPicPr/>
          <p:nvPr/>
        </p:nvPicPr>
        <p:blipFill>
          <a:blip r:embed="rId3"/>
          <a:stretch/>
        </p:blipFill>
        <p:spPr>
          <a:xfrm>
            <a:off x="2227680" y="2347920"/>
            <a:ext cx="244080" cy="24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5" name="Muestra el QR"/>
          <p:cNvSpPr/>
          <p:nvPr/>
        </p:nvSpPr>
        <p:spPr>
          <a:xfrm>
            <a:off x="2660040" y="2229840"/>
            <a:ext cx="131976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Muestra el QR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Línea"/>
          <p:cNvSpPr/>
          <p:nvPr/>
        </p:nvSpPr>
        <p:spPr>
          <a:xfrm>
            <a:off x="2341080" y="2720160"/>
            <a:ext cx="17640" cy="259560"/>
          </a:xfrm>
          <a:prstGeom prst="rect">
            <a:avLst/>
          </a:prstGeom>
          <a:solidFill>
            <a:srgbClr val="D9D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0" rIns="900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Fondo scan-line"/>
          <p:cNvSpPr/>
          <p:nvPr/>
        </p:nvSpPr>
        <p:spPr>
          <a:xfrm>
            <a:off x="2115000" y="2994840"/>
            <a:ext cx="469800" cy="469800"/>
          </a:xfrm>
          <a:prstGeom prst="ellipse">
            <a:avLst/>
          </a:prstGeom>
          <a:solidFill>
            <a:srgbClr val="EEE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8" name="scan-line" descr="scan-line"/>
          <p:cNvPicPr/>
          <p:nvPr/>
        </p:nvPicPr>
        <p:blipFill>
          <a:blip r:embed="rId4"/>
          <a:stretch/>
        </p:blipFill>
        <p:spPr>
          <a:xfrm>
            <a:off x="2227680" y="3107880"/>
            <a:ext cx="244080" cy="24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9" name="La tienda lo escanea"/>
          <p:cNvSpPr/>
          <p:nvPr/>
        </p:nvSpPr>
        <p:spPr>
          <a:xfrm>
            <a:off x="2660040" y="2990160"/>
            <a:ext cx="131976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La tienda lo escanea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Línea"/>
          <p:cNvSpPr/>
          <p:nvPr/>
        </p:nvSpPr>
        <p:spPr>
          <a:xfrm>
            <a:off x="2341080" y="3480120"/>
            <a:ext cx="17640" cy="259560"/>
          </a:xfrm>
          <a:prstGeom prst="rect">
            <a:avLst/>
          </a:prstGeom>
          <a:solidFill>
            <a:srgbClr val="D9D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0" rIns="900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Fondo check-check"/>
          <p:cNvSpPr/>
          <p:nvPr/>
        </p:nvSpPr>
        <p:spPr>
          <a:xfrm>
            <a:off x="2115000" y="3755160"/>
            <a:ext cx="469800" cy="469800"/>
          </a:xfrm>
          <a:prstGeom prst="ellipse">
            <a:avLst/>
          </a:prstGeom>
          <a:solidFill>
            <a:srgbClr val="EEE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2" name="check-check" descr="check-check"/>
          <p:cNvPicPr/>
          <p:nvPr/>
        </p:nvPicPr>
        <p:blipFill>
          <a:blip r:embed="rId5"/>
          <a:stretch/>
        </p:blipFill>
        <p:spPr>
          <a:xfrm>
            <a:off x="2227680" y="3867840"/>
            <a:ext cx="244080" cy="24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3" name="Cobra al instante"/>
          <p:cNvSpPr/>
          <p:nvPr/>
        </p:nvSpPr>
        <p:spPr>
          <a:xfrm>
            <a:off x="2660040" y="3750120"/>
            <a:ext cx="131976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Cobra al instante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Columna Sin señal"/>
          <p:cNvSpPr/>
          <p:nvPr/>
        </p:nvSpPr>
        <p:spPr>
          <a:xfrm>
            <a:off x="4330080" y="1450080"/>
            <a:ext cx="3559680" cy="3149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Canal Sin señal"/>
          <p:cNvSpPr/>
          <p:nvPr/>
        </p:nvSpPr>
        <p:spPr>
          <a:xfrm>
            <a:off x="4529880" y="1620000"/>
            <a:ext cx="1699560" cy="419760"/>
          </a:xfrm>
          <a:prstGeom prst="roundRect">
            <a:avLst>
              <a:gd name="adj" fmla="val 50000"/>
            </a:avLst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Fondo wifi-off"/>
          <p:cNvSpPr/>
          <p:nvPr/>
        </p:nvSpPr>
        <p:spPr>
          <a:xfrm>
            <a:off x="4574880" y="1665000"/>
            <a:ext cx="329760" cy="329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7" name="wifi-off" descr="wifi-off"/>
          <p:cNvPicPr/>
          <p:nvPr/>
        </p:nvPicPr>
        <p:blipFill>
          <a:blip r:embed="rId6"/>
          <a:stretch/>
        </p:blipFill>
        <p:spPr>
          <a:xfrm>
            <a:off x="4654080" y="1744200"/>
            <a:ext cx="171360" cy="1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8" name="Sin señal"/>
          <p:cNvSpPr/>
          <p:nvPr/>
        </p:nvSpPr>
        <p:spPr>
          <a:xfrm>
            <a:off x="4970160" y="1620000"/>
            <a:ext cx="12596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4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Sin señal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Marco Sin señal"/>
          <p:cNvSpPr/>
          <p:nvPr/>
        </p:nvSpPr>
        <p:spPr>
          <a:xfrm>
            <a:off x="4566960" y="2139840"/>
            <a:ext cx="1165320" cy="2359800"/>
          </a:xfrm>
          <a:prstGeom prst="roundRect">
            <a:avLst>
              <a:gd name="adj" fmla="val 13000"/>
            </a:avLst>
          </a:prstGeom>
          <a:solidFill>
            <a:srgbClr val="17171C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0" name="Sin señal" descr="Sin señal"/>
          <p:cNvPicPr/>
          <p:nvPr/>
        </p:nvPicPr>
        <p:blipFill>
          <a:blip r:embed="rId7"/>
          <a:stretch/>
        </p:blipFill>
        <p:spPr>
          <a:xfrm>
            <a:off x="4637160" y="2210040"/>
            <a:ext cx="1025640" cy="221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1" name="Fondo signature"/>
          <p:cNvSpPr/>
          <p:nvPr/>
        </p:nvSpPr>
        <p:spPr>
          <a:xfrm>
            <a:off x="5924880" y="2234880"/>
            <a:ext cx="469800" cy="46980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2" name="signature" descr="signature"/>
          <p:cNvPicPr/>
          <p:nvPr/>
        </p:nvPicPr>
        <p:blipFill>
          <a:blip r:embed="rId8"/>
          <a:stretch/>
        </p:blipFill>
        <p:spPr>
          <a:xfrm>
            <a:off x="6037920" y="2347920"/>
            <a:ext cx="244080" cy="24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3" name="Firma un vale"/>
          <p:cNvSpPr/>
          <p:nvPr/>
        </p:nvSpPr>
        <p:spPr>
          <a:xfrm>
            <a:off x="6469920" y="2229840"/>
            <a:ext cx="131976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Firma un vale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Línea"/>
          <p:cNvSpPr/>
          <p:nvPr/>
        </p:nvSpPr>
        <p:spPr>
          <a:xfrm>
            <a:off x="6150960" y="2720160"/>
            <a:ext cx="17640" cy="259560"/>
          </a:xfrm>
          <a:prstGeom prst="rect">
            <a:avLst/>
          </a:prstGeom>
          <a:solidFill>
            <a:srgbClr val="D9D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0" rIns="900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Fondo shield-check"/>
          <p:cNvSpPr/>
          <p:nvPr/>
        </p:nvSpPr>
        <p:spPr>
          <a:xfrm>
            <a:off x="5924880" y="2994840"/>
            <a:ext cx="469800" cy="46980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6" name="shield-check" descr="shield-check"/>
          <p:cNvPicPr/>
          <p:nvPr/>
        </p:nvPicPr>
        <p:blipFill>
          <a:blip r:embed="rId9"/>
          <a:stretch/>
        </p:blipFill>
        <p:spPr>
          <a:xfrm>
            <a:off x="6037920" y="3107880"/>
            <a:ext cx="244080" cy="24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7" name="Se verifica offline"/>
          <p:cNvSpPr/>
          <p:nvPr/>
        </p:nvSpPr>
        <p:spPr>
          <a:xfrm>
            <a:off x="6469920" y="2990160"/>
            <a:ext cx="131976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Se verifica offline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Línea"/>
          <p:cNvSpPr/>
          <p:nvPr/>
        </p:nvSpPr>
        <p:spPr>
          <a:xfrm>
            <a:off x="6150960" y="3480120"/>
            <a:ext cx="17640" cy="259560"/>
          </a:xfrm>
          <a:prstGeom prst="rect">
            <a:avLst/>
          </a:prstGeom>
          <a:solidFill>
            <a:srgbClr val="D9D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0" rIns="900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Fondo refresh-cw"/>
          <p:cNvSpPr/>
          <p:nvPr/>
        </p:nvSpPr>
        <p:spPr>
          <a:xfrm>
            <a:off x="5924880" y="3755160"/>
            <a:ext cx="469800" cy="46980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0" name="refresh-cw" descr="refresh-cw"/>
          <p:cNvPicPr/>
          <p:nvPr/>
        </p:nvPicPr>
        <p:blipFill>
          <a:blip r:embed="rId10"/>
          <a:stretch/>
        </p:blipFill>
        <p:spPr>
          <a:xfrm>
            <a:off x="6037920" y="3867840"/>
            <a:ext cx="244080" cy="24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1" name="Se cobra con señal"/>
          <p:cNvSpPr/>
          <p:nvPr/>
        </p:nvSpPr>
        <p:spPr>
          <a:xfrm>
            <a:off x="6469920" y="3750120"/>
            <a:ext cx="131976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Se cobra con señal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Columna Por SMS"/>
          <p:cNvSpPr/>
          <p:nvPr/>
        </p:nvSpPr>
        <p:spPr>
          <a:xfrm>
            <a:off x="8139960" y="1450080"/>
            <a:ext cx="3559680" cy="3149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Canal Por SMS"/>
          <p:cNvSpPr/>
          <p:nvPr/>
        </p:nvSpPr>
        <p:spPr>
          <a:xfrm>
            <a:off x="8340120" y="1620000"/>
            <a:ext cx="1699560" cy="419760"/>
          </a:xfrm>
          <a:prstGeom prst="roundRect">
            <a:avLst>
              <a:gd name="adj" fmla="val 50000"/>
            </a:avLst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Fondo message-square-text"/>
          <p:cNvSpPr/>
          <p:nvPr/>
        </p:nvSpPr>
        <p:spPr>
          <a:xfrm>
            <a:off x="8385120" y="1665000"/>
            <a:ext cx="329760" cy="329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5" name="message-square-text" descr="message-square-text"/>
          <p:cNvPicPr/>
          <p:nvPr/>
        </p:nvPicPr>
        <p:blipFill>
          <a:blip r:embed="rId11"/>
          <a:stretch/>
        </p:blipFill>
        <p:spPr>
          <a:xfrm>
            <a:off x="8464320" y="1744200"/>
            <a:ext cx="171360" cy="1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6" name="Por SMS"/>
          <p:cNvSpPr/>
          <p:nvPr/>
        </p:nvSpPr>
        <p:spPr>
          <a:xfrm>
            <a:off x="8780040" y="1620000"/>
            <a:ext cx="12596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4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Por SMS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Marco Por SMS"/>
          <p:cNvSpPr/>
          <p:nvPr/>
        </p:nvSpPr>
        <p:spPr>
          <a:xfrm>
            <a:off x="8377200" y="2139840"/>
            <a:ext cx="1165320" cy="2359800"/>
          </a:xfrm>
          <a:prstGeom prst="roundRect">
            <a:avLst>
              <a:gd name="adj" fmla="val 13000"/>
            </a:avLst>
          </a:prstGeom>
          <a:solidFill>
            <a:srgbClr val="17171C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8" name="Por SMS" descr="Por SMS"/>
          <p:cNvPicPr/>
          <p:nvPr/>
        </p:nvPicPr>
        <p:blipFill>
          <a:blip r:embed="rId12"/>
          <a:stretch/>
        </p:blipFill>
        <p:spPr>
          <a:xfrm>
            <a:off x="8447040" y="2210040"/>
            <a:ext cx="1025640" cy="221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9" name="Fondo pencil-line"/>
          <p:cNvSpPr/>
          <p:nvPr/>
        </p:nvSpPr>
        <p:spPr>
          <a:xfrm>
            <a:off x="9735120" y="2234880"/>
            <a:ext cx="469800" cy="46980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0" name="pencil-line" descr="pencil-line"/>
          <p:cNvPicPr/>
          <p:nvPr/>
        </p:nvPicPr>
        <p:blipFill>
          <a:blip r:embed="rId13"/>
          <a:stretch/>
        </p:blipFill>
        <p:spPr>
          <a:xfrm>
            <a:off x="9847800" y="2347920"/>
            <a:ext cx="244080" cy="24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1" name="Escribe lo que necesita"/>
          <p:cNvSpPr/>
          <p:nvPr/>
        </p:nvSpPr>
        <p:spPr>
          <a:xfrm>
            <a:off x="10280160" y="2229840"/>
            <a:ext cx="131976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Escribe lo que necesita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Línea"/>
          <p:cNvSpPr/>
          <p:nvPr/>
        </p:nvSpPr>
        <p:spPr>
          <a:xfrm>
            <a:off x="9960840" y="2720160"/>
            <a:ext cx="17640" cy="259560"/>
          </a:xfrm>
          <a:prstGeom prst="rect">
            <a:avLst/>
          </a:prstGeom>
          <a:solidFill>
            <a:srgbClr val="D9D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0" rIns="900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Fondo bot"/>
          <p:cNvSpPr/>
          <p:nvPr/>
        </p:nvSpPr>
        <p:spPr>
          <a:xfrm>
            <a:off x="9735120" y="2994840"/>
            <a:ext cx="469800" cy="46980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4" name="bot" descr="bot"/>
          <p:cNvPicPr/>
          <p:nvPr/>
        </p:nvPicPr>
        <p:blipFill>
          <a:blip r:embed="rId14"/>
          <a:stretch/>
        </p:blipFill>
        <p:spPr>
          <a:xfrm>
            <a:off x="9847800" y="3107880"/>
            <a:ext cx="244080" cy="24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5" name="El agente propone"/>
          <p:cNvSpPr/>
          <p:nvPr/>
        </p:nvSpPr>
        <p:spPr>
          <a:xfrm>
            <a:off x="10280160" y="2990160"/>
            <a:ext cx="131976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El agente propone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Línea"/>
          <p:cNvSpPr/>
          <p:nvPr/>
        </p:nvSpPr>
        <p:spPr>
          <a:xfrm>
            <a:off x="9960840" y="3480120"/>
            <a:ext cx="17640" cy="259560"/>
          </a:xfrm>
          <a:prstGeom prst="rect">
            <a:avLst/>
          </a:prstGeom>
          <a:solidFill>
            <a:srgbClr val="D9D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0" rIns="900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Fondo key-round"/>
          <p:cNvSpPr/>
          <p:nvPr/>
        </p:nvSpPr>
        <p:spPr>
          <a:xfrm>
            <a:off x="9735120" y="3755160"/>
            <a:ext cx="469800" cy="46980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8" name="key-round" descr="key-round"/>
          <p:cNvPicPr/>
          <p:nvPr/>
        </p:nvPicPr>
        <p:blipFill>
          <a:blip r:embed="rId15"/>
          <a:stretch/>
        </p:blipFill>
        <p:spPr>
          <a:xfrm>
            <a:off x="9847800" y="3867840"/>
            <a:ext cx="244080" cy="24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9" name="Confirma con su PIN"/>
          <p:cNvSpPr/>
          <p:nvPr/>
        </p:nvSpPr>
        <p:spPr>
          <a:xfrm>
            <a:off x="10280160" y="3750120"/>
            <a:ext cx="131976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Confirma con su PIN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Flecha abajo"/>
          <p:cNvSpPr/>
          <p:nvPr/>
        </p:nvSpPr>
        <p:spPr>
          <a:xfrm>
            <a:off x="2189880" y="4619880"/>
            <a:ext cx="219600" cy="169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Flecha abajo"/>
          <p:cNvSpPr/>
          <p:nvPr/>
        </p:nvSpPr>
        <p:spPr>
          <a:xfrm>
            <a:off x="6000120" y="4619880"/>
            <a:ext cx="219600" cy="169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Flecha abajo"/>
          <p:cNvSpPr/>
          <p:nvPr/>
        </p:nvSpPr>
        <p:spPr>
          <a:xfrm>
            <a:off x="9810000" y="4619880"/>
            <a:ext cx="219600" cy="169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Gateway"/>
          <p:cNvSpPr/>
          <p:nvPr/>
        </p:nvSpPr>
        <p:spPr>
          <a:xfrm>
            <a:off x="519840" y="4780080"/>
            <a:ext cx="11179800" cy="619560"/>
          </a:xfrm>
          <a:prstGeom prst="roundRect">
            <a:avLst>
              <a:gd name="adj" fmla="val 50000"/>
            </a:avLst>
          </a:prstGeom>
          <a:solidFill>
            <a:srgbClr val="ECEE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Fondo shield-check"/>
          <p:cNvSpPr/>
          <p:nvPr/>
        </p:nvSpPr>
        <p:spPr>
          <a:xfrm>
            <a:off x="685080" y="4875120"/>
            <a:ext cx="429480" cy="429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5" name="shield-check" descr="shield-check"/>
          <p:cNvPicPr/>
          <p:nvPr/>
        </p:nvPicPr>
        <p:blipFill>
          <a:blip r:embed="rId16"/>
          <a:stretch/>
        </p:blipFill>
        <p:spPr>
          <a:xfrm>
            <a:off x="788040" y="4978080"/>
            <a:ext cx="223200" cy="22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6" name="El gateway decide"/>
          <p:cNvSpPr/>
          <p:nvPr/>
        </p:nvSpPr>
        <p:spPr>
          <a:xfrm>
            <a:off x="1199880" y="4820040"/>
            <a:ext cx="282636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3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El gateway decide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00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tope · categoría · PIN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Flecha"/>
          <p:cNvSpPr/>
          <p:nvPr/>
        </p:nvSpPr>
        <p:spPr>
          <a:xfrm>
            <a:off x="4006800" y="4979880"/>
            <a:ext cx="239760" cy="21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Fondo send"/>
          <p:cNvSpPr/>
          <p:nvPr/>
        </p:nvSpPr>
        <p:spPr>
          <a:xfrm>
            <a:off x="4411800" y="4875120"/>
            <a:ext cx="429480" cy="429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9" name="send" descr="send"/>
          <p:cNvPicPr/>
          <p:nvPr/>
        </p:nvPicPr>
        <p:blipFill>
          <a:blip r:embed="rId17"/>
          <a:stretch/>
        </p:blipFill>
        <p:spPr>
          <a:xfrm>
            <a:off x="4514760" y="4978080"/>
            <a:ext cx="223200" cy="22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0" name="Pago real"/>
          <p:cNvSpPr/>
          <p:nvPr/>
        </p:nvSpPr>
        <p:spPr>
          <a:xfrm>
            <a:off x="4926600" y="4820040"/>
            <a:ext cx="282636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3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Pago real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00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directo de la wallet del titular a la tienda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Flecha"/>
          <p:cNvSpPr/>
          <p:nvPr/>
        </p:nvSpPr>
        <p:spPr>
          <a:xfrm>
            <a:off x="7733160" y="4979880"/>
            <a:ext cx="239760" cy="21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Fondo notebook-pen"/>
          <p:cNvSpPr/>
          <p:nvPr/>
        </p:nvSpPr>
        <p:spPr>
          <a:xfrm>
            <a:off x="8138160" y="4875120"/>
            <a:ext cx="429480" cy="429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3" name="notebook-pen" descr="notebook-pen"/>
          <p:cNvPicPr/>
          <p:nvPr/>
        </p:nvPicPr>
        <p:blipFill>
          <a:blip r:embed="rId18"/>
          <a:stretch/>
        </p:blipFill>
        <p:spPr>
          <a:xfrm>
            <a:off x="8241480" y="4978080"/>
            <a:ext cx="223200" cy="22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4" name="Queda en la libreta"/>
          <p:cNvSpPr/>
          <p:nvPr/>
        </p:nvSpPr>
        <p:spPr>
          <a:xfrm>
            <a:off x="8653320" y="4820040"/>
            <a:ext cx="282636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3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Queda en la libreta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00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con su porqué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/>
          </p:nvPr>
        </p:nvSpPr>
        <p:spPr>
          <a:xfrm>
            <a:off x="271080" y="83304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400" b="0" u="none" strike="noStrike">
                <a:solidFill>
                  <a:schemeClr val="accent1"/>
                </a:solidFill>
                <a:effectLst/>
                <a:uFillTx/>
                <a:latin typeface="Poppins Light"/>
                <a:ea typeface="Poppins Light"/>
              </a:rPr>
              <a:t>Pagar se vuelve fácil, accesible e inclusivo para quien hoy queda por fuera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PlaceHolder 2"/>
          <p:cNvSpPr>
            <a:spLocks noGrp="1"/>
          </p:cNvSpPr>
          <p:nvPr>
            <p:ph/>
          </p:nvPr>
        </p:nvSpPr>
        <p:spPr>
          <a:xfrm>
            <a:off x="271080" y="55872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2400" b="0" u="none" strike="noStrike">
                <a:solidFill>
                  <a:srgbClr val="560676"/>
                </a:solidFill>
                <a:effectLst/>
                <a:uFillTx/>
                <a:latin typeface="Poppins ExtraBold"/>
                <a:ea typeface="Poppins ExtraBold"/>
              </a:rPr>
              <a:t>POR QUÉ IMPORTA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Fondo hand-heart"/>
          <p:cNvSpPr/>
          <p:nvPr/>
        </p:nvSpPr>
        <p:spPr>
          <a:xfrm>
            <a:off x="1824840" y="1524960"/>
            <a:ext cx="1049760" cy="1049760"/>
          </a:xfrm>
          <a:prstGeom prst="ellipse">
            <a:avLst/>
          </a:prstGeom>
          <a:solidFill>
            <a:srgbClr val="EEE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8" name="hand-heart" descr="hand-heart"/>
          <p:cNvPicPr/>
          <p:nvPr/>
        </p:nvPicPr>
        <p:blipFill>
          <a:blip r:embed="rId1"/>
          <a:stretch/>
        </p:blipFill>
        <p:spPr>
          <a:xfrm>
            <a:off x="2076840" y="1776960"/>
            <a:ext cx="545760" cy="54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9" name="Más fácil"/>
          <p:cNvSpPr/>
          <p:nvPr/>
        </p:nvSpPr>
        <p:spPr>
          <a:xfrm>
            <a:off x="600120" y="2700000"/>
            <a:ext cx="349956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22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Más fácil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Idea Un solo permiso para"/>
          <p:cNvSpPr/>
          <p:nvPr/>
        </p:nvSpPr>
        <p:spPr>
          <a:xfrm>
            <a:off x="600120" y="3300120"/>
            <a:ext cx="3499560" cy="699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Fondo signature"/>
          <p:cNvSpPr/>
          <p:nvPr/>
        </p:nvSpPr>
        <p:spPr>
          <a:xfrm>
            <a:off x="759960" y="3430080"/>
            <a:ext cx="439560" cy="439560"/>
          </a:xfrm>
          <a:prstGeom prst="ellipse">
            <a:avLst/>
          </a:prstGeom>
          <a:solidFill>
            <a:srgbClr val="EEE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2" name="signature" descr="signature"/>
          <p:cNvPicPr/>
          <p:nvPr/>
        </p:nvPicPr>
        <p:blipFill>
          <a:blip r:embed="rId2"/>
          <a:stretch/>
        </p:blipFill>
        <p:spPr>
          <a:xfrm>
            <a:off x="865440" y="3535560"/>
            <a:ext cx="22860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3" name="Un solo permiso para toda la familia"/>
          <p:cNvSpPr/>
          <p:nvPr/>
        </p:nvSpPr>
        <p:spPr>
          <a:xfrm>
            <a:off x="1299960" y="3300120"/>
            <a:ext cx="26794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5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Un solo permiso para toda la familia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Idea Pagar es mostrar un "/>
          <p:cNvSpPr/>
          <p:nvPr/>
        </p:nvSpPr>
        <p:spPr>
          <a:xfrm>
            <a:off x="600120" y="4119840"/>
            <a:ext cx="3499560" cy="699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Fondo qr-code"/>
          <p:cNvSpPr/>
          <p:nvPr/>
        </p:nvSpPr>
        <p:spPr>
          <a:xfrm>
            <a:off x="759960" y="4250160"/>
            <a:ext cx="439560" cy="439560"/>
          </a:xfrm>
          <a:prstGeom prst="ellipse">
            <a:avLst/>
          </a:prstGeom>
          <a:solidFill>
            <a:srgbClr val="EEE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6" name="qr-code" descr="qr-code"/>
          <p:cNvPicPr/>
          <p:nvPr/>
        </p:nvPicPr>
        <p:blipFill>
          <a:blip r:embed="rId3"/>
          <a:stretch/>
        </p:blipFill>
        <p:spPr>
          <a:xfrm>
            <a:off x="865440" y="4355640"/>
            <a:ext cx="22860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7" name="Pagar es mostrar un QR o escribir un SMS"/>
          <p:cNvSpPr/>
          <p:nvPr/>
        </p:nvSpPr>
        <p:spPr>
          <a:xfrm>
            <a:off x="1299960" y="4119840"/>
            <a:ext cx="26794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5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Pagar es mostrar un QR o escribir un SMS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Fondo wifi-off"/>
          <p:cNvSpPr/>
          <p:nvPr/>
        </p:nvSpPr>
        <p:spPr>
          <a:xfrm>
            <a:off x="5569920" y="1524960"/>
            <a:ext cx="1049760" cy="104976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9" name="wifi-off" descr="wifi-off"/>
          <p:cNvPicPr/>
          <p:nvPr/>
        </p:nvPicPr>
        <p:blipFill>
          <a:blip r:embed="rId4"/>
          <a:stretch/>
        </p:blipFill>
        <p:spPr>
          <a:xfrm>
            <a:off x="5821920" y="1776960"/>
            <a:ext cx="545760" cy="54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0" name="Más accesible"/>
          <p:cNvSpPr/>
          <p:nvPr/>
        </p:nvSpPr>
        <p:spPr>
          <a:xfrm>
            <a:off x="4344840" y="2700000"/>
            <a:ext cx="349956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22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Más accesible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Idea Paga aunque no haya "/>
          <p:cNvSpPr/>
          <p:nvPr/>
        </p:nvSpPr>
        <p:spPr>
          <a:xfrm>
            <a:off x="4344840" y="3300120"/>
            <a:ext cx="3499560" cy="699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Fondo radio-tower"/>
          <p:cNvSpPr/>
          <p:nvPr/>
        </p:nvSpPr>
        <p:spPr>
          <a:xfrm>
            <a:off x="4505040" y="3430080"/>
            <a:ext cx="439560" cy="43956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3" name="radio-tower" descr="radio-tower"/>
          <p:cNvPicPr/>
          <p:nvPr/>
        </p:nvPicPr>
        <p:blipFill>
          <a:blip r:embed="rId5"/>
          <a:stretch/>
        </p:blipFill>
        <p:spPr>
          <a:xfrm>
            <a:off x="4610520" y="3535560"/>
            <a:ext cx="22860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4" name="Paga aunque no haya señal"/>
          <p:cNvSpPr/>
          <p:nvPr/>
        </p:nvSpPr>
        <p:spPr>
          <a:xfrm>
            <a:off x="5045040" y="3300120"/>
            <a:ext cx="26794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5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Paga aunque no haya señal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Idea Sirve en un celular "/>
          <p:cNvSpPr/>
          <p:nvPr/>
        </p:nvSpPr>
        <p:spPr>
          <a:xfrm>
            <a:off x="4344840" y="4119840"/>
            <a:ext cx="3499560" cy="699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Fondo message-square-text"/>
          <p:cNvSpPr/>
          <p:nvPr/>
        </p:nvSpPr>
        <p:spPr>
          <a:xfrm>
            <a:off x="4505040" y="4250160"/>
            <a:ext cx="439560" cy="43956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7" name="message-square-text" descr="message-square-text"/>
          <p:cNvPicPr/>
          <p:nvPr/>
        </p:nvPicPr>
        <p:blipFill>
          <a:blip r:embed="rId6"/>
          <a:stretch/>
        </p:blipFill>
        <p:spPr>
          <a:xfrm>
            <a:off x="4610520" y="4355640"/>
            <a:ext cx="22860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8" name="Sirve en un celular de teclas: el agente entiende lo que escribe"/>
          <p:cNvSpPr/>
          <p:nvPr/>
        </p:nvSpPr>
        <p:spPr>
          <a:xfrm>
            <a:off x="5045040" y="4119840"/>
            <a:ext cx="26794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5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Sirve en un celular de teclas: el agente entiende lo que escribe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Fondo users"/>
          <p:cNvSpPr/>
          <p:nvPr/>
        </p:nvSpPr>
        <p:spPr>
          <a:xfrm>
            <a:off x="9315000" y="1524960"/>
            <a:ext cx="1049760" cy="104976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0" name="users" descr="users"/>
          <p:cNvPicPr/>
          <p:nvPr/>
        </p:nvPicPr>
        <p:blipFill>
          <a:blip r:embed="rId7"/>
          <a:stretch/>
        </p:blipFill>
        <p:spPr>
          <a:xfrm>
            <a:off x="9567000" y="1776960"/>
            <a:ext cx="545760" cy="54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1" name="Más inclusivo"/>
          <p:cNvSpPr/>
          <p:nvPr/>
        </p:nvSpPr>
        <p:spPr>
          <a:xfrm>
            <a:off x="8089920" y="2700000"/>
            <a:ext cx="349956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22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Más inclusivo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Idea Quien recibe no nece"/>
          <p:cNvSpPr/>
          <p:nvPr/>
        </p:nvSpPr>
        <p:spPr>
          <a:xfrm>
            <a:off x="8089920" y="3300120"/>
            <a:ext cx="3499560" cy="699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Fondo wallet"/>
          <p:cNvSpPr/>
          <p:nvPr/>
        </p:nvSpPr>
        <p:spPr>
          <a:xfrm>
            <a:off x="8250120" y="3430080"/>
            <a:ext cx="439560" cy="43956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4" name="wallet" descr="wallet"/>
          <p:cNvPicPr/>
          <p:nvPr/>
        </p:nvPicPr>
        <p:blipFill>
          <a:blip r:embed="rId8"/>
          <a:stretch/>
        </p:blipFill>
        <p:spPr>
          <a:xfrm>
            <a:off x="8355600" y="3535560"/>
            <a:ext cx="22860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5" name="Quien recibe no necesita wallet ni cuenta"/>
          <p:cNvSpPr/>
          <p:nvPr/>
        </p:nvSpPr>
        <p:spPr>
          <a:xfrm>
            <a:off x="8790120" y="3300120"/>
            <a:ext cx="26794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5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Quien recibe no necesita wallet ni cuenta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Idea El tendero cobra por"/>
          <p:cNvSpPr/>
          <p:nvPr/>
        </p:nvSpPr>
        <p:spPr>
          <a:xfrm>
            <a:off x="8089920" y="4119840"/>
            <a:ext cx="3499560" cy="699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Fondo store"/>
          <p:cNvSpPr/>
          <p:nvPr/>
        </p:nvSpPr>
        <p:spPr>
          <a:xfrm>
            <a:off x="8250120" y="4250160"/>
            <a:ext cx="439560" cy="43956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8" name="store" descr="store"/>
          <p:cNvPicPr/>
          <p:nvPr/>
        </p:nvPicPr>
        <p:blipFill>
          <a:blip r:embed="rId9"/>
          <a:stretch/>
        </p:blipFill>
        <p:spPr>
          <a:xfrm>
            <a:off x="8355600" y="4355640"/>
            <a:ext cx="22860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9" name="El tendero cobra por Puntored con su llave Bre-B"/>
          <p:cNvSpPr/>
          <p:nvPr/>
        </p:nvSpPr>
        <p:spPr>
          <a:xfrm>
            <a:off x="8790120" y="4119840"/>
            <a:ext cx="26794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25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El tendero cobra por Puntored con su llave Bre-B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Remate"/>
          <p:cNvSpPr/>
          <p:nvPr/>
        </p:nvSpPr>
        <p:spPr>
          <a:xfrm>
            <a:off x="600120" y="5050080"/>
            <a:ext cx="10989720" cy="519480"/>
          </a:xfrm>
          <a:prstGeom prst="roundRect">
            <a:avLst>
              <a:gd name="adj" fmla="val 50000"/>
            </a:avLst>
          </a:prstGeom>
          <a:solidFill>
            <a:srgbClr val="ECEE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Fondo lock"/>
          <p:cNvSpPr/>
          <p:nvPr/>
        </p:nvSpPr>
        <p:spPr>
          <a:xfrm>
            <a:off x="770040" y="5130000"/>
            <a:ext cx="359640" cy="3596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2" name="lock" descr="lock"/>
          <p:cNvPicPr/>
          <p:nvPr/>
        </p:nvPicPr>
        <p:blipFill>
          <a:blip r:embed="rId10"/>
          <a:stretch/>
        </p:blipFill>
        <p:spPr>
          <a:xfrm>
            <a:off x="856440" y="5216400"/>
            <a:ext cx="186840" cy="1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3" name="Y nadie retiene el dinero: cada pago va directo de quien lo envía a la tienda"/>
          <p:cNvSpPr/>
          <p:nvPr/>
        </p:nvSpPr>
        <p:spPr>
          <a:xfrm>
            <a:off x="1220040" y="5050080"/>
            <a:ext cx="1028952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3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Y nadie retiene el dinero: cada pago va directo de quien lo envía a la tienda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PlaceHolder 1"/>
          <p:cNvSpPr>
            <a:spLocks noGrp="1"/>
          </p:cNvSpPr>
          <p:nvPr>
            <p:ph/>
          </p:nvPr>
        </p:nvSpPr>
        <p:spPr>
          <a:xfrm>
            <a:off x="271080" y="83304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400" b="0" u="none" strike="noStrike">
                <a:solidFill>
                  <a:schemeClr val="accent1"/>
                </a:solidFill>
                <a:effectLst/>
                <a:uFillTx/>
                <a:latin typeface="Poppins Light"/>
                <a:ea typeface="Poppins Light"/>
              </a:rPr>
              <a:t>Tres piezas nuevas sobre Open Payments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PlaceHolder 2"/>
          <p:cNvSpPr>
            <a:spLocks noGrp="1"/>
          </p:cNvSpPr>
          <p:nvPr>
            <p:ph/>
          </p:nvPr>
        </p:nvSpPr>
        <p:spPr>
          <a:xfrm>
            <a:off x="271080" y="55872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2400" b="0" u="none" strike="noStrike">
                <a:solidFill>
                  <a:srgbClr val="560676"/>
                </a:solidFill>
                <a:effectLst/>
                <a:uFillTx/>
                <a:latin typeface="Poppins ExtraBold"/>
                <a:ea typeface="Poppins ExtraBold"/>
              </a:rPr>
              <a:t>LO QUE NO EXISTÍA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Fila Delegar un permiso de pago"/>
          <p:cNvSpPr/>
          <p:nvPr/>
        </p:nvSpPr>
        <p:spPr>
          <a:xfrm>
            <a:off x="600120" y="1500120"/>
            <a:ext cx="10991520" cy="1149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Fondo split"/>
          <p:cNvSpPr/>
          <p:nvPr/>
        </p:nvSpPr>
        <p:spPr>
          <a:xfrm>
            <a:off x="820080" y="1694880"/>
            <a:ext cx="759600" cy="759600"/>
          </a:xfrm>
          <a:prstGeom prst="ellipse">
            <a:avLst/>
          </a:prstGeom>
          <a:solidFill>
            <a:srgbClr val="EEE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8" name="split" descr="split"/>
          <p:cNvPicPr/>
          <p:nvPr/>
        </p:nvPicPr>
        <p:blipFill>
          <a:blip r:embed="rId1"/>
          <a:stretch/>
        </p:blipFill>
        <p:spPr>
          <a:xfrm>
            <a:off x="1002240" y="1877400"/>
            <a:ext cx="394920" cy="39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9" name="Delegar un permiso de pago"/>
          <p:cNvSpPr/>
          <p:nvPr/>
        </p:nvSpPr>
        <p:spPr>
          <a:xfrm>
            <a:off x="1749960" y="1500120"/>
            <a:ext cx="2899800" cy="11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6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Delegar un permiso de pago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Fondo x"/>
          <p:cNvSpPr/>
          <p:nvPr/>
        </p:nvSpPr>
        <p:spPr>
          <a:xfrm>
            <a:off x="4709880" y="1884960"/>
            <a:ext cx="379800" cy="37980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1" name="x" descr="x"/>
          <p:cNvPicPr/>
          <p:nvPr/>
        </p:nvPicPr>
        <p:blipFill>
          <a:blip r:embed="rId2"/>
          <a:stretch/>
        </p:blipFill>
        <p:spPr>
          <a:xfrm>
            <a:off x="4801320" y="197604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2" name="Hoy: un grant es de una sola persona"/>
          <p:cNvSpPr/>
          <p:nvPr/>
        </p:nvSpPr>
        <p:spPr>
          <a:xfrm>
            <a:off x="5199840" y="1500120"/>
            <a:ext cx="2599560" cy="11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15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Hoy: un grant es de una sola persona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Flecha"/>
          <p:cNvSpPr/>
          <p:nvPr/>
        </p:nvSpPr>
        <p:spPr>
          <a:xfrm>
            <a:off x="7840080" y="1964880"/>
            <a:ext cx="319680" cy="21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Fondo check"/>
          <p:cNvSpPr/>
          <p:nvPr/>
        </p:nvSpPr>
        <p:spPr>
          <a:xfrm>
            <a:off x="8259840" y="1884960"/>
            <a:ext cx="379800" cy="37980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5" name="check" descr="check"/>
          <p:cNvPicPr/>
          <p:nvPr/>
        </p:nvPicPr>
        <p:blipFill>
          <a:blip r:embed="rId3"/>
          <a:stretch/>
        </p:blipFill>
        <p:spPr>
          <a:xfrm>
            <a:off x="8351280" y="197604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6" name="Paygent: se reparte en ramas firmadas, cada una con su tope"/>
          <p:cNvSpPr/>
          <p:nvPr/>
        </p:nvSpPr>
        <p:spPr>
          <a:xfrm>
            <a:off x="8750160" y="1500120"/>
            <a:ext cx="2741760" cy="11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15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Paygent: se reparte en ramas firmadas, cada una con su tope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Fila Pagar sin señal"/>
          <p:cNvSpPr/>
          <p:nvPr/>
        </p:nvSpPr>
        <p:spPr>
          <a:xfrm>
            <a:off x="600120" y="2850120"/>
            <a:ext cx="10991520" cy="1149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Fondo wifi-off"/>
          <p:cNvSpPr/>
          <p:nvPr/>
        </p:nvSpPr>
        <p:spPr>
          <a:xfrm>
            <a:off x="820080" y="3044880"/>
            <a:ext cx="759600" cy="75960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9" name="wifi-off" descr="wifi-off"/>
          <p:cNvPicPr/>
          <p:nvPr/>
        </p:nvPicPr>
        <p:blipFill>
          <a:blip r:embed="rId4"/>
          <a:stretch/>
        </p:blipFill>
        <p:spPr>
          <a:xfrm>
            <a:off x="1002240" y="3227400"/>
            <a:ext cx="394920" cy="39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0" name="Pagar sin señal"/>
          <p:cNvSpPr/>
          <p:nvPr/>
        </p:nvSpPr>
        <p:spPr>
          <a:xfrm>
            <a:off x="1749960" y="2850120"/>
            <a:ext cx="2899800" cy="11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6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Pagar sin señal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Fondo x"/>
          <p:cNvSpPr/>
          <p:nvPr/>
        </p:nvSpPr>
        <p:spPr>
          <a:xfrm>
            <a:off x="4709880" y="3234960"/>
            <a:ext cx="379800" cy="37980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2" name="x" descr="x"/>
          <p:cNvPicPr/>
          <p:nvPr/>
        </p:nvPicPr>
        <p:blipFill>
          <a:blip r:embed="rId5"/>
          <a:stretch/>
        </p:blipFill>
        <p:spPr>
          <a:xfrm>
            <a:off x="4801320" y="332604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3" name="Hoy: cada pago exige estar en línea"/>
          <p:cNvSpPr/>
          <p:nvPr/>
        </p:nvSpPr>
        <p:spPr>
          <a:xfrm>
            <a:off x="5199840" y="2850120"/>
            <a:ext cx="2599560" cy="11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15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Hoy: cada pago exige estar en línea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Flecha"/>
          <p:cNvSpPr/>
          <p:nvPr/>
        </p:nvSpPr>
        <p:spPr>
          <a:xfrm>
            <a:off x="7840080" y="3314880"/>
            <a:ext cx="319680" cy="21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5" name="Fondo check"/>
          <p:cNvSpPr/>
          <p:nvPr/>
        </p:nvSpPr>
        <p:spPr>
          <a:xfrm>
            <a:off x="8259840" y="3234960"/>
            <a:ext cx="379800" cy="37980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6" name="check" descr="check"/>
          <p:cNvPicPr/>
          <p:nvPr/>
        </p:nvPicPr>
        <p:blipFill>
          <a:blip r:embed="rId6"/>
          <a:stretch/>
        </p:blipFill>
        <p:spPr>
          <a:xfrm>
            <a:off x="8351280" y="332604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7" name="Paygent: vales firmados que se verifican offline y se cobran después"/>
          <p:cNvSpPr/>
          <p:nvPr/>
        </p:nvSpPr>
        <p:spPr>
          <a:xfrm>
            <a:off x="8750160" y="2850120"/>
            <a:ext cx="2741760" cy="11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15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Paygent: vales firmados que se verifican offline y se cobran después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Fila Agentes que pagan con reglas"/>
          <p:cNvSpPr/>
          <p:nvPr/>
        </p:nvSpPr>
        <p:spPr>
          <a:xfrm>
            <a:off x="600120" y="4200120"/>
            <a:ext cx="10991520" cy="1149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Fondo bot"/>
          <p:cNvSpPr/>
          <p:nvPr/>
        </p:nvSpPr>
        <p:spPr>
          <a:xfrm>
            <a:off x="820080" y="4394880"/>
            <a:ext cx="759600" cy="75960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0" name="bot" descr="bot"/>
          <p:cNvPicPr/>
          <p:nvPr/>
        </p:nvPicPr>
        <p:blipFill>
          <a:blip r:embed="rId7"/>
          <a:stretch/>
        </p:blipFill>
        <p:spPr>
          <a:xfrm>
            <a:off x="1002240" y="4577400"/>
            <a:ext cx="394920" cy="39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1" name="Agentes que pagan con reglas"/>
          <p:cNvSpPr/>
          <p:nvPr/>
        </p:nvSpPr>
        <p:spPr>
          <a:xfrm>
            <a:off x="1749960" y="4200120"/>
            <a:ext cx="2899800" cy="11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6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Agentes que pagan con reglas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Fondo x"/>
          <p:cNvSpPr/>
          <p:nvPr/>
        </p:nvSpPr>
        <p:spPr>
          <a:xfrm>
            <a:off x="4709880" y="4584960"/>
            <a:ext cx="379800" cy="37980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3" name="x" descr="x"/>
          <p:cNvPicPr/>
          <p:nvPr/>
        </p:nvPicPr>
        <p:blipFill>
          <a:blip r:embed="rId8"/>
          <a:stretch/>
        </p:blipFill>
        <p:spPr>
          <a:xfrm>
            <a:off x="4801320" y="467604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4" name="Hoy: un agente con tu tarjeta no tiene freno"/>
          <p:cNvSpPr/>
          <p:nvPr/>
        </p:nvSpPr>
        <p:spPr>
          <a:xfrm>
            <a:off x="5199840" y="4200120"/>
            <a:ext cx="2599560" cy="11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15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Hoy: un agente con tu tarjeta no tiene freno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Flecha"/>
          <p:cNvSpPr/>
          <p:nvPr/>
        </p:nvSpPr>
        <p:spPr>
          <a:xfrm>
            <a:off x="7840080" y="4664880"/>
            <a:ext cx="319680" cy="21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6" name="Fondo check"/>
          <p:cNvSpPr/>
          <p:nvPr/>
        </p:nvSpPr>
        <p:spPr>
          <a:xfrm>
            <a:off x="8259840" y="4584960"/>
            <a:ext cx="379800" cy="37980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7" name="check" descr="check"/>
          <p:cNvPicPr/>
          <p:nvPr/>
        </p:nvPicPr>
        <p:blipFill>
          <a:blip r:embed="rId9"/>
          <a:stretch/>
        </p:blipFill>
        <p:spPr>
          <a:xfrm>
            <a:off x="8351280" y="4676040"/>
            <a:ext cx="197280" cy="1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8" name="Paygent: pagan entre agentes y por SMS, solo dentro de su rama"/>
          <p:cNvSpPr/>
          <p:nvPr/>
        </p:nvSpPr>
        <p:spPr>
          <a:xfrm>
            <a:off x="8750160" y="4200120"/>
            <a:ext cx="2741760" cy="11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15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Paygent: pagan entre agentes y por SMS, solo dentro de su rama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/>
          </p:cNvSpPr>
          <p:nvPr>
            <p:ph/>
          </p:nvPr>
        </p:nvSpPr>
        <p:spPr>
          <a:xfrm>
            <a:off x="271080" y="83304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400" b="0" u="none" strike="noStrike">
                <a:solidFill>
                  <a:schemeClr val="accent1"/>
                </a:solidFill>
                <a:effectLst/>
                <a:uFillTx/>
                <a:latin typeface="Poppins Light"/>
                <a:ea typeface="Poppins Light"/>
              </a:rPr>
              <a:t>Un permiso una vez; después, cada pago es real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PlaceHolder 2"/>
          <p:cNvSpPr>
            <a:spLocks noGrp="1"/>
          </p:cNvSpPr>
          <p:nvPr>
            <p:ph/>
          </p:nvPr>
        </p:nvSpPr>
        <p:spPr>
          <a:xfrm>
            <a:off x="271080" y="55872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2400" b="0" u="none" strike="noStrike">
                <a:solidFill>
                  <a:srgbClr val="560676"/>
                </a:solidFill>
                <a:effectLst/>
                <a:uFillTx/>
                <a:latin typeface="Poppins ExtraBold"/>
                <a:ea typeface="Poppins ExtraBold"/>
              </a:rPr>
              <a:t>CÓMO USAMOS OPEN PAYMENTS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UNA VEZ"/>
          <p:cNvSpPr/>
          <p:nvPr/>
        </p:nvSpPr>
        <p:spPr>
          <a:xfrm>
            <a:off x="450000" y="1779840"/>
            <a:ext cx="14990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3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UNA VEZ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Fondo file-key"/>
          <p:cNvSpPr/>
          <p:nvPr/>
        </p:nvSpPr>
        <p:spPr>
          <a:xfrm>
            <a:off x="3142080" y="1550160"/>
            <a:ext cx="779040" cy="779040"/>
          </a:xfrm>
          <a:prstGeom prst="ellipse">
            <a:avLst/>
          </a:prstGeom>
          <a:solidFill>
            <a:srgbClr val="EEE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3" name="file-key" descr="file-key"/>
          <p:cNvPicPr/>
          <p:nvPr/>
        </p:nvPicPr>
        <p:blipFill>
          <a:blip r:embed="rId1"/>
          <a:stretch/>
        </p:blipFill>
        <p:spPr>
          <a:xfrm>
            <a:off x="3329280" y="1737360"/>
            <a:ext cx="404640" cy="40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4" name="Grant GNAP"/>
          <p:cNvSpPr/>
          <p:nvPr/>
        </p:nvSpPr>
        <p:spPr>
          <a:xfrm>
            <a:off x="2125080" y="2530080"/>
            <a:ext cx="2813040" cy="12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5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Grant GNAP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10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debitAmount + interval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Flecha"/>
          <p:cNvSpPr/>
          <p:nvPr/>
        </p:nvSpPr>
        <p:spPr>
          <a:xfrm>
            <a:off x="4974120" y="1829880"/>
            <a:ext cx="379080" cy="218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Fondo user-check"/>
          <p:cNvSpPr/>
          <p:nvPr/>
        </p:nvSpPr>
        <p:spPr>
          <a:xfrm>
            <a:off x="6405840" y="1550160"/>
            <a:ext cx="779040" cy="779040"/>
          </a:xfrm>
          <a:prstGeom prst="ellipse">
            <a:avLst/>
          </a:prstGeom>
          <a:solidFill>
            <a:srgbClr val="EEE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7" name="user-check" descr="user-check"/>
          <p:cNvPicPr/>
          <p:nvPr/>
        </p:nvPicPr>
        <p:blipFill>
          <a:blip r:embed="rId2"/>
          <a:stretch/>
        </p:blipFill>
        <p:spPr>
          <a:xfrm>
            <a:off x="6593040" y="1737360"/>
            <a:ext cx="404640" cy="40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8" name="Aprueba en su wallet"/>
          <p:cNvSpPr/>
          <p:nvPr/>
        </p:nvSpPr>
        <p:spPr>
          <a:xfrm>
            <a:off x="5388840" y="2530080"/>
            <a:ext cx="2813040" cy="12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5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Aprueba en su wallet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10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consentimiento interactivo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Flecha"/>
          <p:cNvSpPr/>
          <p:nvPr/>
        </p:nvSpPr>
        <p:spPr>
          <a:xfrm>
            <a:off x="8237880" y="1829880"/>
            <a:ext cx="379080" cy="218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Fondo key-round"/>
          <p:cNvSpPr/>
          <p:nvPr/>
        </p:nvSpPr>
        <p:spPr>
          <a:xfrm>
            <a:off x="9669960" y="1550160"/>
            <a:ext cx="779040" cy="779040"/>
          </a:xfrm>
          <a:prstGeom prst="ellipse">
            <a:avLst/>
          </a:prstGeom>
          <a:solidFill>
            <a:srgbClr val="EEE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1" name="key-round" descr="key-round"/>
          <p:cNvPicPr/>
          <p:nvPr/>
        </p:nvPicPr>
        <p:blipFill>
          <a:blip r:embed="rId3"/>
          <a:stretch/>
        </p:blipFill>
        <p:spPr>
          <a:xfrm>
            <a:off x="9857160" y="1737360"/>
            <a:ext cx="404640" cy="40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2" name="Mandato raíz"/>
          <p:cNvSpPr/>
          <p:nvPr/>
        </p:nvSpPr>
        <p:spPr>
          <a:xfrm>
            <a:off x="8652960" y="2530080"/>
            <a:ext cx="2813040" cy="12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5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Mandato raíz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10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token con el tope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CADA PAGO"/>
          <p:cNvSpPr/>
          <p:nvPr/>
        </p:nvSpPr>
        <p:spPr>
          <a:xfrm>
            <a:off x="450000" y="3830040"/>
            <a:ext cx="14990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3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CADA PAGO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Fondo inbox"/>
          <p:cNvSpPr/>
          <p:nvPr/>
        </p:nvSpPr>
        <p:spPr>
          <a:xfrm>
            <a:off x="2733840" y="3600000"/>
            <a:ext cx="779040" cy="77904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5" name="inbox" descr="inbox"/>
          <p:cNvPicPr/>
          <p:nvPr/>
        </p:nvPicPr>
        <p:blipFill>
          <a:blip r:embed="rId4"/>
          <a:stretch/>
        </p:blipFill>
        <p:spPr>
          <a:xfrm>
            <a:off x="2921040" y="3787200"/>
            <a:ext cx="404640" cy="40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6" name="Incoming"/>
          <p:cNvSpPr/>
          <p:nvPr/>
        </p:nvSpPr>
        <p:spPr>
          <a:xfrm>
            <a:off x="2125080" y="4579920"/>
            <a:ext cx="1996920" cy="12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5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Incoming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10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en la wallet de la tienda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Flecha"/>
          <p:cNvSpPr/>
          <p:nvPr/>
        </p:nvSpPr>
        <p:spPr>
          <a:xfrm>
            <a:off x="4158000" y="3880080"/>
            <a:ext cx="379080" cy="218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Fondo calculator"/>
          <p:cNvSpPr/>
          <p:nvPr/>
        </p:nvSpPr>
        <p:spPr>
          <a:xfrm>
            <a:off x="5181840" y="3600000"/>
            <a:ext cx="779040" cy="77904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9" name="calculator" descr="calculator"/>
          <p:cNvPicPr/>
          <p:nvPr/>
        </p:nvPicPr>
        <p:blipFill>
          <a:blip r:embed="rId5"/>
          <a:stretch/>
        </p:blipFill>
        <p:spPr>
          <a:xfrm>
            <a:off x="5369040" y="3787200"/>
            <a:ext cx="404640" cy="40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0" name="Quote"/>
          <p:cNvSpPr/>
          <p:nvPr/>
        </p:nvSpPr>
        <p:spPr>
          <a:xfrm>
            <a:off x="4573080" y="4579920"/>
            <a:ext cx="1996920" cy="12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5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Quote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10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el débito real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Flecha"/>
          <p:cNvSpPr/>
          <p:nvPr/>
        </p:nvSpPr>
        <p:spPr>
          <a:xfrm>
            <a:off x="6606000" y="3880080"/>
            <a:ext cx="379080" cy="218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Fondo send"/>
          <p:cNvSpPr/>
          <p:nvPr/>
        </p:nvSpPr>
        <p:spPr>
          <a:xfrm>
            <a:off x="7629840" y="3600000"/>
            <a:ext cx="779040" cy="77904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3" name="send" descr="send"/>
          <p:cNvPicPr/>
          <p:nvPr/>
        </p:nvPicPr>
        <p:blipFill>
          <a:blip r:embed="rId6"/>
          <a:stretch/>
        </p:blipFill>
        <p:spPr>
          <a:xfrm>
            <a:off x="7817040" y="3787200"/>
            <a:ext cx="404640" cy="40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4" name="Outgoing"/>
          <p:cNvSpPr/>
          <p:nvPr/>
        </p:nvSpPr>
        <p:spPr>
          <a:xfrm>
            <a:off x="7021080" y="4579920"/>
            <a:ext cx="1996920" cy="12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5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Outgoing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10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con el token del titular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Flecha"/>
          <p:cNvSpPr/>
          <p:nvPr/>
        </p:nvSpPr>
        <p:spPr>
          <a:xfrm>
            <a:off x="9054000" y="3880080"/>
            <a:ext cx="379080" cy="218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F7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Fondo check-check"/>
          <p:cNvSpPr/>
          <p:nvPr/>
        </p:nvSpPr>
        <p:spPr>
          <a:xfrm>
            <a:off x="10077840" y="3600000"/>
            <a:ext cx="779040" cy="77904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7" name="check-check" descr="check-check"/>
          <p:cNvPicPr/>
          <p:nvPr/>
        </p:nvPicPr>
        <p:blipFill>
          <a:blip r:embed="rId7"/>
          <a:stretch/>
        </p:blipFill>
        <p:spPr>
          <a:xfrm>
            <a:off x="10265040" y="3787200"/>
            <a:ext cx="404640" cy="40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8" name="Llegó"/>
          <p:cNvSpPr/>
          <p:nvPr/>
        </p:nvSpPr>
        <p:spPr>
          <a:xfrm>
            <a:off x="9469080" y="4579920"/>
            <a:ext cx="1996920" cy="12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500" b="1" u="none" strike="noStrike">
                <a:solidFill>
                  <a:srgbClr val="48156E"/>
                </a:solidFill>
                <a:effectLst/>
                <a:uFillTx/>
                <a:latin typeface="Poppins"/>
                <a:ea typeface="Arial"/>
              </a:rPr>
              <a:t>Llegó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s-CO" sz="1100" b="0" u="none" strike="noStrike">
                <a:solidFill>
                  <a:srgbClr val="5A5A66"/>
                </a:solidFill>
                <a:effectLst/>
                <a:uFillTx/>
                <a:latin typeface="Poppins"/>
                <a:ea typeface="Arial"/>
              </a:rPr>
              <a:t>y queda en la libreta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/>
          </p:cNvSpPr>
          <p:nvPr>
            <p:ph/>
          </p:nvPr>
        </p:nvSpPr>
        <p:spPr>
          <a:xfrm>
            <a:off x="271080" y="83304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400" b="0" u="none" strike="noStrike">
                <a:solidFill>
                  <a:schemeClr val="accent1"/>
                </a:solidFill>
                <a:effectLst/>
                <a:uFillTx/>
                <a:latin typeface="Poppins Light"/>
                <a:ea typeface="Poppins Light"/>
              </a:rPr>
              <a:t>Un solo lugar decide cada pago: el gateway de mandatos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PlaceHolder 2"/>
          <p:cNvSpPr>
            <a:spLocks noGrp="1"/>
          </p:cNvSpPr>
          <p:nvPr>
            <p:ph/>
          </p:nvPr>
        </p:nvSpPr>
        <p:spPr>
          <a:xfrm>
            <a:off x="271080" y="55872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2400" b="0" u="none" strike="noStrike">
                <a:solidFill>
                  <a:srgbClr val="560676"/>
                </a:solidFill>
                <a:effectLst/>
                <a:uFillTx/>
                <a:latin typeface="Poppins ExtraBold"/>
                <a:ea typeface="Poppins ExtraBold"/>
              </a:rPr>
              <a:t>ARQUITECTURA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1" name="Diagrama de arquitectura de Paygent" descr="Diagrama de arquitectura de Paygent"/>
          <p:cNvPicPr/>
          <p:nvPr/>
        </p:nvPicPr>
        <p:blipFill>
          <a:blip r:embed="rId1"/>
          <a:stretch/>
        </p:blipFill>
        <p:spPr>
          <a:xfrm>
            <a:off x="399960" y="1525680"/>
            <a:ext cx="11390760" cy="43977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"/>
          <p:cNvPicPr/>
          <p:nvPr/>
        </p:nvPicPr>
        <p:blipFill>
          <a:blip r:embed="rId1"/>
          <a:stretch/>
        </p:blipFill>
        <p:spPr>
          <a:xfrm>
            <a:off x="0" y="0"/>
            <a:ext cx="1228068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3" name="PlaceHolder 1"/>
          <p:cNvSpPr>
            <a:spLocks noGrp="1"/>
          </p:cNvSpPr>
          <p:nvPr>
            <p:ph/>
          </p:nvPr>
        </p:nvSpPr>
        <p:spPr>
          <a:xfrm>
            <a:off x="228600" y="4343400"/>
            <a:ext cx="5715000" cy="9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4800" b="0" u="none" strike="noStrike">
                <a:solidFill>
                  <a:schemeClr val="lt1"/>
                </a:solidFill>
                <a:effectLst/>
                <a:uFillTx/>
                <a:latin typeface="Poppins ExtraBold"/>
                <a:ea typeface="Poppins ExtraBold"/>
              </a:rPr>
              <a:t>DEMO EN VIVO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Fondo QR"/>
          <p:cNvSpPr/>
          <p:nvPr/>
        </p:nvSpPr>
        <p:spPr>
          <a:xfrm>
            <a:off x="228600" y="147240"/>
            <a:ext cx="3967560" cy="396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5" name="QR a paygent.up.railway.app" descr="QR a paygent.up.railway.app"/>
          <p:cNvPicPr/>
          <p:nvPr/>
        </p:nvPicPr>
        <p:blipFill>
          <a:blip r:embed="rId2"/>
          <a:stretch/>
        </p:blipFill>
        <p:spPr>
          <a:xfrm>
            <a:off x="457200" y="228600"/>
            <a:ext cx="3657600" cy="365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6" name="Enlaces"/>
          <p:cNvSpPr/>
          <p:nvPr/>
        </p:nvSpPr>
        <p:spPr>
          <a:xfrm>
            <a:off x="258840" y="5257800"/>
            <a:ext cx="499896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20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Arial"/>
              </a:rPr>
              <a:t>paygent.up.railway.app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500" b="0" u="none" strike="noStrike">
                <a:solidFill>
                  <a:srgbClr val="FFFFFF"/>
                </a:solidFill>
                <a:effectLst/>
                <a:uFillTx/>
                <a:latin typeface="Poppins"/>
                <a:ea typeface="Arial"/>
              </a:rPr>
              <a:t>github.com/luisseoanes/paygent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/>
          </p:nvPr>
        </p:nvSpPr>
        <p:spPr>
          <a:xfrm>
            <a:off x="271080" y="83304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1400" b="0" u="none" strike="noStrike">
                <a:solidFill>
                  <a:schemeClr val="accent1"/>
                </a:solidFill>
                <a:effectLst/>
                <a:uFillTx/>
                <a:latin typeface="Poppins Light"/>
                <a:ea typeface="Poppins Light"/>
              </a:rPr>
              <a:t>Lo que nos enseñó construir con dinero real en Interledger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PlaceHolder 2"/>
          <p:cNvSpPr>
            <a:spLocks noGrp="1"/>
          </p:cNvSpPr>
          <p:nvPr>
            <p:ph/>
          </p:nvPr>
        </p:nvSpPr>
        <p:spPr>
          <a:xfrm>
            <a:off x="271080" y="558720"/>
            <a:ext cx="91044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MY" sz="2400" b="0" u="none" strike="noStrike">
                <a:solidFill>
                  <a:srgbClr val="560676"/>
                </a:solidFill>
                <a:effectLst/>
                <a:uFillTx/>
                <a:latin typeface="Poppins ExtraBold"/>
                <a:ea typeface="Poppins ExtraBold"/>
              </a:rPr>
              <a:t>APRENDIZAJES CLAVE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Aprendizaje 1"/>
          <p:cNvSpPr/>
          <p:nvPr/>
        </p:nvSpPr>
        <p:spPr>
          <a:xfrm>
            <a:off x="699840" y="1599840"/>
            <a:ext cx="10791720" cy="1099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01"/>
          <p:cNvSpPr/>
          <p:nvPr/>
        </p:nvSpPr>
        <p:spPr>
          <a:xfrm>
            <a:off x="950040" y="1599840"/>
            <a:ext cx="64980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24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Fondo hand-heart"/>
          <p:cNvSpPr/>
          <p:nvPr/>
        </p:nvSpPr>
        <p:spPr>
          <a:xfrm>
            <a:off x="1689840" y="1789920"/>
            <a:ext cx="719640" cy="719640"/>
          </a:xfrm>
          <a:prstGeom prst="ellipse">
            <a:avLst/>
          </a:prstGeom>
          <a:solidFill>
            <a:srgbClr val="EEE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2" name="hand-heart" descr="hand-heart"/>
          <p:cNvPicPr/>
          <p:nvPr/>
        </p:nvPicPr>
        <p:blipFill>
          <a:blip r:embed="rId1"/>
          <a:stretch/>
        </p:blipFill>
        <p:spPr>
          <a:xfrm>
            <a:off x="1862640" y="1962720"/>
            <a:ext cx="374040" cy="37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3" name="Incluir es no pedir nada nuevo"/>
          <p:cNvSpPr/>
          <p:nvPr/>
        </p:nvSpPr>
        <p:spPr>
          <a:xfrm>
            <a:off x="2649960" y="1599840"/>
            <a:ext cx="429948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9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Incluir es no pedir nada nuevo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Ni app, ni cuenta, ni wallet: ella escribe un SMS y el tendero cobra con su llave Bre-B"/>
          <p:cNvSpPr/>
          <p:nvPr/>
        </p:nvSpPr>
        <p:spPr>
          <a:xfrm>
            <a:off x="7099920" y="1599840"/>
            <a:ext cx="419148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30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Ni app, ni cuenta, ni wallet: ella escribe un SMS y el tendero cobra con su llave Bre-B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Aprendizaje 2"/>
          <p:cNvSpPr/>
          <p:nvPr/>
        </p:nvSpPr>
        <p:spPr>
          <a:xfrm>
            <a:off x="699840" y="2930040"/>
            <a:ext cx="10791720" cy="1099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02"/>
          <p:cNvSpPr/>
          <p:nvPr/>
        </p:nvSpPr>
        <p:spPr>
          <a:xfrm>
            <a:off x="950040" y="2930040"/>
            <a:ext cx="64980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2400" b="1" u="none" strike="noStrike">
                <a:solidFill>
                  <a:srgbClr val="0FA88E"/>
                </a:solidFill>
                <a:effectLst/>
                <a:uFillTx/>
                <a:latin typeface="Poppins"/>
              </a:rPr>
              <a:t>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Fondo git-fork"/>
          <p:cNvSpPr/>
          <p:nvPr/>
        </p:nvSpPr>
        <p:spPr>
          <a:xfrm>
            <a:off x="1689840" y="3120120"/>
            <a:ext cx="719640" cy="719640"/>
          </a:xfrm>
          <a:prstGeom prst="ellipse">
            <a:avLst/>
          </a:prstGeom>
          <a:solidFill>
            <a:srgbClr val="DDF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8" name="git-fork" descr="git-fork"/>
          <p:cNvPicPr/>
          <p:nvPr/>
        </p:nvPicPr>
        <p:blipFill>
          <a:blip r:embed="rId2"/>
          <a:stretch/>
        </p:blipFill>
        <p:spPr>
          <a:xfrm>
            <a:off x="1862640" y="3292920"/>
            <a:ext cx="374040" cy="37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9" name="El permiso no depende del canal"/>
          <p:cNvSpPr/>
          <p:nvPr/>
        </p:nvSpPr>
        <p:spPr>
          <a:xfrm>
            <a:off x="2649960" y="2930040"/>
            <a:ext cx="429948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9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El permiso no depende del canal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El mismo grant paga por QR, sin señal o por SMS: incluir es abrir otra puerta al mismo riel"/>
          <p:cNvSpPr/>
          <p:nvPr/>
        </p:nvSpPr>
        <p:spPr>
          <a:xfrm>
            <a:off x="7099920" y="2930040"/>
            <a:ext cx="419148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30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El mismo grant paga por QR, sin señal o por SMS: incluir es abrir otra puerta al mismo riel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Aprendizaje 3"/>
          <p:cNvSpPr/>
          <p:nvPr/>
        </p:nvSpPr>
        <p:spPr>
          <a:xfrm>
            <a:off x="699840" y="4259880"/>
            <a:ext cx="10791720" cy="1099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0">
            <a:noFill/>
          </a:ln>
          <a:effectLst>
            <a:outerShdw algn="t" blurRad="228600" dir="5400000" dist="38160" rotWithShape="0">
              <a:srgbClr val="2A124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03"/>
          <p:cNvSpPr/>
          <p:nvPr/>
        </p:nvSpPr>
        <p:spPr>
          <a:xfrm>
            <a:off x="950040" y="4259880"/>
            <a:ext cx="64980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2400" b="1" u="none" strike="noStrike">
                <a:solidFill>
                  <a:srgbClr val="E8890B"/>
                </a:solidFill>
                <a:effectLst/>
                <a:uFillTx/>
                <a:latin typeface="Poppins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Fondo split"/>
          <p:cNvSpPr/>
          <p:nvPr/>
        </p:nvSpPr>
        <p:spPr>
          <a:xfrm>
            <a:off x="1689840" y="4449960"/>
            <a:ext cx="719640" cy="719640"/>
          </a:xfrm>
          <a:prstGeom prst="ellipse">
            <a:avLst/>
          </a:prstGeom>
          <a:solidFill>
            <a:srgbClr val="FFF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4" name="split" descr="split"/>
          <p:cNvPicPr/>
          <p:nvPr/>
        </p:nvPicPr>
        <p:blipFill>
          <a:blip r:embed="rId3"/>
          <a:stretch/>
        </p:blipFill>
        <p:spPr>
          <a:xfrm>
            <a:off x="1862640" y="4622760"/>
            <a:ext cx="374040" cy="37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5" name="Delegar debería ser nativo"/>
          <p:cNvSpPr/>
          <p:nvPr/>
        </p:nvSpPr>
        <p:spPr>
          <a:xfrm>
            <a:off x="2649960" y="4259880"/>
            <a:ext cx="429948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9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Delegar debería ser nativo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Open Payments no delega grants; lo resolvimos con sub-mandatos y lo proponemos al estándar"/>
          <p:cNvSpPr/>
          <p:nvPr/>
        </p:nvSpPr>
        <p:spPr>
          <a:xfrm>
            <a:off x="7099920" y="4259880"/>
            <a:ext cx="419148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s-CO" sz="1300" b="0" u="none" strike="noStrike">
                <a:solidFill>
                  <a:srgbClr val="5A5A66"/>
                </a:solidFill>
                <a:effectLst/>
                <a:uFillTx/>
                <a:latin typeface="Poppins"/>
              </a:rPr>
              <a:t>Open Payments no delega grants; lo resolvimos con sub-mandatos y lo proponemos al estándar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/>
          </p:nvPr>
        </p:nvSpPr>
        <p:spPr>
          <a:xfrm>
            <a:off x="6082560" y="1010160"/>
            <a:ext cx="5328000" cy="383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</a:pPr>
            <a:r>
              <a:rPr lang="es-CO" sz="44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Un permiso.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</a:pPr>
            <a:r>
              <a:rPr lang="es-CO" sz="44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Una innovacion.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</a:pPr>
            <a:r>
              <a:rPr lang="es-CO" sz="4400" b="1" u="none" strike="noStrike">
                <a:solidFill>
                  <a:srgbClr val="48156E"/>
                </a:solidFill>
                <a:effectLst/>
                <a:uFillTx/>
                <a:latin typeface="Poppins"/>
              </a:rPr>
              <a:t>Cualquier señal.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616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48156E"/>
      </a:accent1>
      <a:accent2>
        <a:srgbClr val="FFB259"/>
      </a:accent2>
      <a:accent3>
        <a:srgbClr val="959FF9"/>
      </a:accent3>
      <a:accent4>
        <a:srgbClr val="7EDFC8"/>
      </a:accent4>
      <a:accent5>
        <a:srgbClr val="747474"/>
      </a:accent5>
      <a:accent6>
        <a:srgbClr val="D8D8D8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616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48156E"/>
      </a:accent1>
      <a:accent2>
        <a:srgbClr val="FFB259"/>
      </a:accent2>
      <a:accent3>
        <a:srgbClr val="959FF9"/>
      </a:accent3>
      <a:accent4>
        <a:srgbClr val="7EDFC8"/>
      </a:accent4>
      <a:accent5>
        <a:srgbClr val="747474"/>
      </a:accent5>
      <a:accent6>
        <a:srgbClr val="D8D8D8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2026-10-17T09:42:20Z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